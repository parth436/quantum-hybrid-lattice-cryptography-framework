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9"/>
  </p:notesMasterIdLst>
  <p:sldIdLst>
    <p:sldId id="256" r:id="rId2"/>
    <p:sldId id="324" r:id="rId3"/>
    <p:sldId id="259" r:id="rId4"/>
    <p:sldId id="260" r:id="rId5"/>
    <p:sldId id="325" r:id="rId6"/>
    <p:sldId id="264" r:id="rId7"/>
    <p:sldId id="323" r:id="rId8"/>
    <p:sldId id="333" r:id="rId9"/>
    <p:sldId id="334" r:id="rId10"/>
    <p:sldId id="265" r:id="rId11"/>
    <p:sldId id="335" r:id="rId12"/>
    <p:sldId id="312" r:id="rId13"/>
    <p:sldId id="336" r:id="rId14"/>
    <p:sldId id="337" r:id="rId15"/>
    <p:sldId id="328" r:id="rId16"/>
    <p:sldId id="338" r:id="rId17"/>
    <p:sldId id="339" r:id="rId18"/>
    <p:sldId id="330" r:id="rId19"/>
    <p:sldId id="340" r:id="rId20"/>
    <p:sldId id="331" r:id="rId21"/>
    <p:sldId id="343" r:id="rId22"/>
    <p:sldId id="332" r:id="rId23"/>
    <p:sldId id="346" r:id="rId24"/>
    <p:sldId id="345" r:id="rId25"/>
    <p:sldId id="327" r:id="rId26"/>
    <p:sldId id="317" r:id="rId27"/>
    <p:sldId id="321" r:id="rId28"/>
  </p:sldIdLst>
  <p:sldSz cx="12801600" cy="7315200"/>
  <p:notesSz cx="6858000" cy="9144000"/>
  <p:defaultTextStyle>
    <a:defPPr>
      <a:defRPr lang="en-US"/>
    </a:defPPr>
    <a:lvl1pPr marL="0" algn="l" defTabSz="1149448" rtl="0" eaLnBrk="1" latinLnBrk="0" hangingPunct="1">
      <a:defRPr sz="2300" kern="1200">
        <a:solidFill>
          <a:schemeClr val="tx1"/>
        </a:solidFill>
        <a:latin typeface="+mn-lt"/>
        <a:ea typeface="+mn-ea"/>
        <a:cs typeface="+mn-cs"/>
      </a:defRPr>
    </a:lvl1pPr>
    <a:lvl2pPr marL="574724" algn="l" defTabSz="1149448" rtl="0" eaLnBrk="1" latinLnBrk="0" hangingPunct="1">
      <a:defRPr sz="2300" kern="1200">
        <a:solidFill>
          <a:schemeClr val="tx1"/>
        </a:solidFill>
        <a:latin typeface="+mn-lt"/>
        <a:ea typeface="+mn-ea"/>
        <a:cs typeface="+mn-cs"/>
      </a:defRPr>
    </a:lvl2pPr>
    <a:lvl3pPr marL="1149448" algn="l" defTabSz="1149448" rtl="0" eaLnBrk="1" latinLnBrk="0" hangingPunct="1">
      <a:defRPr sz="2300" kern="1200">
        <a:solidFill>
          <a:schemeClr val="tx1"/>
        </a:solidFill>
        <a:latin typeface="+mn-lt"/>
        <a:ea typeface="+mn-ea"/>
        <a:cs typeface="+mn-cs"/>
      </a:defRPr>
    </a:lvl3pPr>
    <a:lvl4pPr marL="1724172" algn="l" defTabSz="1149448" rtl="0" eaLnBrk="1" latinLnBrk="0" hangingPunct="1">
      <a:defRPr sz="2300" kern="1200">
        <a:solidFill>
          <a:schemeClr val="tx1"/>
        </a:solidFill>
        <a:latin typeface="+mn-lt"/>
        <a:ea typeface="+mn-ea"/>
        <a:cs typeface="+mn-cs"/>
      </a:defRPr>
    </a:lvl4pPr>
    <a:lvl5pPr marL="2298895" algn="l" defTabSz="1149448" rtl="0" eaLnBrk="1" latinLnBrk="0" hangingPunct="1">
      <a:defRPr sz="2300" kern="1200">
        <a:solidFill>
          <a:schemeClr val="tx1"/>
        </a:solidFill>
        <a:latin typeface="+mn-lt"/>
        <a:ea typeface="+mn-ea"/>
        <a:cs typeface="+mn-cs"/>
      </a:defRPr>
    </a:lvl5pPr>
    <a:lvl6pPr marL="2873621" algn="l" defTabSz="1149448" rtl="0" eaLnBrk="1" latinLnBrk="0" hangingPunct="1">
      <a:defRPr sz="2300" kern="1200">
        <a:solidFill>
          <a:schemeClr val="tx1"/>
        </a:solidFill>
        <a:latin typeface="+mn-lt"/>
        <a:ea typeface="+mn-ea"/>
        <a:cs typeface="+mn-cs"/>
      </a:defRPr>
    </a:lvl6pPr>
    <a:lvl7pPr marL="3448344" algn="l" defTabSz="1149448" rtl="0" eaLnBrk="1" latinLnBrk="0" hangingPunct="1">
      <a:defRPr sz="2300" kern="1200">
        <a:solidFill>
          <a:schemeClr val="tx1"/>
        </a:solidFill>
        <a:latin typeface="+mn-lt"/>
        <a:ea typeface="+mn-ea"/>
        <a:cs typeface="+mn-cs"/>
      </a:defRPr>
    </a:lvl7pPr>
    <a:lvl8pPr marL="4023069" algn="l" defTabSz="1149448" rtl="0" eaLnBrk="1" latinLnBrk="0" hangingPunct="1">
      <a:defRPr sz="2300" kern="1200">
        <a:solidFill>
          <a:schemeClr val="tx1"/>
        </a:solidFill>
        <a:latin typeface="+mn-lt"/>
        <a:ea typeface="+mn-ea"/>
        <a:cs typeface="+mn-cs"/>
      </a:defRPr>
    </a:lvl8pPr>
    <a:lvl9pPr marL="4597793" algn="l" defTabSz="1149448" rtl="0" eaLnBrk="1" latinLnBrk="0" hangingPunct="1">
      <a:defRPr sz="23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04">
          <p15:clr>
            <a:srgbClr val="A4A3A4"/>
          </p15:clr>
        </p15:guide>
        <p15:guide id="2" pos="403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4E1F2"/>
    <a:srgbClr val="558ED5"/>
    <a:srgbClr val="C6D9F1"/>
    <a:srgbClr val="558E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2A85B9F-5C36-4E46-8D5F-ED6DD22322FD}" v="63" dt="2026-04-08T18:03:29.03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58431" autoAdjust="0"/>
  </p:normalViewPr>
  <p:slideViewPr>
    <p:cSldViewPr>
      <p:cViewPr varScale="1">
        <p:scale>
          <a:sx n="45" d="100"/>
          <a:sy n="45" d="100"/>
        </p:scale>
        <p:origin x="2011" y="48"/>
      </p:cViewPr>
      <p:guideLst>
        <p:guide orient="horz" pos="2304"/>
        <p:guide pos="403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RTH ANANTRAO GAWANDE" userId="264af5af-cfb1-414e-8242-87019348a09a" providerId="ADAL" clId="{8CC8B29A-6118-4224-B1D6-A16AB21206C9}"/>
    <pc:docChg chg="undo custSel delSld modSld">
      <pc:chgData name="PARTH ANANTRAO GAWANDE" userId="264af5af-cfb1-414e-8242-87019348a09a" providerId="ADAL" clId="{8CC8B29A-6118-4224-B1D6-A16AB21206C9}" dt="2026-04-09T08:23:07.037" v="751" actId="20577"/>
      <pc:docMkLst>
        <pc:docMk/>
      </pc:docMkLst>
      <pc:sldChg chg="modSp mod">
        <pc:chgData name="PARTH ANANTRAO GAWANDE" userId="264af5af-cfb1-414e-8242-87019348a09a" providerId="ADAL" clId="{8CC8B29A-6118-4224-B1D6-A16AB21206C9}" dt="2026-04-09T08:23:07.037" v="751" actId="20577"/>
        <pc:sldMkLst>
          <pc:docMk/>
          <pc:sldMk cId="499843121" sldId="256"/>
        </pc:sldMkLst>
        <pc:spChg chg="mod">
          <ac:chgData name="PARTH ANANTRAO GAWANDE" userId="264af5af-cfb1-414e-8242-87019348a09a" providerId="ADAL" clId="{8CC8B29A-6118-4224-B1D6-A16AB21206C9}" dt="2026-04-09T08:23:07.037" v="751" actId="20577"/>
          <ac:spMkLst>
            <pc:docMk/>
            <pc:sldMk cId="499843121" sldId="256"/>
            <ac:spMk id="2" creationId="{00000000-0000-0000-0000-000000000000}"/>
          </ac:spMkLst>
        </pc:spChg>
      </pc:sldChg>
      <pc:sldChg chg="modNotesTx">
        <pc:chgData name="PARTH ANANTRAO GAWANDE" userId="264af5af-cfb1-414e-8242-87019348a09a" providerId="ADAL" clId="{8CC8B29A-6118-4224-B1D6-A16AB21206C9}" dt="2026-04-08T16:45:35.763" v="104" actId="20577"/>
        <pc:sldMkLst>
          <pc:docMk/>
          <pc:sldMk cId="735943246" sldId="259"/>
        </pc:sldMkLst>
      </pc:sldChg>
      <pc:sldChg chg="modNotesTx">
        <pc:chgData name="PARTH ANANTRAO GAWANDE" userId="264af5af-cfb1-414e-8242-87019348a09a" providerId="ADAL" clId="{8CC8B29A-6118-4224-B1D6-A16AB21206C9}" dt="2026-04-08T16:46:47.516" v="109" actId="20577"/>
        <pc:sldMkLst>
          <pc:docMk/>
          <pc:sldMk cId="2973974810" sldId="260"/>
        </pc:sldMkLst>
      </pc:sldChg>
      <pc:sldChg chg="modSp del mod">
        <pc:chgData name="PARTH ANANTRAO GAWANDE" userId="264af5af-cfb1-414e-8242-87019348a09a" providerId="ADAL" clId="{8CC8B29A-6118-4224-B1D6-A16AB21206C9}" dt="2026-04-08T16:27:53.438" v="7" actId="2696"/>
        <pc:sldMkLst>
          <pc:docMk/>
          <pc:sldMk cId="3016359314" sldId="316"/>
        </pc:sldMkLst>
        <pc:spChg chg="mod">
          <ac:chgData name="PARTH ANANTRAO GAWANDE" userId="264af5af-cfb1-414e-8242-87019348a09a" providerId="ADAL" clId="{8CC8B29A-6118-4224-B1D6-A16AB21206C9}" dt="2026-04-08T16:22:35.352" v="0" actId="20577"/>
          <ac:spMkLst>
            <pc:docMk/>
            <pc:sldMk cId="3016359314" sldId="316"/>
            <ac:spMk id="3" creationId="{00000000-0000-0000-0000-000000000000}"/>
          </ac:spMkLst>
        </pc:spChg>
      </pc:sldChg>
      <pc:sldChg chg="modSp mod">
        <pc:chgData name="PARTH ANANTRAO GAWANDE" userId="264af5af-cfb1-414e-8242-87019348a09a" providerId="ADAL" clId="{8CC8B29A-6118-4224-B1D6-A16AB21206C9}" dt="2026-04-08T16:27:47.109" v="6" actId="2711"/>
        <pc:sldMkLst>
          <pc:docMk/>
          <pc:sldMk cId="190899723" sldId="317"/>
        </pc:sldMkLst>
        <pc:spChg chg="mod">
          <ac:chgData name="PARTH ANANTRAO GAWANDE" userId="264af5af-cfb1-414e-8242-87019348a09a" providerId="ADAL" clId="{8CC8B29A-6118-4224-B1D6-A16AB21206C9}" dt="2026-04-08T16:27:47.109" v="6" actId="2711"/>
          <ac:spMkLst>
            <pc:docMk/>
            <pc:sldMk cId="190899723" sldId="317"/>
            <ac:spMk id="3" creationId="{00000000-0000-0000-0000-000000000000}"/>
          </ac:spMkLst>
        </pc:spChg>
      </pc:sldChg>
      <pc:sldChg chg="addSp delSp modSp mod setBg modNotesTx">
        <pc:chgData name="PARTH ANANTRAO GAWANDE" userId="264af5af-cfb1-414e-8242-87019348a09a" providerId="ADAL" clId="{8CC8B29A-6118-4224-B1D6-A16AB21206C9}" dt="2026-04-08T18:04:17.754" v="643" actId="20577"/>
        <pc:sldMkLst>
          <pc:docMk/>
          <pc:sldMk cId="3187296211" sldId="327"/>
        </pc:sldMkLst>
        <pc:spChg chg="mod">
          <ac:chgData name="PARTH ANANTRAO GAWANDE" userId="264af5af-cfb1-414e-8242-87019348a09a" providerId="ADAL" clId="{8CC8B29A-6118-4224-B1D6-A16AB21206C9}" dt="2026-04-08T18:03:00.375" v="602" actId="1076"/>
          <ac:spMkLst>
            <pc:docMk/>
            <pc:sldMk cId="3187296211" sldId="327"/>
            <ac:spMk id="2" creationId="{00000000-0000-0000-0000-000000000000}"/>
          </ac:spMkLst>
        </pc:spChg>
        <pc:spChg chg="del mod">
          <ac:chgData name="PARTH ANANTRAO GAWANDE" userId="264af5af-cfb1-414e-8242-87019348a09a" providerId="ADAL" clId="{8CC8B29A-6118-4224-B1D6-A16AB21206C9}" dt="2026-04-08T18:00:33.280" v="593" actId="21"/>
          <ac:spMkLst>
            <pc:docMk/>
            <pc:sldMk cId="3187296211" sldId="327"/>
            <ac:spMk id="3" creationId="{E4232115-B82D-8D1A-DF88-7F370475E570}"/>
          </ac:spMkLst>
        </pc:spChg>
        <pc:spChg chg="mod">
          <ac:chgData name="PARTH ANANTRAO GAWANDE" userId="264af5af-cfb1-414e-8242-87019348a09a" providerId="ADAL" clId="{8CC8B29A-6118-4224-B1D6-A16AB21206C9}" dt="2026-04-08T18:02:37.511" v="600" actId="26606"/>
          <ac:spMkLst>
            <pc:docMk/>
            <pc:sldMk cId="3187296211" sldId="327"/>
            <ac:spMk id="4" creationId="{00000000-0000-0000-0000-000000000000}"/>
          </ac:spMkLst>
        </pc:spChg>
        <pc:spChg chg="add del mod">
          <ac:chgData name="PARTH ANANTRAO GAWANDE" userId="264af5af-cfb1-414e-8242-87019348a09a" providerId="ADAL" clId="{8CC8B29A-6118-4224-B1D6-A16AB21206C9}" dt="2026-04-08T18:02:49.774" v="601" actId="21"/>
          <ac:spMkLst>
            <pc:docMk/>
            <pc:sldMk cId="3187296211" sldId="327"/>
            <ac:spMk id="7" creationId="{10466491-71A3-062A-0C2B-4684684AB54E}"/>
          </ac:spMkLst>
        </pc:spChg>
        <pc:spChg chg="add del mod">
          <ac:chgData name="PARTH ANANTRAO GAWANDE" userId="264af5af-cfb1-414e-8242-87019348a09a" providerId="ADAL" clId="{8CC8B29A-6118-4224-B1D6-A16AB21206C9}" dt="2026-04-08T18:04:17.754" v="643" actId="20577"/>
          <ac:spMkLst>
            <pc:docMk/>
            <pc:sldMk cId="3187296211" sldId="327"/>
            <ac:spMk id="8" creationId="{005EDE44-72CA-7451-CB63-D2C4FA23331E}"/>
          </ac:spMkLst>
        </pc:spChg>
        <pc:spChg chg="add">
          <ac:chgData name="PARTH ANANTRAO GAWANDE" userId="264af5af-cfb1-414e-8242-87019348a09a" providerId="ADAL" clId="{8CC8B29A-6118-4224-B1D6-A16AB21206C9}" dt="2026-04-08T18:02:37.511" v="600" actId="26606"/>
          <ac:spMkLst>
            <pc:docMk/>
            <pc:sldMk cId="3187296211" sldId="327"/>
            <ac:spMk id="12" creationId="{A4AC5506-6312-4701-8D3C-40187889A947}"/>
          </ac:spMkLst>
        </pc:spChg>
        <pc:graphicFrameChg chg="add del">
          <ac:chgData name="PARTH ANANTRAO GAWANDE" userId="264af5af-cfb1-414e-8242-87019348a09a" providerId="ADAL" clId="{8CC8B29A-6118-4224-B1D6-A16AB21206C9}" dt="2026-04-08T18:02:24.159" v="596" actId="478"/>
          <ac:graphicFrameMkLst>
            <pc:docMk/>
            <pc:sldMk cId="3187296211" sldId="327"/>
            <ac:graphicFrameMk id="5" creationId="{F350E295-3685-758A-EE92-D6E0DD071391}"/>
          </ac:graphicFrameMkLst>
        </pc:graphicFrameChg>
        <pc:graphicFrameChg chg="add mod ord">
          <ac:chgData name="PARTH ANANTRAO GAWANDE" userId="264af5af-cfb1-414e-8242-87019348a09a" providerId="ADAL" clId="{8CC8B29A-6118-4224-B1D6-A16AB21206C9}" dt="2026-04-08T18:02:37.511" v="600" actId="26606"/>
          <ac:graphicFrameMkLst>
            <pc:docMk/>
            <pc:sldMk cId="3187296211" sldId="327"/>
            <ac:graphicFrameMk id="6" creationId="{4C485000-9269-0231-32B6-646BC5C5E7E4}"/>
          </ac:graphicFrameMkLst>
        </pc:graphicFrameChg>
      </pc:sldChg>
      <pc:sldChg chg="modNotesTx">
        <pc:chgData name="PARTH ANANTRAO GAWANDE" userId="264af5af-cfb1-414e-8242-87019348a09a" providerId="ADAL" clId="{8CC8B29A-6118-4224-B1D6-A16AB21206C9}" dt="2026-04-08T16:56:59.207" v="111" actId="20577"/>
        <pc:sldMkLst>
          <pc:docMk/>
          <pc:sldMk cId="3369243254" sldId="328"/>
        </pc:sldMkLst>
      </pc:sldChg>
      <pc:sldChg chg="modNotesTx">
        <pc:chgData name="PARTH ANANTRAO GAWANDE" userId="264af5af-cfb1-414e-8242-87019348a09a" providerId="ADAL" clId="{8CC8B29A-6118-4224-B1D6-A16AB21206C9}" dt="2026-04-08T17:03:05.604" v="115" actId="20577"/>
        <pc:sldMkLst>
          <pc:docMk/>
          <pc:sldMk cId="1375399723" sldId="332"/>
        </pc:sldMkLst>
      </pc:sldChg>
      <pc:sldChg chg="modNotesTx">
        <pc:chgData name="PARTH ANANTRAO GAWANDE" userId="264af5af-cfb1-414e-8242-87019348a09a" providerId="ADAL" clId="{8CC8B29A-6118-4224-B1D6-A16AB21206C9}" dt="2026-04-08T17:00:00.007" v="114" actId="20577"/>
        <pc:sldMkLst>
          <pc:docMk/>
          <pc:sldMk cId="3272739843" sldId="340"/>
        </pc:sldMkLst>
      </pc:sldChg>
      <pc:sldChg chg="modNotesTx">
        <pc:chgData name="PARTH ANANTRAO GAWANDE" userId="264af5af-cfb1-414e-8242-87019348a09a" providerId="ADAL" clId="{8CC8B29A-6118-4224-B1D6-A16AB21206C9}" dt="2026-04-08T17:08:12.801" v="237" actId="20577"/>
        <pc:sldMkLst>
          <pc:docMk/>
          <pc:sldMk cId="970248091" sldId="345"/>
        </pc:sldMkLst>
      </pc:sldChg>
      <pc:sldChg chg="addSp delSp modSp del mod setBg">
        <pc:chgData name="PARTH ANANTRAO GAWANDE" userId="264af5af-cfb1-414e-8242-87019348a09a" providerId="ADAL" clId="{8CC8B29A-6118-4224-B1D6-A16AB21206C9}" dt="2026-04-08T18:00:55.439" v="595" actId="2696"/>
        <pc:sldMkLst>
          <pc:docMk/>
          <pc:sldMk cId="1695301002" sldId="348"/>
        </pc:sldMkLst>
        <pc:spChg chg="mod">
          <ac:chgData name="PARTH ANANTRAO GAWANDE" userId="264af5af-cfb1-414e-8242-87019348a09a" providerId="ADAL" clId="{8CC8B29A-6118-4224-B1D6-A16AB21206C9}" dt="2026-04-08T17:59:40.243" v="586" actId="26606"/>
          <ac:spMkLst>
            <pc:docMk/>
            <pc:sldMk cId="1695301002" sldId="348"/>
            <ac:spMk id="2" creationId="{8D7F6FF1-8C0F-88DD-842B-60021B576EF6}"/>
          </ac:spMkLst>
        </pc:spChg>
        <pc:spChg chg="del mod">
          <ac:chgData name="PARTH ANANTRAO GAWANDE" userId="264af5af-cfb1-414e-8242-87019348a09a" providerId="ADAL" clId="{8CC8B29A-6118-4224-B1D6-A16AB21206C9}" dt="2026-04-08T17:49:57.441" v="249"/>
          <ac:spMkLst>
            <pc:docMk/>
            <pc:sldMk cId="1695301002" sldId="348"/>
            <ac:spMk id="3" creationId="{68C3CF2A-705D-F5E6-AD9E-3E1B63D6986B}"/>
          </ac:spMkLst>
        </pc:spChg>
        <pc:spChg chg="mod">
          <ac:chgData name="PARTH ANANTRAO GAWANDE" userId="264af5af-cfb1-414e-8242-87019348a09a" providerId="ADAL" clId="{8CC8B29A-6118-4224-B1D6-A16AB21206C9}" dt="2026-04-08T17:59:29.471" v="581" actId="26606"/>
          <ac:spMkLst>
            <pc:docMk/>
            <pc:sldMk cId="1695301002" sldId="348"/>
            <ac:spMk id="4" creationId="{712FD90A-1F67-2206-7440-32CD7F8286D8}"/>
          </ac:spMkLst>
        </pc:spChg>
        <pc:spChg chg="add del">
          <ac:chgData name="PARTH ANANTRAO GAWANDE" userId="264af5af-cfb1-414e-8242-87019348a09a" providerId="ADAL" clId="{8CC8B29A-6118-4224-B1D6-A16AB21206C9}" dt="2026-04-08T17:59:40.243" v="586" actId="26606"/>
          <ac:spMkLst>
            <pc:docMk/>
            <pc:sldMk cId="1695301002" sldId="348"/>
            <ac:spMk id="11" creationId="{A4AC5506-6312-4701-8D3C-40187889A947}"/>
          </ac:spMkLst>
        </pc:spChg>
        <pc:spChg chg="add del">
          <ac:chgData name="PARTH ANANTRAO GAWANDE" userId="264af5af-cfb1-414e-8242-87019348a09a" providerId="ADAL" clId="{8CC8B29A-6118-4224-B1D6-A16AB21206C9}" dt="2026-04-08T17:59:29.471" v="581" actId="26606"/>
          <ac:spMkLst>
            <pc:docMk/>
            <pc:sldMk cId="1695301002" sldId="348"/>
            <ac:spMk id="16" creationId="{6753252F-4873-4F63-801D-CC719279A7D5}"/>
          </ac:spMkLst>
        </pc:spChg>
        <pc:spChg chg="add del">
          <ac:chgData name="PARTH ANANTRAO GAWANDE" userId="264af5af-cfb1-414e-8242-87019348a09a" providerId="ADAL" clId="{8CC8B29A-6118-4224-B1D6-A16AB21206C9}" dt="2026-04-08T17:59:29.471" v="581" actId="26606"/>
          <ac:spMkLst>
            <pc:docMk/>
            <pc:sldMk cId="1695301002" sldId="348"/>
            <ac:spMk id="18" creationId="{047C8CCB-F95D-4249-92DD-651249D3535A}"/>
          </ac:spMkLst>
        </pc:spChg>
        <pc:spChg chg="add del">
          <ac:chgData name="PARTH ANANTRAO GAWANDE" userId="264af5af-cfb1-414e-8242-87019348a09a" providerId="ADAL" clId="{8CC8B29A-6118-4224-B1D6-A16AB21206C9}" dt="2026-04-08T17:59:34.605" v="583" actId="26606"/>
          <ac:spMkLst>
            <pc:docMk/>
            <pc:sldMk cId="1695301002" sldId="348"/>
            <ac:spMk id="20" creationId="{BCED4D40-4B67-4331-AC48-79B82B4A47D8}"/>
          </ac:spMkLst>
        </pc:spChg>
        <pc:spChg chg="add del">
          <ac:chgData name="PARTH ANANTRAO GAWANDE" userId="264af5af-cfb1-414e-8242-87019348a09a" providerId="ADAL" clId="{8CC8B29A-6118-4224-B1D6-A16AB21206C9}" dt="2026-04-08T17:59:34.605" v="583" actId="26606"/>
          <ac:spMkLst>
            <pc:docMk/>
            <pc:sldMk cId="1695301002" sldId="348"/>
            <ac:spMk id="21" creationId="{670CEDEF-4F34-412E-84EE-329C1E936AF5}"/>
          </ac:spMkLst>
        </pc:spChg>
        <pc:spChg chg="add del">
          <ac:chgData name="PARTH ANANTRAO GAWANDE" userId="264af5af-cfb1-414e-8242-87019348a09a" providerId="ADAL" clId="{8CC8B29A-6118-4224-B1D6-A16AB21206C9}" dt="2026-04-08T17:59:40.224" v="585" actId="26606"/>
          <ac:spMkLst>
            <pc:docMk/>
            <pc:sldMk cId="1695301002" sldId="348"/>
            <ac:spMk id="24" creationId="{A3363022-C969-41E9-8EB2-E4C94908C1FA}"/>
          </ac:spMkLst>
        </pc:spChg>
        <pc:spChg chg="add del">
          <ac:chgData name="PARTH ANANTRAO GAWANDE" userId="264af5af-cfb1-414e-8242-87019348a09a" providerId="ADAL" clId="{8CC8B29A-6118-4224-B1D6-A16AB21206C9}" dt="2026-04-08T17:59:40.224" v="585" actId="26606"/>
          <ac:spMkLst>
            <pc:docMk/>
            <pc:sldMk cId="1695301002" sldId="348"/>
            <ac:spMk id="25" creationId="{8D1AD6B3-BE88-4CEB-BA17-790657CC4729}"/>
          </ac:spMkLst>
        </pc:spChg>
        <pc:spChg chg="add">
          <ac:chgData name="PARTH ANANTRAO GAWANDE" userId="264af5af-cfb1-414e-8242-87019348a09a" providerId="ADAL" clId="{8CC8B29A-6118-4224-B1D6-A16AB21206C9}" dt="2026-04-08T17:59:40.243" v="586" actId="26606"/>
          <ac:spMkLst>
            <pc:docMk/>
            <pc:sldMk cId="1695301002" sldId="348"/>
            <ac:spMk id="29" creationId="{A4AC5506-6312-4701-8D3C-40187889A947}"/>
          </ac:spMkLst>
        </pc:spChg>
        <pc:grpChg chg="add del">
          <ac:chgData name="PARTH ANANTRAO GAWANDE" userId="264af5af-cfb1-414e-8242-87019348a09a" providerId="ADAL" clId="{8CC8B29A-6118-4224-B1D6-A16AB21206C9}" dt="2026-04-08T17:59:40.224" v="585" actId="26606"/>
          <ac:grpSpMkLst>
            <pc:docMk/>
            <pc:sldMk cId="1695301002" sldId="348"/>
            <ac:grpSpMk id="26" creationId="{89D1390B-7E13-4B4F-9CB2-391063412E54}"/>
          </ac:grpSpMkLst>
        </pc:grpChg>
        <pc:graphicFrameChg chg="add mod modGraphic">
          <ac:chgData name="PARTH ANANTRAO GAWANDE" userId="264af5af-cfb1-414e-8242-87019348a09a" providerId="ADAL" clId="{8CC8B29A-6118-4224-B1D6-A16AB21206C9}" dt="2026-04-08T17:49:57.032" v="247" actId="14100"/>
          <ac:graphicFrameMkLst>
            <pc:docMk/>
            <pc:sldMk cId="1695301002" sldId="348"/>
            <ac:graphicFrameMk id="5" creationId="{F0835762-F6D4-CBB8-ADE0-BFF8CD2BA84C}"/>
          </ac:graphicFrameMkLst>
        </pc:graphicFrameChg>
        <pc:graphicFrameChg chg="add mod modGraphic">
          <ac:chgData name="PARTH ANANTRAO GAWANDE" userId="264af5af-cfb1-414e-8242-87019348a09a" providerId="ADAL" clId="{8CC8B29A-6118-4224-B1D6-A16AB21206C9}" dt="2026-04-08T17:59:40.243" v="586" actId="26606"/>
          <ac:graphicFrameMkLst>
            <pc:docMk/>
            <pc:sldMk cId="1695301002" sldId="348"/>
            <ac:graphicFrameMk id="6" creationId="{C382A8C2-A6E2-B42D-5DF1-AD17D8F38D29}"/>
          </ac:graphicFrameMkLst>
        </pc:graphicFrameChg>
        <pc:graphicFrameChg chg="add mod">
          <ac:chgData name="PARTH ANANTRAO GAWANDE" userId="264af5af-cfb1-414e-8242-87019348a09a" providerId="ADAL" clId="{8CC8B29A-6118-4224-B1D6-A16AB21206C9}" dt="2026-04-08T17:57:57.975" v="555"/>
          <ac:graphicFrameMkLst>
            <pc:docMk/>
            <pc:sldMk cId="1695301002" sldId="348"/>
            <ac:graphicFrameMk id="7" creationId="{AF3585ED-76A0-EC80-1D7A-3FEFCF9B11B7}"/>
          </ac:graphicFrameMkLst>
        </pc:graphicFrameChg>
        <pc:graphicFrameChg chg="add mod">
          <ac:chgData name="PARTH ANANTRAO GAWANDE" userId="264af5af-cfb1-414e-8242-87019348a09a" providerId="ADAL" clId="{8CC8B29A-6118-4224-B1D6-A16AB21206C9}" dt="2026-04-08T17:57:58.398" v="556"/>
          <ac:graphicFrameMkLst>
            <pc:docMk/>
            <pc:sldMk cId="1695301002" sldId="348"/>
            <ac:graphicFrameMk id="8" creationId="{8D6A0CD6-D43A-54E8-0A7E-766835212D00}"/>
          </ac:graphicFrameMkLst>
        </pc:graphicFrameChg>
        <pc:graphicFrameChg chg="add mod">
          <ac:chgData name="PARTH ANANTRAO GAWANDE" userId="264af5af-cfb1-414e-8242-87019348a09a" providerId="ADAL" clId="{8CC8B29A-6118-4224-B1D6-A16AB21206C9}" dt="2026-04-08T17:57:59.529" v="557"/>
          <ac:graphicFrameMkLst>
            <pc:docMk/>
            <pc:sldMk cId="1695301002" sldId="348"/>
            <ac:graphicFrameMk id="9" creationId="{483A63DF-9C63-66AE-8C1B-39A4CB64A094}"/>
          </ac:graphicFrameMkLst>
        </pc:graphicFrameChg>
        <pc:graphicFrameChg chg="add mod">
          <ac:chgData name="PARTH ANANTRAO GAWANDE" userId="264af5af-cfb1-414e-8242-87019348a09a" providerId="ADAL" clId="{8CC8B29A-6118-4224-B1D6-A16AB21206C9}" dt="2026-04-08T17:57:59.958" v="558"/>
          <ac:graphicFrameMkLst>
            <pc:docMk/>
            <pc:sldMk cId="1695301002" sldId="348"/>
            <ac:graphicFrameMk id="10" creationId="{8927AE3E-E8A0-AFAD-B110-1C659E9A978B}"/>
          </ac:graphicFrameMkLst>
        </pc:graphicFrameChg>
        <pc:graphicFrameChg chg="add mod">
          <ac:chgData name="PARTH ANANTRAO GAWANDE" userId="264af5af-cfb1-414e-8242-87019348a09a" providerId="ADAL" clId="{8CC8B29A-6118-4224-B1D6-A16AB21206C9}" dt="2026-04-08T17:58:00.797" v="559"/>
          <ac:graphicFrameMkLst>
            <pc:docMk/>
            <pc:sldMk cId="1695301002" sldId="348"/>
            <ac:graphicFrameMk id="12" creationId="{5B4EB17C-49C1-92E2-A9F9-EF44405B2620}"/>
          </ac:graphicFrameMkLst>
        </pc:graphicFrameChg>
        <pc:graphicFrameChg chg="add mod">
          <ac:chgData name="PARTH ANANTRAO GAWANDE" userId="264af5af-cfb1-414e-8242-87019348a09a" providerId="ADAL" clId="{8CC8B29A-6118-4224-B1D6-A16AB21206C9}" dt="2026-04-08T17:58:01.271" v="560"/>
          <ac:graphicFrameMkLst>
            <pc:docMk/>
            <pc:sldMk cId="1695301002" sldId="348"/>
            <ac:graphicFrameMk id="13" creationId="{9488DDCA-ABF3-3404-F455-B71D993C66D6}"/>
          </ac:graphicFrameMkLst>
        </pc:graphicFrame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49958BE-8993-4853-99C2-A34A899FC6D3}" type="doc">
      <dgm:prSet loTypeId="urn:microsoft.com/office/officeart/2005/8/layout/architecture" loCatId="hierarchy" qsTypeId="urn:microsoft.com/office/officeart/2005/8/quickstyle/simple5" qsCatId="simple" csTypeId="urn:microsoft.com/office/officeart/2005/8/colors/accent1_2" csCatId="accent1" phldr="1"/>
      <dgm:spPr/>
      <dgm:t>
        <a:bodyPr/>
        <a:lstStyle/>
        <a:p>
          <a:endParaRPr lang="en-IN"/>
        </a:p>
      </dgm:t>
    </dgm:pt>
    <dgm:pt modelId="{2970A1FD-7E21-4122-BB6D-347CA53E4B32}">
      <dgm:prSet phldrT="[Text]"/>
      <dgm:spPr/>
      <dgm:t>
        <a:bodyPr/>
        <a:lstStyle/>
        <a:p>
          <a:r>
            <a:rPr lang="en-IN"/>
            <a:t>Hybrid Cryptographic System</a:t>
          </a:r>
        </a:p>
      </dgm:t>
    </dgm:pt>
    <dgm:pt modelId="{BB1C5473-494B-42C3-935F-21D99E9829D1}" type="parTrans" cxnId="{AA7F844D-1F1C-4B3D-B25E-6B1D46E9B7BD}">
      <dgm:prSet/>
      <dgm:spPr/>
      <dgm:t>
        <a:bodyPr/>
        <a:lstStyle/>
        <a:p>
          <a:endParaRPr lang="en-IN"/>
        </a:p>
      </dgm:t>
    </dgm:pt>
    <dgm:pt modelId="{54E651B6-3584-45CD-BDEF-6C0C10A5B06E}" type="sibTrans" cxnId="{AA7F844D-1F1C-4B3D-B25E-6B1D46E9B7BD}">
      <dgm:prSet/>
      <dgm:spPr/>
      <dgm:t>
        <a:bodyPr/>
        <a:lstStyle/>
        <a:p>
          <a:endParaRPr lang="en-IN"/>
        </a:p>
      </dgm:t>
    </dgm:pt>
    <dgm:pt modelId="{2C74023C-89CE-4ECE-8FF9-0E516A391B38}">
      <dgm:prSet/>
      <dgm:spPr/>
      <dgm:t>
        <a:bodyPr/>
        <a:lstStyle/>
        <a:p>
          <a:r>
            <a:rPr lang="en-IN" dirty="0"/>
            <a:t> Client Environment</a:t>
          </a:r>
        </a:p>
      </dgm:t>
    </dgm:pt>
    <dgm:pt modelId="{2C10EEFF-C02F-4081-9CD9-2EA2075A9B36}" type="parTrans" cxnId="{2CD2974E-9BEB-4E16-AA46-8199865359A2}">
      <dgm:prSet/>
      <dgm:spPr/>
      <dgm:t>
        <a:bodyPr/>
        <a:lstStyle/>
        <a:p>
          <a:endParaRPr lang="en-IN"/>
        </a:p>
      </dgm:t>
    </dgm:pt>
    <dgm:pt modelId="{62FC7929-1A96-4344-9098-90738311D25A}" type="sibTrans" cxnId="{2CD2974E-9BEB-4E16-AA46-8199865359A2}">
      <dgm:prSet/>
      <dgm:spPr/>
      <dgm:t>
        <a:bodyPr/>
        <a:lstStyle/>
        <a:p>
          <a:endParaRPr lang="en-IN"/>
        </a:p>
      </dgm:t>
    </dgm:pt>
    <dgm:pt modelId="{264C92A2-C75F-477E-ACA4-EA913FE09C4A}">
      <dgm:prSet/>
      <dgm:spPr/>
      <dgm:t>
        <a:bodyPr/>
        <a:lstStyle/>
        <a:p>
          <a:r>
            <a:rPr lang="en-IN" dirty="0"/>
            <a:t> User Interface</a:t>
          </a:r>
        </a:p>
      </dgm:t>
    </dgm:pt>
    <dgm:pt modelId="{5908659C-CD77-4B79-B051-B0BCED741D7A}" type="parTrans" cxnId="{C30794EF-8BBD-413E-AEC1-FEB0DE503746}">
      <dgm:prSet/>
      <dgm:spPr/>
      <dgm:t>
        <a:bodyPr/>
        <a:lstStyle/>
        <a:p>
          <a:endParaRPr lang="en-IN"/>
        </a:p>
      </dgm:t>
    </dgm:pt>
    <dgm:pt modelId="{8A5E39A4-7385-4B1B-A7E7-23DC32F3A528}" type="sibTrans" cxnId="{C30794EF-8BBD-413E-AEC1-FEB0DE503746}">
      <dgm:prSet/>
      <dgm:spPr/>
      <dgm:t>
        <a:bodyPr/>
        <a:lstStyle/>
        <a:p>
          <a:endParaRPr lang="en-IN"/>
        </a:p>
      </dgm:t>
    </dgm:pt>
    <dgm:pt modelId="{75A38313-2834-4EA1-A67D-41AEDFCBAD8E}">
      <dgm:prSet/>
      <dgm:spPr/>
      <dgm:t>
        <a:bodyPr/>
        <a:lstStyle/>
        <a:p>
          <a:r>
            <a:rPr lang="en-IN" dirty="0"/>
            <a:t> Plaintext Input Processing</a:t>
          </a:r>
        </a:p>
      </dgm:t>
    </dgm:pt>
    <dgm:pt modelId="{7CD48655-5AE7-405C-817E-36C937E126F0}" type="parTrans" cxnId="{568BDE9E-B440-4A43-B8BA-A09D0C351F78}">
      <dgm:prSet/>
      <dgm:spPr/>
      <dgm:t>
        <a:bodyPr/>
        <a:lstStyle/>
        <a:p>
          <a:endParaRPr lang="en-IN"/>
        </a:p>
      </dgm:t>
    </dgm:pt>
    <dgm:pt modelId="{DCBD29E0-40A6-4410-9CCF-D13C2F729672}" type="sibTrans" cxnId="{568BDE9E-B440-4A43-B8BA-A09D0C351F78}">
      <dgm:prSet/>
      <dgm:spPr/>
      <dgm:t>
        <a:bodyPr/>
        <a:lstStyle/>
        <a:p>
          <a:endParaRPr lang="en-IN"/>
        </a:p>
      </dgm:t>
    </dgm:pt>
    <dgm:pt modelId="{71B40D9A-FCCD-4885-8924-1BF11C0159EA}">
      <dgm:prSet/>
      <dgm:spPr/>
      <dgm:t>
        <a:bodyPr/>
        <a:lstStyle/>
        <a:p>
          <a:r>
            <a:rPr lang="en-IN" dirty="0"/>
            <a:t> Quantum Channel Layer</a:t>
          </a:r>
        </a:p>
      </dgm:t>
    </dgm:pt>
    <dgm:pt modelId="{90B12F3F-2F4C-4393-B31D-762290A6A7E0}" type="parTrans" cxnId="{09859F1E-A178-4636-A8E3-F21EBDFCFAFE}">
      <dgm:prSet/>
      <dgm:spPr/>
      <dgm:t>
        <a:bodyPr/>
        <a:lstStyle/>
        <a:p>
          <a:endParaRPr lang="en-IN"/>
        </a:p>
      </dgm:t>
    </dgm:pt>
    <dgm:pt modelId="{7F3B4CBA-7C13-4BB7-B83B-AB16D09923F2}" type="sibTrans" cxnId="{09859F1E-A178-4636-A8E3-F21EBDFCFAFE}">
      <dgm:prSet/>
      <dgm:spPr/>
      <dgm:t>
        <a:bodyPr/>
        <a:lstStyle/>
        <a:p>
          <a:endParaRPr lang="en-IN"/>
        </a:p>
      </dgm:t>
    </dgm:pt>
    <dgm:pt modelId="{90DD5412-686D-473E-BAB2-093C4C05606C}">
      <dgm:prSet/>
      <dgm:spPr/>
      <dgm:t>
        <a:bodyPr/>
        <a:lstStyle/>
        <a:p>
          <a:r>
            <a:rPr lang="en-IN" dirty="0"/>
            <a:t> BB84 Photon Exchange</a:t>
          </a:r>
        </a:p>
      </dgm:t>
    </dgm:pt>
    <dgm:pt modelId="{8265196A-7B91-40CB-A800-663C1B880617}" type="parTrans" cxnId="{5B9A11E5-4006-4D98-927F-7358C57B035E}">
      <dgm:prSet/>
      <dgm:spPr/>
      <dgm:t>
        <a:bodyPr/>
        <a:lstStyle/>
        <a:p>
          <a:endParaRPr lang="en-IN"/>
        </a:p>
      </dgm:t>
    </dgm:pt>
    <dgm:pt modelId="{28A52B2A-6225-4B68-9270-B888800AF8D8}" type="sibTrans" cxnId="{5B9A11E5-4006-4D98-927F-7358C57B035E}">
      <dgm:prSet/>
      <dgm:spPr/>
      <dgm:t>
        <a:bodyPr/>
        <a:lstStyle/>
        <a:p>
          <a:endParaRPr lang="en-IN"/>
        </a:p>
      </dgm:t>
    </dgm:pt>
    <dgm:pt modelId="{3CEE8D53-EE19-456B-9CB1-D4FFD87928AE}">
      <dgm:prSet/>
      <dgm:spPr/>
      <dgm:t>
        <a:bodyPr/>
        <a:lstStyle/>
        <a:p>
          <a:r>
            <a:rPr lang="en-IN" dirty="0"/>
            <a:t> Server Backend</a:t>
          </a:r>
        </a:p>
      </dgm:t>
    </dgm:pt>
    <dgm:pt modelId="{B4E3A4AA-542F-4A16-B4E2-D6F96A06BAC1}" type="parTrans" cxnId="{C7A74CC3-DE5B-420B-880E-D9DE435897DA}">
      <dgm:prSet/>
      <dgm:spPr/>
      <dgm:t>
        <a:bodyPr/>
        <a:lstStyle/>
        <a:p>
          <a:endParaRPr lang="en-IN"/>
        </a:p>
      </dgm:t>
    </dgm:pt>
    <dgm:pt modelId="{2715CB40-C6E9-4286-B9DA-2DCF7184157D}" type="sibTrans" cxnId="{C7A74CC3-DE5B-420B-880E-D9DE435897DA}">
      <dgm:prSet/>
      <dgm:spPr/>
      <dgm:t>
        <a:bodyPr/>
        <a:lstStyle/>
        <a:p>
          <a:endParaRPr lang="en-IN"/>
        </a:p>
      </dgm:t>
    </dgm:pt>
    <dgm:pt modelId="{3FDD6FBB-A859-4E2D-8EAD-E0B3A70EBE0F}">
      <dgm:prSet/>
      <dgm:spPr/>
      <dgm:t>
        <a:bodyPr/>
        <a:lstStyle/>
        <a:p>
          <a:r>
            <a:rPr lang="en-IN" dirty="0"/>
            <a:t> Key Management</a:t>
          </a:r>
        </a:p>
      </dgm:t>
    </dgm:pt>
    <dgm:pt modelId="{734743F3-0026-4B3F-9A68-3D76954E9F0B}" type="parTrans" cxnId="{290D38C6-C554-431D-B228-9815D899B51B}">
      <dgm:prSet/>
      <dgm:spPr/>
      <dgm:t>
        <a:bodyPr/>
        <a:lstStyle/>
        <a:p>
          <a:endParaRPr lang="en-IN"/>
        </a:p>
      </dgm:t>
    </dgm:pt>
    <dgm:pt modelId="{1A0FAE63-29D7-4B63-AD9F-190A2C0DCFAF}" type="sibTrans" cxnId="{290D38C6-C554-431D-B228-9815D899B51B}">
      <dgm:prSet/>
      <dgm:spPr/>
      <dgm:t>
        <a:bodyPr/>
        <a:lstStyle/>
        <a:p>
          <a:endParaRPr lang="en-IN"/>
        </a:p>
      </dgm:t>
    </dgm:pt>
    <dgm:pt modelId="{FCEF6F47-A44C-457A-B68D-4EEC4CB0AEC0}">
      <dgm:prSet/>
      <dgm:spPr/>
      <dgm:t>
        <a:bodyPr/>
        <a:lstStyle/>
        <a:p>
          <a:r>
            <a:rPr lang="en-IN" dirty="0"/>
            <a:t> SHA-256 Privacy Amplification</a:t>
          </a:r>
        </a:p>
      </dgm:t>
    </dgm:pt>
    <dgm:pt modelId="{BE97295B-DDF8-4D52-A689-1A6AFBD33FF5}" type="parTrans" cxnId="{2C70201F-16CB-4416-BB1B-FA7B203CC681}">
      <dgm:prSet/>
      <dgm:spPr/>
      <dgm:t>
        <a:bodyPr/>
        <a:lstStyle/>
        <a:p>
          <a:endParaRPr lang="en-IN"/>
        </a:p>
      </dgm:t>
    </dgm:pt>
    <dgm:pt modelId="{D7E1B12F-51E4-46CD-967F-86AACC490C5D}" type="sibTrans" cxnId="{2C70201F-16CB-4416-BB1B-FA7B203CC681}">
      <dgm:prSet/>
      <dgm:spPr/>
      <dgm:t>
        <a:bodyPr/>
        <a:lstStyle/>
        <a:p>
          <a:endParaRPr lang="en-IN"/>
        </a:p>
      </dgm:t>
    </dgm:pt>
    <dgm:pt modelId="{4587A77B-FDF3-43FC-86C2-B1F4F8445A57}">
      <dgm:prSet/>
      <dgm:spPr/>
      <dgm:t>
        <a:bodyPr/>
        <a:lstStyle/>
        <a:p>
          <a:r>
            <a:rPr lang="en-IN" dirty="0"/>
            <a:t> AES Key Storage</a:t>
          </a:r>
        </a:p>
      </dgm:t>
    </dgm:pt>
    <dgm:pt modelId="{1492AF46-32B0-49C5-BD11-1586C38E7E4B}" type="parTrans" cxnId="{4DAC2EF0-CFE6-4F88-99A0-C112E2B7B244}">
      <dgm:prSet/>
      <dgm:spPr/>
      <dgm:t>
        <a:bodyPr/>
        <a:lstStyle/>
        <a:p>
          <a:endParaRPr lang="en-IN"/>
        </a:p>
      </dgm:t>
    </dgm:pt>
    <dgm:pt modelId="{136BE1FD-10FB-449E-B503-770B3C3DE588}" type="sibTrans" cxnId="{4DAC2EF0-CFE6-4F88-99A0-C112E2B7B244}">
      <dgm:prSet/>
      <dgm:spPr/>
      <dgm:t>
        <a:bodyPr/>
        <a:lstStyle/>
        <a:p>
          <a:endParaRPr lang="en-IN"/>
        </a:p>
      </dgm:t>
    </dgm:pt>
    <dgm:pt modelId="{409A55A2-ED19-4B3A-822F-7A63D6C4CB32}">
      <dgm:prSet/>
      <dgm:spPr/>
      <dgm:t>
        <a:bodyPr/>
        <a:lstStyle/>
        <a:p>
          <a:r>
            <a:rPr lang="en-IN" dirty="0"/>
            <a:t> ABLKM Engine</a:t>
          </a:r>
        </a:p>
      </dgm:t>
    </dgm:pt>
    <dgm:pt modelId="{40AC3282-1D4F-4D87-B585-AA1AF89F052F}" type="parTrans" cxnId="{62DC2EC2-5201-429E-B1F1-E5BC9A80B51B}">
      <dgm:prSet/>
      <dgm:spPr/>
      <dgm:t>
        <a:bodyPr/>
        <a:lstStyle/>
        <a:p>
          <a:endParaRPr lang="en-IN"/>
        </a:p>
      </dgm:t>
    </dgm:pt>
    <dgm:pt modelId="{BA367BA2-BA34-4F89-A076-EC5043C7DE50}" type="sibTrans" cxnId="{62DC2EC2-5201-429E-B1F1-E5BC9A80B51B}">
      <dgm:prSet/>
      <dgm:spPr/>
      <dgm:t>
        <a:bodyPr/>
        <a:lstStyle/>
        <a:p>
          <a:endParaRPr lang="en-IN"/>
        </a:p>
      </dgm:t>
    </dgm:pt>
    <dgm:pt modelId="{796CCB58-494B-46CD-86A6-86EA36E9BEBF}">
      <dgm:prSet/>
      <dgm:spPr/>
      <dgm:t>
        <a:bodyPr/>
        <a:lstStyle/>
        <a:p>
          <a:r>
            <a:rPr lang="en-IN" dirty="0"/>
            <a:t> Coordinate Mapping</a:t>
          </a:r>
        </a:p>
      </dgm:t>
    </dgm:pt>
    <dgm:pt modelId="{15081376-BC17-4863-A8B2-321A82DD3227}" type="parTrans" cxnId="{522607B8-A096-4B24-9A5B-DA1ED614121A}">
      <dgm:prSet/>
      <dgm:spPr/>
      <dgm:t>
        <a:bodyPr/>
        <a:lstStyle/>
        <a:p>
          <a:endParaRPr lang="en-IN"/>
        </a:p>
      </dgm:t>
    </dgm:pt>
    <dgm:pt modelId="{F953BA98-4BDA-44B1-9719-2F2ECE38BC81}" type="sibTrans" cxnId="{522607B8-A096-4B24-9A5B-DA1ED614121A}">
      <dgm:prSet/>
      <dgm:spPr/>
      <dgm:t>
        <a:bodyPr/>
        <a:lstStyle/>
        <a:p>
          <a:endParaRPr lang="en-IN"/>
        </a:p>
      </dgm:t>
    </dgm:pt>
    <dgm:pt modelId="{6B861E0E-7DDF-4B56-A3BA-35F7CC4B604E}">
      <dgm:prSet/>
      <dgm:spPr/>
      <dgm:t>
        <a:bodyPr/>
        <a:lstStyle/>
        <a:p>
          <a:r>
            <a:rPr lang="en-IN" dirty="0"/>
            <a:t> Trigonometric Angle Calculator</a:t>
          </a:r>
        </a:p>
      </dgm:t>
    </dgm:pt>
    <dgm:pt modelId="{F263A26D-67B8-4530-8D67-4D06BD3F73C9}" type="parTrans" cxnId="{3655382C-CEEB-4364-AED4-E50B6EEEEFF1}">
      <dgm:prSet/>
      <dgm:spPr/>
      <dgm:t>
        <a:bodyPr/>
        <a:lstStyle/>
        <a:p>
          <a:endParaRPr lang="en-IN"/>
        </a:p>
      </dgm:t>
    </dgm:pt>
    <dgm:pt modelId="{8EE0DDB8-65EC-4045-9E34-9EE617A47905}" type="sibTrans" cxnId="{3655382C-CEEB-4364-AED4-E50B6EEEEFF1}">
      <dgm:prSet/>
      <dgm:spPr/>
      <dgm:t>
        <a:bodyPr/>
        <a:lstStyle/>
        <a:p>
          <a:endParaRPr lang="en-IN"/>
        </a:p>
      </dgm:t>
    </dgm:pt>
    <dgm:pt modelId="{891DEFBE-48C7-4418-8B12-15704D61DE51}">
      <dgm:prSet/>
      <dgm:spPr/>
      <dgm:t>
        <a:bodyPr/>
        <a:lstStyle/>
        <a:p>
          <a:r>
            <a:rPr lang="en-IN" dirty="0"/>
            <a:t> Database Grid</a:t>
          </a:r>
        </a:p>
      </dgm:t>
    </dgm:pt>
    <dgm:pt modelId="{675CDC25-503F-49C9-8196-CCAA0A45C887}" type="parTrans" cxnId="{6244F842-B9CC-4A31-A9A1-D74C4B03AD78}">
      <dgm:prSet/>
      <dgm:spPr/>
      <dgm:t>
        <a:bodyPr/>
        <a:lstStyle/>
        <a:p>
          <a:endParaRPr lang="en-IN"/>
        </a:p>
      </dgm:t>
    </dgm:pt>
    <dgm:pt modelId="{4AA4EE0A-3126-488D-BFB7-0ADA7A73F913}" type="sibTrans" cxnId="{6244F842-B9CC-4A31-A9A1-D74C4B03AD78}">
      <dgm:prSet/>
      <dgm:spPr/>
      <dgm:t>
        <a:bodyPr/>
        <a:lstStyle/>
        <a:p>
          <a:endParaRPr lang="en-IN"/>
        </a:p>
      </dgm:t>
    </dgm:pt>
    <dgm:pt modelId="{AAF27C3E-2B67-4E57-BB36-484E148C3583}">
      <dgm:prSet/>
      <dgm:spPr/>
      <dgm:t>
        <a:bodyPr/>
        <a:lstStyle/>
        <a:p>
          <a:r>
            <a:rPr lang="en-IN" dirty="0"/>
            <a:t> Master Reference Point (Pref)</a:t>
          </a:r>
        </a:p>
      </dgm:t>
    </dgm:pt>
    <dgm:pt modelId="{8B7FE05B-D15D-45F9-BC28-B7AA10647D57}" type="parTrans" cxnId="{8400FE4B-3698-424D-82AA-BAC5D8F1E2B0}">
      <dgm:prSet/>
      <dgm:spPr/>
      <dgm:t>
        <a:bodyPr/>
        <a:lstStyle/>
        <a:p>
          <a:endParaRPr lang="en-IN"/>
        </a:p>
      </dgm:t>
    </dgm:pt>
    <dgm:pt modelId="{80A38956-BB44-4985-B4B3-82F3DD119072}" type="sibTrans" cxnId="{8400FE4B-3698-424D-82AA-BAC5D8F1E2B0}">
      <dgm:prSet/>
      <dgm:spPr/>
      <dgm:t>
        <a:bodyPr/>
        <a:lstStyle/>
        <a:p>
          <a:endParaRPr lang="en-IN"/>
        </a:p>
      </dgm:t>
    </dgm:pt>
    <dgm:pt modelId="{F9FA9954-0339-4634-A17C-B43B2826AF35}">
      <dgm:prSet/>
      <dgm:spPr/>
      <dgm:t>
        <a:bodyPr/>
        <a:lstStyle/>
        <a:p>
          <a:r>
            <a:rPr lang="en-IN" dirty="0"/>
            <a:t> 360-Degree </a:t>
          </a:r>
          <a:r>
            <a:rPr lang="en-IN"/>
            <a:t>Angular Buckets</a:t>
          </a:r>
          <a:endParaRPr lang="en-IN" dirty="0"/>
        </a:p>
      </dgm:t>
    </dgm:pt>
    <dgm:pt modelId="{8E975EAF-D14B-42FA-88BC-2893BA1374C9}" type="parTrans" cxnId="{084D1C8C-85E7-4CF5-8234-8BFAA12B3387}">
      <dgm:prSet/>
      <dgm:spPr/>
      <dgm:t>
        <a:bodyPr/>
        <a:lstStyle/>
        <a:p>
          <a:endParaRPr lang="en-IN"/>
        </a:p>
      </dgm:t>
    </dgm:pt>
    <dgm:pt modelId="{3F1C5055-0836-4E37-9299-5A00269D8E2E}" type="sibTrans" cxnId="{084D1C8C-85E7-4CF5-8234-8BFAA12B3387}">
      <dgm:prSet/>
      <dgm:spPr/>
      <dgm:t>
        <a:bodyPr/>
        <a:lstStyle/>
        <a:p>
          <a:endParaRPr lang="en-IN"/>
        </a:p>
      </dgm:t>
    </dgm:pt>
    <dgm:pt modelId="{946F5F76-CA5B-485D-A128-77F2554BA35C}" type="pres">
      <dgm:prSet presAssocID="{549958BE-8993-4853-99C2-A34A899FC6D3}" presName="Name0" presStyleCnt="0">
        <dgm:presLayoutVars>
          <dgm:chPref val="1"/>
          <dgm:dir/>
          <dgm:animOne val="branch"/>
          <dgm:animLvl val="lvl"/>
          <dgm:resizeHandles/>
        </dgm:presLayoutVars>
      </dgm:prSet>
      <dgm:spPr/>
    </dgm:pt>
    <dgm:pt modelId="{CCABB598-A8A8-478E-9258-B8EB9AE51C01}" type="pres">
      <dgm:prSet presAssocID="{2970A1FD-7E21-4122-BB6D-347CA53E4B32}" presName="vertOne" presStyleCnt="0"/>
      <dgm:spPr/>
    </dgm:pt>
    <dgm:pt modelId="{4D73BB07-1ED3-4234-B7AB-4CB25D92CDD7}" type="pres">
      <dgm:prSet presAssocID="{2970A1FD-7E21-4122-BB6D-347CA53E4B32}" presName="txOne" presStyleLbl="node0" presStyleIdx="0" presStyleCnt="1">
        <dgm:presLayoutVars>
          <dgm:chPref val="3"/>
        </dgm:presLayoutVars>
      </dgm:prSet>
      <dgm:spPr/>
    </dgm:pt>
    <dgm:pt modelId="{6F4946A1-91B3-4BCF-ADD3-01D06851708E}" type="pres">
      <dgm:prSet presAssocID="{2970A1FD-7E21-4122-BB6D-347CA53E4B32}" presName="parTransOne" presStyleCnt="0"/>
      <dgm:spPr/>
    </dgm:pt>
    <dgm:pt modelId="{47AB402F-E4ED-42E5-83DA-417A7B968A09}" type="pres">
      <dgm:prSet presAssocID="{2970A1FD-7E21-4122-BB6D-347CA53E4B32}" presName="horzOne" presStyleCnt="0"/>
      <dgm:spPr/>
    </dgm:pt>
    <dgm:pt modelId="{25C427B7-34E7-4F8C-BCC1-F41D6E218462}" type="pres">
      <dgm:prSet presAssocID="{2C74023C-89CE-4ECE-8FF9-0E516A391B38}" presName="vertTwo" presStyleCnt="0"/>
      <dgm:spPr/>
    </dgm:pt>
    <dgm:pt modelId="{0403CE12-B8AE-45C1-8DFF-CDBA85BA4446}" type="pres">
      <dgm:prSet presAssocID="{2C74023C-89CE-4ECE-8FF9-0E516A391B38}" presName="txTwo" presStyleLbl="node2" presStyleIdx="0" presStyleCnt="4">
        <dgm:presLayoutVars>
          <dgm:chPref val="3"/>
        </dgm:presLayoutVars>
      </dgm:prSet>
      <dgm:spPr/>
    </dgm:pt>
    <dgm:pt modelId="{71773ED8-7F35-461E-9746-25B3F7F09424}" type="pres">
      <dgm:prSet presAssocID="{2C74023C-89CE-4ECE-8FF9-0E516A391B38}" presName="parTransTwo" presStyleCnt="0"/>
      <dgm:spPr/>
    </dgm:pt>
    <dgm:pt modelId="{A4CFAB54-C13C-469B-82A6-A790A1B5D454}" type="pres">
      <dgm:prSet presAssocID="{2C74023C-89CE-4ECE-8FF9-0E516A391B38}" presName="horzTwo" presStyleCnt="0"/>
      <dgm:spPr/>
    </dgm:pt>
    <dgm:pt modelId="{F3900B63-B8CC-4450-956C-499A191845D7}" type="pres">
      <dgm:prSet presAssocID="{264C92A2-C75F-477E-ACA4-EA913FE09C4A}" presName="vertThree" presStyleCnt="0"/>
      <dgm:spPr/>
    </dgm:pt>
    <dgm:pt modelId="{0485807C-5531-4220-805E-D0E242D5A6B6}" type="pres">
      <dgm:prSet presAssocID="{264C92A2-C75F-477E-ACA4-EA913FE09C4A}" presName="txThree" presStyleLbl="node3" presStyleIdx="0" presStyleCnt="7">
        <dgm:presLayoutVars>
          <dgm:chPref val="3"/>
        </dgm:presLayoutVars>
      </dgm:prSet>
      <dgm:spPr/>
    </dgm:pt>
    <dgm:pt modelId="{99D28D47-F5F7-4E86-AC5F-0558AC945900}" type="pres">
      <dgm:prSet presAssocID="{264C92A2-C75F-477E-ACA4-EA913FE09C4A}" presName="horzThree" presStyleCnt="0"/>
      <dgm:spPr/>
    </dgm:pt>
    <dgm:pt modelId="{5F3A3124-40C2-4BC8-8E9A-8F6467CB0929}" type="pres">
      <dgm:prSet presAssocID="{8A5E39A4-7385-4B1B-A7E7-23DC32F3A528}" presName="sibSpaceThree" presStyleCnt="0"/>
      <dgm:spPr/>
    </dgm:pt>
    <dgm:pt modelId="{35EBB887-28C5-4A6F-B414-46121FACE72E}" type="pres">
      <dgm:prSet presAssocID="{75A38313-2834-4EA1-A67D-41AEDFCBAD8E}" presName="vertThree" presStyleCnt="0"/>
      <dgm:spPr/>
    </dgm:pt>
    <dgm:pt modelId="{7B413FDC-8C82-4B4B-B0AC-4302F8459A29}" type="pres">
      <dgm:prSet presAssocID="{75A38313-2834-4EA1-A67D-41AEDFCBAD8E}" presName="txThree" presStyleLbl="node3" presStyleIdx="1" presStyleCnt="7">
        <dgm:presLayoutVars>
          <dgm:chPref val="3"/>
        </dgm:presLayoutVars>
      </dgm:prSet>
      <dgm:spPr/>
    </dgm:pt>
    <dgm:pt modelId="{9383DCCA-C169-4843-9637-34A345F59C6E}" type="pres">
      <dgm:prSet presAssocID="{75A38313-2834-4EA1-A67D-41AEDFCBAD8E}" presName="horzThree" presStyleCnt="0"/>
      <dgm:spPr/>
    </dgm:pt>
    <dgm:pt modelId="{7941363C-4F13-4136-903A-2597DAC60D6A}" type="pres">
      <dgm:prSet presAssocID="{62FC7929-1A96-4344-9098-90738311D25A}" presName="sibSpaceTwo" presStyleCnt="0"/>
      <dgm:spPr/>
    </dgm:pt>
    <dgm:pt modelId="{F93EB6C2-8572-4B4E-ABF8-F8A0BE221319}" type="pres">
      <dgm:prSet presAssocID="{71B40D9A-FCCD-4885-8924-1BF11C0159EA}" presName="vertTwo" presStyleCnt="0"/>
      <dgm:spPr/>
    </dgm:pt>
    <dgm:pt modelId="{EDC8545A-8D2A-45C6-88E1-6AEDDEF195E3}" type="pres">
      <dgm:prSet presAssocID="{71B40D9A-FCCD-4885-8924-1BF11C0159EA}" presName="txTwo" presStyleLbl="node2" presStyleIdx="1" presStyleCnt="4">
        <dgm:presLayoutVars>
          <dgm:chPref val="3"/>
        </dgm:presLayoutVars>
      </dgm:prSet>
      <dgm:spPr/>
    </dgm:pt>
    <dgm:pt modelId="{C65F7E16-0043-4439-9FE2-57D12E0BA322}" type="pres">
      <dgm:prSet presAssocID="{71B40D9A-FCCD-4885-8924-1BF11C0159EA}" presName="parTransTwo" presStyleCnt="0"/>
      <dgm:spPr/>
    </dgm:pt>
    <dgm:pt modelId="{D3C7FDDD-CD12-42A9-941C-D08E7E9CDB08}" type="pres">
      <dgm:prSet presAssocID="{71B40D9A-FCCD-4885-8924-1BF11C0159EA}" presName="horzTwo" presStyleCnt="0"/>
      <dgm:spPr/>
    </dgm:pt>
    <dgm:pt modelId="{4C2AA20D-DB02-43E1-886A-5E1F9F2B9F97}" type="pres">
      <dgm:prSet presAssocID="{90DD5412-686D-473E-BAB2-093C4C05606C}" presName="vertThree" presStyleCnt="0"/>
      <dgm:spPr/>
    </dgm:pt>
    <dgm:pt modelId="{7DFA0E51-BE3B-498D-B45D-CEA15F4D8FDA}" type="pres">
      <dgm:prSet presAssocID="{90DD5412-686D-473E-BAB2-093C4C05606C}" presName="txThree" presStyleLbl="node3" presStyleIdx="2" presStyleCnt="7">
        <dgm:presLayoutVars>
          <dgm:chPref val="3"/>
        </dgm:presLayoutVars>
      </dgm:prSet>
      <dgm:spPr/>
    </dgm:pt>
    <dgm:pt modelId="{B37FB97A-42D3-4067-8609-B03A86E2C92B}" type="pres">
      <dgm:prSet presAssocID="{90DD5412-686D-473E-BAB2-093C4C05606C}" presName="horzThree" presStyleCnt="0"/>
      <dgm:spPr/>
    </dgm:pt>
    <dgm:pt modelId="{92845600-D40E-4CF8-8233-B3D1E5E6CD9B}" type="pres">
      <dgm:prSet presAssocID="{7F3B4CBA-7C13-4BB7-B83B-AB16D09923F2}" presName="sibSpaceTwo" presStyleCnt="0"/>
      <dgm:spPr/>
    </dgm:pt>
    <dgm:pt modelId="{434B8C49-3A72-4A0D-B77A-561D502FD850}" type="pres">
      <dgm:prSet presAssocID="{3CEE8D53-EE19-456B-9CB1-D4FFD87928AE}" presName="vertTwo" presStyleCnt="0"/>
      <dgm:spPr/>
    </dgm:pt>
    <dgm:pt modelId="{6D2BD372-956C-46F9-AE0E-1CCD2E8BBFB4}" type="pres">
      <dgm:prSet presAssocID="{3CEE8D53-EE19-456B-9CB1-D4FFD87928AE}" presName="txTwo" presStyleLbl="node2" presStyleIdx="2" presStyleCnt="4">
        <dgm:presLayoutVars>
          <dgm:chPref val="3"/>
        </dgm:presLayoutVars>
      </dgm:prSet>
      <dgm:spPr/>
    </dgm:pt>
    <dgm:pt modelId="{31246C63-1B59-4915-8A9B-CB153836D094}" type="pres">
      <dgm:prSet presAssocID="{3CEE8D53-EE19-456B-9CB1-D4FFD87928AE}" presName="parTransTwo" presStyleCnt="0"/>
      <dgm:spPr/>
    </dgm:pt>
    <dgm:pt modelId="{658C3750-E26C-4495-B847-311620EA8816}" type="pres">
      <dgm:prSet presAssocID="{3CEE8D53-EE19-456B-9CB1-D4FFD87928AE}" presName="horzTwo" presStyleCnt="0"/>
      <dgm:spPr/>
    </dgm:pt>
    <dgm:pt modelId="{65BF6354-AFAC-4997-935C-6DB871CF6A77}" type="pres">
      <dgm:prSet presAssocID="{3FDD6FBB-A859-4E2D-8EAD-E0B3A70EBE0F}" presName="vertThree" presStyleCnt="0"/>
      <dgm:spPr/>
    </dgm:pt>
    <dgm:pt modelId="{E03168B1-1EB8-45CC-8FB9-6BEB757E1061}" type="pres">
      <dgm:prSet presAssocID="{3FDD6FBB-A859-4E2D-8EAD-E0B3A70EBE0F}" presName="txThree" presStyleLbl="node3" presStyleIdx="3" presStyleCnt="7">
        <dgm:presLayoutVars>
          <dgm:chPref val="3"/>
        </dgm:presLayoutVars>
      </dgm:prSet>
      <dgm:spPr/>
    </dgm:pt>
    <dgm:pt modelId="{2419F80A-A95D-4E14-A847-24AB6D129AF9}" type="pres">
      <dgm:prSet presAssocID="{3FDD6FBB-A859-4E2D-8EAD-E0B3A70EBE0F}" presName="parTransThree" presStyleCnt="0"/>
      <dgm:spPr/>
    </dgm:pt>
    <dgm:pt modelId="{2E89D5E3-F809-4EFD-85B0-B9EDBD3BA28A}" type="pres">
      <dgm:prSet presAssocID="{3FDD6FBB-A859-4E2D-8EAD-E0B3A70EBE0F}" presName="horzThree" presStyleCnt="0"/>
      <dgm:spPr/>
    </dgm:pt>
    <dgm:pt modelId="{04A06DA8-CA43-4A23-BB9A-AFB4131516F4}" type="pres">
      <dgm:prSet presAssocID="{FCEF6F47-A44C-457A-B68D-4EEC4CB0AEC0}" presName="vertFour" presStyleCnt="0">
        <dgm:presLayoutVars>
          <dgm:chPref val="3"/>
        </dgm:presLayoutVars>
      </dgm:prSet>
      <dgm:spPr/>
    </dgm:pt>
    <dgm:pt modelId="{677B1A11-5D8C-494F-8FC1-55CBFDDAB25E}" type="pres">
      <dgm:prSet presAssocID="{FCEF6F47-A44C-457A-B68D-4EEC4CB0AEC0}" presName="txFour" presStyleLbl="node4" presStyleIdx="0" presStyleCnt="4">
        <dgm:presLayoutVars>
          <dgm:chPref val="3"/>
        </dgm:presLayoutVars>
      </dgm:prSet>
      <dgm:spPr/>
    </dgm:pt>
    <dgm:pt modelId="{FDE41B3A-B21A-434F-A23D-00FC24BE0C10}" type="pres">
      <dgm:prSet presAssocID="{FCEF6F47-A44C-457A-B68D-4EEC4CB0AEC0}" presName="horzFour" presStyleCnt="0"/>
      <dgm:spPr/>
    </dgm:pt>
    <dgm:pt modelId="{B643E449-9318-448E-8D87-46E3C28B8BA1}" type="pres">
      <dgm:prSet presAssocID="{D7E1B12F-51E4-46CD-967F-86AACC490C5D}" presName="sibSpaceFour" presStyleCnt="0"/>
      <dgm:spPr/>
    </dgm:pt>
    <dgm:pt modelId="{D0C53E77-400A-40C6-BF55-0A6948D46376}" type="pres">
      <dgm:prSet presAssocID="{4587A77B-FDF3-43FC-86C2-B1F4F8445A57}" presName="vertFour" presStyleCnt="0">
        <dgm:presLayoutVars>
          <dgm:chPref val="3"/>
        </dgm:presLayoutVars>
      </dgm:prSet>
      <dgm:spPr/>
    </dgm:pt>
    <dgm:pt modelId="{3ACF7DA4-9640-430A-B71C-12E8F307B51C}" type="pres">
      <dgm:prSet presAssocID="{4587A77B-FDF3-43FC-86C2-B1F4F8445A57}" presName="txFour" presStyleLbl="node4" presStyleIdx="1" presStyleCnt="4">
        <dgm:presLayoutVars>
          <dgm:chPref val="3"/>
        </dgm:presLayoutVars>
      </dgm:prSet>
      <dgm:spPr/>
    </dgm:pt>
    <dgm:pt modelId="{D3870E8E-5E3F-4ABC-87EB-12D7056AC375}" type="pres">
      <dgm:prSet presAssocID="{4587A77B-FDF3-43FC-86C2-B1F4F8445A57}" presName="horzFour" presStyleCnt="0"/>
      <dgm:spPr/>
    </dgm:pt>
    <dgm:pt modelId="{3864206F-E8E6-4FBA-816A-F00EA09A23CD}" type="pres">
      <dgm:prSet presAssocID="{1A0FAE63-29D7-4B63-AD9F-190A2C0DCFAF}" presName="sibSpaceThree" presStyleCnt="0"/>
      <dgm:spPr/>
    </dgm:pt>
    <dgm:pt modelId="{208F0883-81C2-47E6-9C01-34B7767FC159}" type="pres">
      <dgm:prSet presAssocID="{409A55A2-ED19-4B3A-822F-7A63D6C4CB32}" presName="vertThree" presStyleCnt="0"/>
      <dgm:spPr/>
    </dgm:pt>
    <dgm:pt modelId="{939B8DF4-C784-40B5-A415-D897AE318F66}" type="pres">
      <dgm:prSet presAssocID="{409A55A2-ED19-4B3A-822F-7A63D6C4CB32}" presName="txThree" presStyleLbl="node3" presStyleIdx="4" presStyleCnt="7">
        <dgm:presLayoutVars>
          <dgm:chPref val="3"/>
        </dgm:presLayoutVars>
      </dgm:prSet>
      <dgm:spPr/>
    </dgm:pt>
    <dgm:pt modelId="{1D111CF1-DEB3-432F-8EA9-2701419FD9E4}" type="pres">
      <dgm:prSet presAssocID="{409A55A2-ED19-4B3A-822F-7A63D6C4CB32}" presName="parTransThree" presStyleCnt="0"/>
      <dgm:spPr/>
    </dgm:pt>
    <dgm:pt modelId="{D896AF88-4910-4B96-B5D7-7DD5358E22C2}" type="pres">
      <dgm:prSet presAssocID="{409A55A2-ED19-4B3A-822F-7A63D6C4CB32}" presName="horzThree" presStyleCnt="0"/>
      <dgm:spPr/>
    </dgm:pt>
    <dgm:pt modelId="{BDB76C94-B6E5-4859-B298-C6EC1D990ACF}" type="pres">
      <dgm:prSet presAssocID="{796CCB58-494B-46CD-86A6-86EA36E9BEBF}" presName="vertFour" presStyleCnt="0">
        <dgm:presLayoutVars>
          <dgm:chPref val="3"/>
        </dgm:presLayoutVars>
      </dgm:prSet>
      <dgm:spPr/>
    </dgm:pt>
    <dgm:pt modelId="{BC222D26-B8A7-4856-A884-2DCEB947F41F}" type="pres">
      <dgm:prSet presAssocID="{796CCB58-494B-46CD-86A6-86EA36E9BEBF}" presName="txFour" presStyleLbl="node4" presStyleIdx="2" presStyleCnt="4">
        <dgm:presLayoutVars>
          <dgm:chPref val="3"/>
        </dgm:presLayoutVars>
      </dgm:prSet>
      <dgm:spPr/>
    </dgm:pt>
    <dgm:pt modelId="{B2734021-0743-4810-BD43-70E6E237E31B}" type="pres">
      <dgm:prSet presAssocID="{796CCB58-494B-46CD-86A6-86EA36E9BEBF}" presName="horzFour" presStyleCnt="0"/>
      <dgm:spPr/>
    </dgm:pt>
    <dgm:pt modelId="{AC944E3A-7608-4954-A263-A7F0F1A787BA}" type="pres">
      <dgm:prSet presAssocID="{F953BA98-4BDA-44B1-9719-2F2ECE38BC81}" presName="sibSpaceFour" presStyleCnt="0"/>
      <dgm:spPr/>
    </dgm:pt>
    <dgm:pt modelId="{36687A55-6EB6-4968-B90D-DEEEDC2F1B55}" type="pres">
      <dgm:prSet presAssocID="{6B861E0E-7DDF-4B56-A3BA-35F7CC4B604E}" presName="vertFour" presStyleCnt="0">
        <dgm:presLayoutVars>
          <dgm:chPref val="3"/>
        </dgm:presLayoutVars>
      </dgm:prSet>
      <dgm:spPr/>
    </dgm:pt>
    <dgm:pt modelId="{D4B32FE1-F582-45FB-8B9A-2B829B0706EE}" type="pres">
      <dgm:prSet presAssocID="{6B861E0E-7DDF-4B56-A3BA-35F7CC4B604E}" presName="txFour" presStyleLbl="node4" presStyleIdx="3" presStyleCnt="4">
        <dgm:presLayoutVars>
          <dgm:chPref val="3"/>
        </dgm:presLayoutVars>
      </dgm:prSet>
      <dgm:spPr/>
    </dgm:pt>
    <dgm:pt modelId="{9CB8C706-3D18-40AF-822E-9AACA6F207C8}" type="pres">
      <dgm:prSet presAssocID="{6B861E0E-7DDF-4B56-A3BA-35F7CC4B604E}" presName="horzFour" presStyleCnt="0"/>
      <dgm:spPr/>
    </dgm:pt>
    <dgm:pt modelId="{99C97C89-09D8-44AB-B808-593615F8DD47}" type="pres">
      <dgm:prSet presAssocID="{2715CB40-C6E9-4286-B9DA-2DCF7184157D}" presName="sibSpaceTwo" presStyleCnt="0"/>
      <dgm:spPr/>
    </dgm:pt>
    <dgm:pt modelId="{9227642B-66CE-4EE4-A52D-AAE380F56B03}" type="pres">
      <dgm:prSet presAssocID="{891DEFBE-48C7-4418-8B12-15704D61DE51}" presName="vertTwo" presStyleCnt="0"/>
      <dgm:spPr/>
    </dgm:pt>
    <dgm:pt modelId="{291949E6-EED9-4640-930F-DF25917BD7DB}" type="pres">
      <dgm:prSet presAssocID="{891DEFBE-48C7-4418-8B12-15704D61DE51}" presName="txTwo" presStyleLbl="node2" presStyleIdx="3" presStyleCnt="4">
        <dgm:presLayoutVars>
          <dgm:chPref val="3"/>
        </dgm:presLayoutVars>
      </dgm:prSet>
      <dgm:spPr/>
    </dgm:pt>
    <dgm:pt modelId="{9804D156-E7B3-434A-95C7-1729ED450BB3}" type="pres">
      <dgm:prSet presAssocID="{891DEFBE-48C7-4418-8B12-15704D61DE51}" presName="parTransTwo" presStyleCnt="0"/>
      <dgm:spPr/>
    </dgm:pt>
    <dgm:pt modelId="{9791215C-3AE2-4C1B-BFE4-58E8D4F7EA38}" type="pres">
      <dgm:prSet presAssocID="{891DEFBE-48C7-4418-8B12-15704D61DE51}" presName="horzTwo" presStyleCnt="0"/>
      <dgm:spPr/>
    </dgm:pt>
    <dgm:pt modelId="{9E3CC2D0-58AA-4518-B184-F56DB948068A}" type="pres">
      <dgm:prSet presAssocID="{AAF27C3E-2B67-4E57-BB36-484E148C3583}" presName="vertThree" presStyleCnt="0"/>
      <dgm:spPr/>
    </dgm:pt>
    <dgm:pt modelId="{4406D5DD-2B30-4B43-A60A-7B95D58096CB}" type="pres">
      <dgm:prSet presAssocID="{AAF27C3E-2B67-4E57-BB36-484E148C3583}" presName="txThree" presStyleLbl="node3" presStyleIdx="5" presStyleCnt="7">
        <dgm:presLayoutVars>
          <dgm:chPref val="3"/>
        </dgm:presLayoutVars>
      </dgm:prSet>
      <dgm:spPr/>
    </dgm:pt>
    <dgm:pt modelId="{A1993330-1197-40DC-99DB-7DECBACAC839}" type="pres">
      <dgm:prSet presAssocID="{AAF27C3E-2B67-4E57-BB36-484E148C3583}" presName="horzThree" presStyleCnt="0"/>
      <dgm:spPr/>
    </dgm:pt>
    <dgm:pt modelId="{FE856CC1-2F9C-40BF-9837-F73AC588ED79}" type="pres">
      <dgm:prSet presAssocID="{80A38956-BB44-4985-B4B3-82F3DD119072}" presName="sibSpaceThree" presStyleCnt="0"/>
      <dgm:spPr/>
    </dgm:pt>
    <dgm:pt modelId="{93B23AFF-FA93-4576-961D-5392A4F9570F}" type="pres">
      <dgm:prSet presAssocID="{F9FA9954-0339-4634-A17C-B43B2826AF35}" presName="vertThree" presStyleCnt="0"/>
      <dgm:spPr/>
    </dgm:pt>
    <dgm:pt modelId="{6F8FA95E-365C-41BD-AA35-E7C4C8943012}" type="pres">
      <dgm:prSet presAssocID="{F9FA9954-0339-4634-A17C-B43B2826AF35}" presName="txThree" presStyleLbl="node3" presStyleIdx="6" presStyleCnt="7">
        <dgm:presLayoutVars>
          <dgm:chPref val="3"/>
        </dgm:presLayoutVars>
      </dgm:prSet>
      <dgm:spPr/>
    </dgm:pt>
    <dgm:pt modelId="{38D1BD7D-5470-4DF8-A4CA-35152AF67B18}" type="pres">
      <dgm:prSet presAssocID="{F9FA9954-0339-4634-A17C-B43B2826AF35}" presName="horzThree" presStyleCnt="0"/>
      <dgm:spPr/>
    </dgm:pt>
  </dgm:ptLst>
  <dgm:cxnLst>
    <dgm:cxn modelId="{7FB18609-92D0-44ED-830D-B81C1F2C0F98}" type="presOf" srcId="{3CEE8D53-EE19-456B-9CB1-D4FFD87928AE}" destId="{6D2BD372-956C-46F9-AE0E-1CCD2E8BBFB4}" srcOrd="0" destOrd="0" presId="urn:microsoft.com/office/officeart/2005/8/layout/architecture"/>
    <dgm:cxn modelId="{09859F1E-A178-4636-A8E3-F21EBDFCFAFE}" srcId="{2970A1FD-7E21-4122-BB6D-347CA53E4B32}" destId="{71B40D9A-FCCD-4885-8924-1BF11C0159EA}" srcOrd="1" destOrd="0" parTransId="{90B12F3F-2F4C-4393-B31D-762290A6A7E0}" sibTransId="{7F3B4CBA-7C13-4BB7-B83B-AB16D09923F2}"/>
    <dgm:cxn modelId="{2C70201F-16CB-4416-BB1B-FA7B203CC681}" srcId="{3FDD6FBB-A859-4E2D-8EAD-E0B3A70EBE0F}" destId="{FCEF6F47-A44C-457A-B68D-4EEC4CB0AEC0}" srcOrd="0" destOrd="0" parTransId="{BE97295B-DDF8-4D52-A689-1A6AFBD33FF5}" sibTransId="{D7E1B12F-51E4-46CD-967F-86AACC490C5D}"/>
    <dgm:cxn modelId="{26A5A727-D0D5-4196-8DBE-426EC7083B6A}" type="presOf" srcId="{796CCB58-494B-46CD-86A6-86EA36E9BEBF}" destId="{BC222D26-B8A7-4856-A884-2DCEB947F41F}" srcOrd="0" destOrd="0" presId="urn:microsoft.com/office/officeart/2005/8/layout/architecture"/>
    <dgm:cxn modelId="{3655382C-CEEB-4364-AED4-E50B6EEEEFF1}" srcId="{409A55A2-ED19-4B3A-822F-7A63D6C4CB32}" destId="{6B861E0E-7DDF-4B56-A3BA-35F7CC4B604E}" srcOrd="1" destOrd="0" parTransId="{F263A26D-67B8-4530-8D67-4D06BD3F73C9}" sibTransId="{8EE0DDB8-65EC-4045-9E34-9EE617A47905}"/>
    <dgm:cxn modelId="{6244F842-B9CC-4A31-A9A1-D74C4B03AD78}" srcId="{2970A1FD-7E21-4122-BB6D-347CA53E4B32}" destId="{891DEFBE-48C7-4418-8B12-15704D61DE51}" srcOrd="3" destOrd="0" parTransId="{675CDC25-503F-49C9-8196-CCAA0A45C887}" sibTransId="{4AA4EE0A-3126-488D-BFB7-0ADA7A73F913}"/>
    <dgm:cxn modelId="{253A9049-8CF4-40DC-B413-43B7B9AE82D4}" type="presOf" srcId="{F9FA9954-0339-4634-A17C-B43B2826AF35}" destId="{6F8FA95E-365C-41BD-AA35-E7C4C8943012}" srcOrd="0" destOrd="0" presId="urn:microsoft.com/office/officeart/2005/8/layout/architecture"/>
    <dgm:cxn modelId="{8400FE4B-3698-424D-82AA-BAC5D8F1E2B0}" srcId="{891DEFBE-48C7-4418-8B12-15704D61DE51}" destId="{AAF27C3E-2B67-4E57-BB36-484E148C3583}" srcOrd="0" destOrd="0" parTransId="{8B7FE05B-D15D-45F9-BC28-B7AA10647D57}" sibTransId="{80A38956-BB44-4985-B4B3-82F3DD119072}"/>
    <dgm:cxn modelId="{AA7F844D-1F1C-4B3D-B25E-6B1D46E9B7BD}" srcId="{549958BE-8993-4853-99C2-A34A899FC6D3}" destId="{2970A1FD-7E21-4122-BB6D-347CA53E4B32}" srcOrd="0" destOrd="0" parTransId="{BB1C5473-494B-42C3-935F-21D99E9829D1}" sibTransId="{54E651B6-3584-45CD-BDEF-6C0C10A5B06E}"/>
    <dgm:cxn modelId="{2CD2974E-9BEB-4E16-AA46-8199865359A2}" srcId="{2970A1FD-7E21-4122-BB6D-347CA53E4B32}" destId="{2C74023C-89CE-4ECE-8FF9-0E516A391B38}" srcOrd="0" destOrd="0" parTransId="{2C10EEFF-C02F-4081-9CD9-2EA2075A9B36}" sibTransId="{62FC7929-1A96-4344-9098-90738311D25A}"/>
    <dgm:cxn modelId="{61248770-58B0-48BE-8089-B6E2A550F774}" type="presOf" srcId="{2C74023C-89CE-4ECE-8FF9-0E516A391B38}" destId="{0403CE12-B8AE-45C1-8DFF-CDBA85BA4446}" srcOrd="0" destOrd="0" presId="urn:microsoft.com/office/officeart/2005/8/layout/architecture"/>
    <dgm:cxn modelId="{B9CB8479-8D2E-48A9-9845-21EFCBD2460D}" type="presOf" srcId="{4587A77B-FDF3-43FC-86C2-B1F4F8445A57}" destId="{3ACF7DA4-9640-430A-B71C-12E8F307B51C}" srcOrd="0" destOrd="0" presId="urn:microsoft.com/office/officeart/2005/8/layout/architecture"/>
    <dgm:cxn modelId="{59D4457F-7B15-4BC6-BAE2-712BD0F3075A}" type="presOf" srcId="{409A55A2-ED19-4B3A-822F-7A63D6C4CB32}" destId="{939B8DF4-C784-40B5-A415-D897AE318F66}" srcOrd="0" destOrd="0" presId="urn:microsoft.com/office/officeart/2005/8/layout/architecture"/>
    <dgm:cxn modelId="{084D1C8C-85E7-4CF5-8234-8BFAA12B3387}" srcId="{891DEFBE-48C7-4418-8B12-15704D61DE51}" destId="{F9FA9954-0339-4634-A17C-B43B2826AF35}" srcOrd="1" destOrd="0" parTransId="{8E975EAF-D14B-42FA-88BC-2893BA1374C9}" sibTransId="{3F1C5055-0836-4E37-9299-5A00269D8E2E}"/>
    <dgm:cxn modelId="{568BDE9E-B440-4A43-B8BA-A09D0C351F78}" srcId="{2C74023C-89CE-4ECE-8FF9-0E516A391B38}" destId="{75A38313-2834-4EA1-A67D-41AEDFCBAD8E}" srcOrd="1" destOrd="0" parTransId="{7CD48655-5AE7-405C-817E-36C937E126F0}" sibTransId="{DCBD29E0-40A6-4410-9CCF-D13C2F729672}"/>
    <dgm:cxn modelId="{82EACDA6-68FD-4CBF-8F65-BAFA7391B7B1}" type="presOf" srcId="{3FDD6FBB-A859-4E2D-8EAD-E0B3A70EBE0F}" destId="{E03168B1-1EB8-45CC-8FB9-6BEB757E1061}" srcOrd="0" destOrd="0" presId="urn:microsoft.com/office/officeart/2005/8/layout/architecture"/>
    <dgm:cxn modelId="{B4A8B4A9-81E0-47C7-99AA-931020A9E2BB}" type="presOf" srcId="{FCEF6F47-A44C-457A-B68D-4EEC4CB0AEC0}" destId="{677B1A11-5D8C-494F-8FC1-55CBFDDAB25E}" srcOrd="0" destOrd="0" presId="urn:microsoft.com/office/officeart/2005/8/layout/architecture"/>
    <dgm:cxn modelId="{68D06FAD-3ED8-48EE-A5CB-1CE6CB12EF93}" type="presOf" srcId="{2970A1FD-7E21-4122-BB6D-347CA53E4B32}" destId="{4D73BB07-1ED3-4234-B7AB-4CB25D92CDD7}" srcOrd="0" destOrd="0" presId="urn:microsoft.com/office/officeart/2005/8/layout/architecture"/>
    <dgm:cxn modelId="{413412B2-27A6-4C54-B40C-62A691A89DEC}" type="presOf" srcId="{549958BE-8993-4853-99C2-A34A899FC6D3}" destId="{946F5F76-CA5B-485D-A128-77F2554BA35C}" srcOrd="0" destOrd="0" presId="urn:microsoft.com/office/officeart/2005/8/layout/architecture"/>
    <dgm:cxn modelId="{522607B8-A096-4B24-9A5B-DA1ED614121A}" srcId="{409A55A2-ED19-4B3A-822F-7A63D6C4CB32}" destId="{796CCB58-494B-46CD-86A6-86EA36E9BEBF}" srcOrd="0" destOrd="0" parTransId="{15081376-BC17-4863-A8B2-321A82DD3227}" sibTransId="{F953BA98-4BDA-44B1-9719-2F2ECE38BC81}"/>
    <dgm:cxn modelId="{62DC2EC2-5201-429E-B1F1-E5BC9A80B51B}" srcId="{3CEE8D53-EE19-456B-9CB1-D4FFD87928AE}" destId="{409A55A2-ED19-4B3A-822F-7A63D6C4CB32}" srcOrd="1" destOrd="0" parTransId="{40AC3282-1D4F-4D87-B585-AA1AF89F052F}" sibTransId="{BA367BA2-BA34-4F89-A076-EC5043C7DE50}"/>
    <dgm:cxn modelId="{C7A74CC3-DE5B-420B-880E-D9DE435897DA}" srcId="{2970A1FD-7E21-4122-BB6D-347CA53E4B32}" destId="{3CEE8D53-EE19-456B-9CB1-D4FFD87928AE}" srcOrd="2" destOrd="0" parTransId="{B4E3A4AA-542F-4A16-B4E2-D6F96A06BAC1}" sibTransId="{2715CB40-C6E9-4286-B9DA-2DCF7184157D}"/>
    <dgm:cxn modelId="{290D38C6-C554-431D-B228-9815D899B51B}" srcId="{3CEE8D53-EE19-456B-9CB1-D4FFD87928AE}" destId="{3FDD6FBB-A859-4E2D-8EAD-E0B3A70EBE0F}" srcOrd="0" destOrd="0" parTransId="{734743F3-0026-4B3F-9A68-3D76954E9F0B}" sibTransId="{1A0FAE63-29D7-4B63-AD9F-190A2C0DCFAF}"/>
    <dgm:cxn modelId="{F7119DCB-8F9F-4C2D-823B-CE69A6E67D4F}" type="presOf" srcId="{AAF27C3E-2B67-4E57-BB36-484E148C3583}" destId="{4406D5DD-2B30-4B43-A60A-7B95D58096CB}" srcOrd="0" destOrd="0" presId="urn:microsoft.com/office/officeart/2005/8/layout/architecture"/>
    <dgm:cxn modelId="{71F9CACB-14E5-4C0F-B05B-62B48FC735F7}" type="presOf" srcId="{75A38313-2834-4EA1-A67D-41AEDFCBAD8E}" destId="{7B413FDC-8C82-4B4B-B0AC-4302F8459A29}" srcOrd="0" destOrd="0" presId="urn:microsoft.com/office/officeart/2005/8/layout/architecture"/>
    <dgm:cxn modelId="{8AF296D4-902B-4C20-B600-B7F9FFE67017}" type="presOf" srcId="{90DD5412-686D-473E-BAB2-093C4C05606C}" destId="{7DFA0E51-BE3B-498D-B45D-CEA15F4D8FDA}" srcOrd="0" destOrd="0" presId="urn:microsoft.com/office/officeart/2005/8/layout/architecture"/>
    <dgm:cxn modelId="{82993DD9-5B7F-438B-9752-66289A9F3394}" type="presOf" srcId="{891DEFBE-48C7-4418-8B12-15704D61DE51}" destId="{291949E6-EED9-4640-930F-DF25917BD7DB}" srcOrd="0" destOrd="0" presId="urn:microsoft.com/office/officeart/2005/8/layout/architecture"/>
    <dgm:cxn modelId="{5B9A11E5-4006-4D98-927F-7358C57B035E}" srcId="{71B40D9A-FCCD-4885-8924-1BF11C0159EA}" destId="{90DD5412-686D-473E-BAB2-093C4C05606C}" srcOrd="0" destOrd="0" parTransId="{8265196A-7B91-40CB-A800-663C1B880617}" sibTransId="{28A52B2A-6225-4B68-9270-B888800AF8D8}"/>
    <dgm:cxn modelId="{D1A0A7E6-452D-460C-A502-D66FF9D55F61}" type="presOf" srcId="{71B40D9A-FCCD-4885-8924-1BF11C0159EA}" destId="{EDC8545A-8D2A-45C6-88E1-6AEDDEF195E3}" srcOrd="0" destOrd="0" presId="urn:microsoft.com/office/officeart/2005/8/layout/architecture"/>
    <dgm:cxn modelId="{C30794EF-8BBD-413E-AEC1-FEB0DE503746}" srcId="{2C74023C-89CE-4ECE-8FF9-0E516A391B38}" destId="{264C92A2-C75F-477E-ACA4-EA913FE09C4A}" srcOrd="0" destOrd="0" parTransId="{5908659C-CD77-4B79-B051-B0BCED741D7A}" sibTransId="{8A5E39A4-7385-4B1B-A7E7-23DC32F3A528}"/>
    <dgm:cxn modelId="{4DAC2EF0-CFE6-4F88-99A0-C112E2B7B244}" srcId="{3FDD6FBB-A859-4E2D-8EAD-E0B3A70EBE0F}" destId="{4587A77B-FDF3-43FC-86C2-B1F4F8445A57}" srcOrd="1" destOrd="0" parTransId="{1492AF46-32B0-49C5-BD11-1586C38E7E4B}" sibTransId="{136BE1FD-10FB-449E-B503-770B3C3DE588}"/>
    <dgm:cxn modelId="{23DA5AFC-D922-4A66-8731-9007AC08EDD3}" type="presOf" srcId="{6B861E0E-7DDF-4B56-A3BA-35F7CC4B604E}" destId="{D4B32FE1-F582-45FB-8B9A-2B829B0706EE}" srcOrd="0" destOrd="0" presId="urn:microsoft.com/office/officeart/2005/8/layout/architecture"/>
    <dgm:cxn modelId="{852108FE-F624-4232-8463-EE5207C1D263}" type="presOf" srcId="{264C92A2-C75F-477E-ACA4-EA913FE09C4A}" destId="{0485807C-5531-4220-805E-D0E242D5A6B6}" srcOrd="0" destOrd="0" presId="urn:microsoft.com/office/officeart/2005/8/layout/architecture"/>
    <dgm:cxn modelId="{A394A88A-34D7-44BE-ACDC-7831BDA6B865}" type="presParOf" srcId="{946F5F76-CA5B-485D-A128-77F2554BA35C}" destId="{CCABB598-A8A8-478E-9258-B8EB9AE51C01}" srcOrd="0" destOrd="0" presId="urn:microsoft.com/office/officeart/2005/8/layout/architecture"/>
    <dgm:cxn modelId="{E20B2021-A8FA-4280-B066-DBF186C36711}" type="presParOf" srcId="{CCABB598-A8A8-478E-9258-B8EB9AE51C01}" destId="{4D73BB07-1ED3-4234-B7AB-4CB25D92CDD7}" srcOrd="0" destOrd="0" presId="urn:microsoft.com/office/officeart/2005/8/layout/architecture"/>
    <dgm:cxn modelId="{4ECEA3FE-68EF-4C9D-ACAB-E28CFF816E77}" type="presParOf" srcId="{CCABB598-A8A8-478E-9258-B8EB9AE51C01}" destId="{6F4946A1-91B3-4BCF-ADD3-01D06851708E}" srcOrd="1" destOrd="0" presId="urn:microsoft.com/office/officeart/2005/8/layout/architecture"/>
    <dgm:cxn modelId="{E2EB3AEA-84BD-4CEE-8455-5DB426799AD3}" type="presParOf" srcId="{CCABB598-A8A8-478E-9258-B8EB9AE51C01}" destId="{47AB402F-E4ED-42E5-83DA-417A7B968A09}" srcOrd="2" destOrd="0" presId="urn:microsoft.com/office/officeart/2005/8/layout/architecture"/>
    <dgm:cxn modelId="{75C92157-6C07-42AA-A03D-DAFCD43618F2}" type="presParOf" srcId="{47AB402F-E4ED-42E5-83DA-417A7B968A09}" destId="{25C427B7-34E7-4F8C-BCC1-F41D6E218462}" srcOrd="0" destOrd="0" presId="urn:microsoft.com/office/officeart/2005/8/layout/architecture"/>
    <dgm:cxn modelId="{5709FB70-08F1-48A1-9DAB-E56D5A4751C4}" type="presParOf" srcId="{25C427B7-34E7-4F8C-BCC1-F41D6E218462}" destId="{0403CE12-B8AE-45C1-8DFF-CDBA85BA4446}" srcOrd="0" destOrd="0" presId="urn:microsoft.com/office/officeart/2005/8/layout/architecture"/>
    <dgm:cxn modelId="{E1EAB91E-8986-4A96-BDA7-282541918073}" type="presParOf" srcId="{25C427B7-34E7-4F8C-BCC1-F41D6E218462}" destId="{71773ED8-7F35-461E-9746-25B3F7F09424}" srcOrd="1" destOrd="0" presId="urn:microsoft.com/office/officeart/2005/8/layout/architecture"/>
    <dgm:cxn modelId="{248872DE-F175-4809-81E2-E1C5EBE1F6FB}" type="presParOf" srcId="{25C427B7-34E7-4F8C-BCC1-F41D6E218462}" destId="{A4CFAB54-C13C-469B-82A6-A790A1B5D454}" srcOrd="2" destOrd="0" presId="urn:microsoft.com/office/officeart/2005/8/layout/architecture"/>
    <dgm:cxn modelId="{FC18F0E9-F3AE-4C6D-BBD3-979688866F2E}" type="presParOf" srcId="{A4CFAB54-C13C-469B-82A6-A790A1B5D454}" destId="{F3900B63-B8CC-4450-956C-499A191845D7}" srcOrd="0" destOrd="0" presId="urn:microsoft.com/office/officeart/2005/8/layout/architecture"/>
    <dgm:cxn modelId="{3BF9F493-E912-4BCF-BAF9-8B21E3FE2FD2}" type="presParOf" srcId="{F3900B63-B8CC-4450-956C-499A191845D7}" destId="{0485807C-5531-4220-805E-D0E242D5A6B6}" srcOrd="0" destOrd="0" presId="urn:microsoft.com/office/officeart/2005/8/layout/architecture"/>
    <dgm:cxn modelId="{68410F2E-6DAD-4468-9369-5A6BBABED651}" type="presParOf" srcId="{F3900B63-B8CC-4450-956C-499A191845D7}" destId="{99D28D47-F5F7-4E86-AC5F-0558AC945900}" srcOrd="1" destOrd="0" presId="urn:microsoft.com/office/officeart/2005/8/layout/architecture"/>
    <dgm:cxn modelId="{8C128FEB-9207-44BB-B133-628EA43E7E8D}" type="presParOf" srcId="{A4CFAB54-C13C-469B-82A6-A790A1B5D454}" destId="{5F3A3124-40C2-4BC8-8E9A-8F6467CB0929}" srcOrd="1" destOrd="0" presId="urn:microsoft.com/office/officeart/2005/8/layout/architecture"/>
    <dgm:cxn modelId="{81956EC7-F0B1-4D4D-B127-2BB8251F7E26}" type="presParOf" srcId="{A4CFAB54-C13C-469B-82A6-A790A1B5D454}" destId="{35EBB887-28C5-4A6F-B414-46121FACE72E}" srcOrd="2" destOrd="0" presId="urn:microsoft.com/office/officeart/2005/8/layout/architecture"/>
    <dgm:cxn modelId="{55F2C98D-9FDC-47A7-959E-8BF96A83DA9B}" type="presParOf" srcId="{35EBB887-28C5-4A6F-B414-46121FACE72E}" destId="{7B413FDC-8C82-4B4B-B0AC-4302F8459A29}" srcOrd="0" destOrd="0" presId="urn:microsoft.com/office/officeart/2005/8/layout/architecture"/>
    <dgm:cxn modelId="{66CFBE2F-78EB-4AD8-8191-80873FD95927}" type="presParOf" srcId="{35EBB887-28C5-4A6F-B414-46121FACE72E}" destId="{9383DCCA-C169-4843-9637-34A345F59C6E}" srcOrd="1" destOrd="0" presId="urn:microsoft.com/office/officeart/2005/8/layout/architecture"/>
    <dgm:cxn modelId="{206C2AB8-97FE-438B-A35F-1A03190FC8E8}" type="presParOf" srcId="{47AB402F-E4ED-42E5-83DA-417A7B968A09}" destId="{7941363C-4F13-4136-903A-2597DAC60D6A}" srcOrd="1" destOrd="0" presId="urn:microsoft.com/office/officeart/2005/8/layout/architecture"/>
    <dgm:cxn modelId="{1ED522F8-F8E0-416A-97A8-B2E9DD1F2F61}" type="presParOf" srcId="{47AB402F-E4ED-42E5-83DA-417A7B968A09}" destId="{F93EB6C2-8572-4B4E-ABF8-F8A0BE221319}" srcOrd="2" destOrd="0" presId="urn:microsoft.com/office/officeart/2005/8/layout/architecture"/>
    <dgm:cxn modelId="{4BDA98ED-6508-4672-90BD-3A7065F58410}" type="presParOf" srcId="{F93EB6C2-8572-4B4E-ABF8-F8A0BE221319}" destId="{EDC8545A-8D2A-45C6-88E1-6AEDDEF195E3}" srcOrd="0" destOrd="0" presId="urn:microsoft.com/office/officeart/2005/8/layout/architecture"/>
    <dgm:cxn modelId="{E406E2B8-7F37-495C-9BA1-4D8AB55C6C47}" type="presParOf" srcId="{F93EB6C2-8572-4B4E-ABF8-F8A0BE221319}" destId="{C65F7E16-0043-4439-9FE2-57D12E0BA322}" srcOrd="1" destOrd="0" presId="urn:microsoft.com/office/officeart/2005/8/layout/architecture"/>
    <dgm:cxn modelId="{9B3260F6-747B-47C9-89C4-03C1206D3966}" type="presParOf" srcId="{F93EB6C2-8572-4B4E-ABF8-F8A0BE221319}" destId="{D3C7FDDD-CD12-42A9-941C-D08E7E9CDB08}" srcOrd="2" destOrd="0" presId="urn:microsoft.com/office/officeart/2005/8/layout/architecture"/>
    <dgm:cxn modelId="{40FED581-748A-4212-986C-BCD15E0D7E95}" type="presParOf" srcId="{D3C7FDDD-CD12-42A9-941C-D08E7E9CDB08}" destId="{4C2AA20D-DB02-43E1-886A-5E1F9F2B9F97}" srcOrd="0" destOrd="0" presId="urn:microsoft.com/office/officeart/2005/8/layout/architecture"/>
    <dgm:cxn modelId="{D680D41A-A62B-469A-8F25-4613BA57CA76}" type="presParOf" srcId="{4C2AA20D-DB02-43E1-886A-5E1F9F2B9F97}" destId="{7DFA0E51-BE3B-498D-B45D-CEA15F4D8FDA}" srcOrd="0" destOrd="0" presId="urn:microsoft.com/office/officeart/2005/8/layout/architecture"/>
    <dgm:cxn modelId="{D70BBEFF-FCBB-473B-959B-C26CF4B74BB5}" type="presParOf" srcId="{4C2AA20D-DB02-43E1-886A-5E1F9F2B9F97}" destId="{B37FB97A-42D3-4067-8609-B03A86E2C92B}" srcOrd="1" destOrd="0" presId="urn:microsoft.com/office/officeart/2005/8/layout/architecture"/>
    <dgm:cxn modelId="{A0F6EA88-454E-4F0C-95A9-DDD1FD4544BF}" type="presParOf" srcId="{47AB402F-E4ED-42E5-83DA-417A7B968A09}" destId="{92845600-D40E-4CF8-8233-B3D1E5E6CD9B}" srcOrd="3" destOrd="0" presId="urn:microsoft.com/office/officeart/2005/8/layout/architecture"/>
    <dgm:cxn modelId="{A7508C49-4F6E-46BC-815D-34567F8F2942}" type="presParOf" srcId="{47AB402F-E4ED-42E5-83DA-417A7B968A09}" destId="{434B8C49-3A72-4A0D-B77A-561D502FD850}" srcOrd="4" destOrd="0" presId="urn:microsoft.com/office/officeart/2005/8/layout/architecture"/>
    <dgm:cxn modelId="{800F5E18-4DCD-4219-BB41-BBE1B748DC3C}" type="presParOf" srcId="{434B8C49-3A72-4A0D-B77A-561D502FD850}" destId="{6D2BD372-956C-46F9-AE0E-1CCD2E8BBFB4}" srcOrd="0" destOrd="0" presId="urn:microsoft.com/office/officeart/2005/8/layout/architecture"/>
    <dgm:cxn modelId="{9587A865-26B1-499D-BCA7-3CF5A5D826B1}" type="presParOf" srcId="{434B8C49-3A72-4A0D-B77A-561D502FD850}" destId="{31246C63-1B59-4915-8A9B-CB153836D094}" srcOrd="1" destOrd="0" presId="urn:microsoft.com/office/officeart/2005/8/layout/architecture"/>
    <dgm:cxn modelId="{42361B68-3DA3-4CC5-AC18-2D642ED0134E}" type="presParOf" srcId="{434B8C49-3A72-4A0D-B77A-561D502FD850}" destId="{658C3750-E26C-4495-B847-311620EA8816}" srcOrd="2" destOrd="0" presId="urn:microsoft.com/office/officeart/2005/8/layout/architecture"/>
    <dgm:cxn modelId="{84B4E5AA-4EB3-4115-8C1E-30FF98725F1E}" type="presParOf" srcId="{658C3750-E26C-4495-B847-311620EA8816}" destId="{65BF6354-AFAC-4997-935C-6DB871CF6A77}" srcOrd="0" destOrd="0" presId="urn:microsoft.com/office/officeart/2005/8/layout/architecture"/>
    <dgm:cxn modelId="{DCCAE8B7-F84A-47A8-B69B-3BDD1D00DE25}" type="presParOf" srcId="{65BF6354-AFAC-4997-935C-6DB871CF6A77}" destId="{E03168B1-1EB8-45CC-8FB9-6BEB757E1061}" srcOrd="0" destOrd="0" presId="urn:microsoft.com/office/officeart/2005/8/layout/architecture"/>
    <dgm:cxn modelId="{671E03AF-E0B5-4F2A-BD61-5FA12675E314}" type="presParOf" srcId="{65BF6354-AFAC-4997-935C-6DB871CF6A77}" destId="{2419F80A-A95D-4E14-A847-24AB6D129AF9}" srcOrd="1" destOrd="0" presId="urn:microsoft.com/office/officeart/2005/8/layout/architecture"/>
    <dgm:cxn modelId="{A2888903-13FB-48C3-B7FC-9D26067A1823}" type="presParOf" srcId="{65BF6354-AFAC-4997-935C-6DB871CF6A77}" destId="{2E89D5E3-F809-4EFD-85B0-B9EDBD3BA28A}" srcOrd="2" destOrd="0" presId="urn:microsoft.com/office/officeart/2005/8/layout/architecture"/>
    <dgm:cxn modelId="{E324E628-FA92-4EBF-9ECB-C1E1022BC911}" type="presParOf" srcId="{2E89D5E3-F809-4EFD-85B0-B9EDBD3BA28A}" destId="{04A06DA8-CA43-4A23-BB9A-AFB4131516F4}" srcOrd="0" destOrd="0" presId="urn:microsoft.com/office/officeart/2005/8/layout/architecture"/>
    <dgm:cxn modelId="{F222E91F-4699-4E96-866C-2883FF44D184}" type="presParOf" srcId="{04A06DA8-CA43-4A23-BB9A-AFB4131516F4}" destId="{677B1A11-5D8C-494F-8FC1-55CBFDDAB25E}" srcOrd="0" destOrd="0" presId="urn:microsoft.com/office/officeart/2005/8/layout/architecture"/>
    <dgm:cxn modelId="{9D4C4044-0358-4468-B012-B62508A7B807}" type="presParOf" srcId="{04A06DA8-CA43-4A23-BB9A-AFB4131516F4}" destId="{FDE41B3A-B21A-434F-A23D-00FC24BE0C10}" srcOrd="1" destOrd="0" presId="urn:microsoft.com/office/officeart/2005/8/layout/architecture"/>
    <dgm:cxn modelId="{7926B1AE-9C67-46D1-8419-7D4057903CE0}" type="presParOf" srcId="{2E89D5E3-F809-4EFD-85B0-B9EDBD3BA28A}" destId="{B643E449-9318-448E-8D87-46E3C28B8BA1}" srcOrd="1" destOrd="0" presId="urn:microsoft.com/office/officeart/2005/8/layout/architecture"/>
    <dgm:cxn modelId="{1F22D412-6C24-4C30-A44C-BDB62EF47D19}" type="presParOf" srcId="{2E89D5E3-F809-4EFD-85B0-B9EDBD3BA28A}" destId="{D0C53E77-400A-40C6-BF55-0A6948D46376}" srcOrd="2" destOrd="0" presId="urn:microsoft.com/office/officeart/2005/8/layout/architecture"/>
    <dgm:cxn modelId="{CD71EC68-DE11-49B9-A60B-0D4DA07F295B}" type="presParOf" srcId="{D0C53E77-400A-40C6-BF55-0A6948D46376}" destId="{3ACF7DA4-9640-430A-B71C-12E8F307B51C}" srcOrd="0" destOrd="0" presId="urn:microsoft.com/office/officeart/2005/8/layout/architecture"/>
    <dgm:cxn modelId="{F655F6BC-A920-4D40-BA8A-1946F1DA31BF}" type="presParOf" srcId="{D0C53E77-400A-40C6-BF55-0A6948D46376}" destId="{D3870E8E-5E3F-4ABC-87EB-12D7056AC375}" srcOrd="1" destOrd="0" presId="urn:microsoft.com/office/officeart/2005/8/layout/architecture"/>
    <dgm:cxn modelId="{A3EEE06D-E66C-4127-90FE-F50AD6D3B28D}" type="presParOf" srcId="{658C3750-E26C-4495-B847-311620EA8816}" destId="{3864206F-E8E6-4FBA-816A-F00EA09A23CD}" srcOrd="1" destOrd="0" presId="urn:microsoft.com/office/officeart/2005/8/layout/architecture"/>
    <dgm:cxn modelId="{1A65F2E2-B8BC-4403-895E-73AEB02E4EE2}" type="presParOf" srcId="{658C3750-E26C-4495-B847-311620EA8816}" destId="{208F0883-81C2-47E6-9C01-34B7767FC159}" srcOrd="2" destOrd="0" presId="urn:microsoft.com/office/officeart/2005/8/layout/architecture"/>
    <dgm:cxn modelId="{758AABE1-7046-4510-80DA-BF4FCB63BF61}" type="presParOf" srcId="{208F0883-81C2-47E6-9C01-34B7767FC159}" destId="{939B8DF4-C784-40B5-A415-D897AE318F66}" srcOrd="0" destOrd="0" presId="urn:microsoft.com/office/officeart/2005/8/layout/architecture"/>
    <dgm:cxn modelId="{95AA81F3-4E6D-4FD0-8E56-66A2B1B461C4}" type="presParOf" srcId="{208F0883-81C2-47E6-9C01-34B7767FC159}" destId="{1D111CF1-DEB3-432F-8EA9-2701419FD9E4}" srcOrd="1" destOrd="0" presId="urn:microsoft.com/office/officeart/2005/8/layout/architecture"/>
    <dgm:cxn modelId="{1BBC3CE7-8F1C-4473-A932-79BE444B6893}" type="presParOf" srcId="{208F0883-81C2-47E6-9C01-34B7767FC159}" destId="{D896AF88-4910-4B96-B5D7-7DD5358E22C2}" srcOrd="2" destOrd="0" presId="urn:microsoft.com/office/officeart/2005/8/layout/architecture"/>
    <dgm:cxn modelId="{22022487-8DE9-4640-A118-24B8921172B4}" type="presParOf" srcId="{D896AF88-4910-4B96-B5D7-7DD5358E22C2}" destId="{BDB76C94-B6E5-4859-B298-C6EC1D990ACF}" srcOrd="0" destOrd="0" presId="urn:microsoft.com/office/officeart/2005/8/layout/architecture"/>
    <dgm:cxn modelId="{756C23D1-523D-4E9F-B137-98C1F7C63248}" type="presParOf" srcId="{BDB76C94-B6E5-4859-B298-C6EC1D990ACF}" destId="{BC222D26-B8A7-4856-A884-2DCEB947F41F}" srcOrd="0" destOrd="0" presId="urn:microsoft.com/office/officeart/2005/8/layout/architecture"/>
    <dgm:cxn modelId="{0416E905-0A83-4557-B487-4660CA1CBA5B}" type="presParOf" srcId="{BDB76C94-B6E5-4859-B298-C6EC1D990ACF}" destId="{B2734021-0743-4810-BD43-70E6E237E31B}" srcOrd="1" destOrd="0" presId="urn:microsoft.com/office/officeart/2005/8/layout/architecture"/>
    <dgm:cxn modelId="{C84B2326-D7DD-46EE-BAFE-81E5A820F8A5}" type="presParOf" srcId="{D896AF88-4910-4B96-B5D7-7DD5358E22C2}" destId="{AC944E3A-7608-4954-A263-A7F0F1A787BA}" srcOrd="1" destOrd="0" presId="urn:microsoft.com/office/officeart/2005/8/layout/architecture"/>
    <dgm:cxn modelId="{34EA322F-5D22-4EE0-B024-B5E4A14A07EF}" type="presParOf" srcId="{D896AF88-4910-4B96-B5D7-7DD5358E22C2}" destId="{36687A55-6EB6-4968-B90D-DEEEDC2F1B55}" srcOrd="2" destOrd="0" presId="urn:microsoft.com/office/officeart/2005/8/layout/architecture"/>
    <dgm:cxn modelId="{EE809D30-AAA9-4596-BCC0-AF92439D4706}" type="presParOf" srcId="{36687A55-6EB6-4968-B90D-DEEEDC2F1B55}" destId="{D4B32FE1-F582-45FB-8B9A-2B829B0706EE}" srcOrd="0" destOrd="0" presId="urn:microsoft.com/office/officeart/2005/8/layout/architecture"/>
    <dgm:cxn modelId="{BEAE55C9-D2F5-4967-B5DB-C371A72094FF}" type="presParOf" srcId="{36687A55-6EB6-4968-B90D-DEEEDC2F1B55}" destId="{9CB8C706-3D18-40AF-822E-9AACA6F207C8}" srcOrd="1" destOrd="0" presId="urn:microsoft.com/office/officeart/2005/8/layout/architecture"/>
    <dgm:cxn modelId="{593E918E-18C0-41A9-AC64-D4F433E2B381}" type="presParOf" srcId="{47AB402F-E4ED-42E5-83DA-417A7B968A09}" destId="{99C97C89-09D8-44AB-B808-593615F8DD47}" srcOrd="5" destOrd="0" presId="urn:microsoft.com/office/officeart/2005/8/layout/architecture"/>
    <dgm:cxn modelId="{F837E323-9526-40C7-846C-70BF0F138D18}" type="presParOf" srcId="{47AB402F-E4ED-42E5-83DA-417A7B968A09}" destId="{9227642B-66CE-4EE4-A52D-AAE380F56B03}" srcOrd="6" destOrd="0" presId="urn:microsoft.com/office/officeart/2005/8/layout/architecture"/>
    <dgm:cxn modelId="{EAD090D2-0C52-4653-8248-086CA8819B5D}" type="presParOf" srcId="{9227642B-66CE-4EE4-A52D-AAE380F56B03}" destId="{291949E6-EED9-4640-930F-DF25917BD7DB}" srcOrd="0" destOrd="0" presId="urn:microsoft.com/office/officeart/2005/8/layout/architecture"/>
    <dgm:cxn modelId="{119FB2CF-A149-4256-9F6F-678A34991A19}" type="presParOf" srcId="{9227642B-66CE-4EE4-A52D-AAE380F56B03}" destId="{9804D156-E7B3-434A-95C7-1729ED450BB3}" srcOrd="1" destOrd="0" presId="urn:microsoft.com/office/officeart/2005/8/layout/architecture"/>
    <dgm:cxn modelId="{255E8F13-71B4-42CE-A371-0A371DDEB553}" type="presParOf" srcId="{9227642B-66CE-4EE4-A52D-AAE380F56B03}" destId="{9791215C-3AE2-4C1B-BFE4-58E8D4F7EA38}" srcOrd="2" destOrd="0" presId="urn:microsoft.com/office/officeart/2005/8/layout/architecture"/>
    <dgm:cxn modelId="{7ED6218E-C88D-4256-9C55-C7FD9C5176BE}" type="presParOf" srcId="{9791215C-3AE2-4C1B-BFE4-58E8D4F7EA38}" destId="{9E3CC2D0-58AA-4518-B184-F56DB948068A}" srcOrd="0" destOrd="0" presId="urn:microsoft.com/office/officeart/2005/8/layout/architecture"/>
    <dgm:cxn modelId="{A5C71A47-2613-4FFB-9005-F194078C2194}" type="presParOf" srcId="{9E3CC2D0-58AA-4518-B184-F56DB948068A}" destId="{4406D5DD-2B30-4B43-A60A-7B95D58096CB}" srcOrd="0" destOrd="0" presId="urn:microsoft.com/office/officeart/2005/8/layout/architecture"/>
    <dgm:cxn modelId="{AF5EDC36-D9FE-4C71-965A-16247C933AC5}" type="presParOf" srcId="{9E3CC2D0-58AA-4518-B184-F56DB948068A}" destId="{A1993330-1197-40DC-99DB-7DECBACAC839}" srcOrd="1" destOrd="0" presId="urn:microsoft.com/office/officeart/2005/8/layout/architecture"/>
    <dgm:cxn modelId="{458A77A6-8961-4BDD-A455-C9283CBC020E}" type="presParOf" srcId="{9791215C-3AE2-4C1B-BFE4-58E8D4F7EA38}" destId="{FE856CC1-2F9C-40BF-9837-F73AC588ED79}" srcOrd="1" destOrd="0" presId="urn:microsoft.com/office/officeart/2005/8/layout/architecture"/>
    <dgm:cxn modelId="{086642E3-D13E-489A-8496-EC597AE2A1E0}" type="presParOf" srcId="{9791215C-3AE2-4C1B-BFE4-58E8D4F7EA38}" destId="{93B23AFF-FA93-4576-961D-5392A4F9570F}" srcOrd="2" destOrd="0" presId="urn:microsoft.com/office/officeart/2005/8/layout/architecture"/>
    <dgm:cxn modelId="{128D21FF-1CD8-4D9E-8BCD-0878FDA6DE8F}" type="presParOf" srcId="{93B23AFF-FA93-4576-961D-5392A4F9570F}" destId="{6F8FA95E-365C-41BD-AA35-E7C4C8943012}" srcOrd="0" destOrd="0" presId="urn:microsoft.com/office/officeart/2005/8/layout/architecture"/>
    <dgm:cxn modelId="{2F833A94-8D5E-4E4D-8313-E2F0BE76033B}" type="presParOf" srcId="{93B23AFF-FA93-4576-961D-5392A4F9570F}" destId="{38D1BD7D-5470-4DF8-A4CA-35152AF67B18}" srcOrd="1" destOrd="0" presId="urn:microsoft.com/office/officeart/2005/8/layout/architecture"/>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D73BB07-1ED3-4234-B7AB-4CB25D92CDD7}">
      <dsp:nvSpPr>
        <dsp:cNvPr id="0" name=""/>
        <dsp:cNvSpPr/>
      </dsp:nvSpPr>
      <dsp:spPr>
        <a:xfrm>
          <a:off x="3135" y="4351013"/>
          <a:ext cx="8528128" cy="1337667"/>
        </a:xfrm>
        <a:prstGeom prst="roundRect">
          <a:avLst>
            <a:gd name="adj" fmla="val 1000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201930" tIns="201930" rIns="201930" bIns="201930" numCol="1" spcCol="1270" anchor="ctr" anchorCtr="0">
          <a:noAutofit/>
        </a:bodyPr>
        <a:lstStyle/>
        <a:p>
          <a:pPr marL="0" lvl="0" indent="0" algn="ctr" defTabSz="2355850">
            <a:lnSpc>
              <a:spcPct val="90000"/>
            </a:lnSpc>
            <a:spcBef>
              <a:spcPct val="0"/>
            </a:spcBef>
            <a:spcAft>
              <a:spcPct val="35000"/>
            </a:spcAft>
            <a:buNone/>
          </a:pPr>
          <a:r>
            <a:rPr lang="en-IN" sz="5300" kern="1200"/>
            <a:t>Hybrid Cryptographic System</a:t>
          </a:r>
        </a:p>
      </dsp:txBody>
      <dsp:txXfrm>
        <a:off x="42314" y="4390192"/>
        <a:ext cx="8449770" cy="1259309"/>
      </dsp:txXfrm>
    </dsp:sp>
    <dsp:sp modelId="{0403CE12-B8AE-45C1-8DFF-CDBA85BA4446}">
      <dsp:nvSpPr>
        <dsp:cNvPr id="0" name=""/>
        <dsp:cNvSpPr/>
      </dsp:nvSpPr>
      <dsp:spPr>
        <a:xfrm>
          <a:off x="3135" y="2900982"/>
          <a:ext cx="1848666" cy="1337667"/>
        </a:xfrm>
        <a:prstGeom prst="roundRect">
          <a:avLst>
            <a:gd name="adj" fmla="val 1000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IN" sz="1500" kern="1200" dirty="0"/>
            <a:t> Client Environment</a:t>
          </a:r>
        </a:p>
      </dsp:txBody>
      <dsp:txXfrm>
        <a:off x="42314" y="2940161"/>
        <a:ext cx="1770308" cy="1259309"/>
      </dsp:txXfrm>
    </dsp:sp>
    <dsp:sp modelId="{0485807C-5531-4220-805E-D0E242D5A6B6}">
      <dsp:nvSpPr>
        <dsp:cNvPr id="0" name=""/>
        <dsp:cNvSpPr/>
      </dsp:nvSpPr>
      <dsp:spPr>
        <a:xfrm>
          <a:off x="3135" y="1450950"/>
          <a:ext cx="905321" cy="1337667"/>
        </a:xfrm>
        <a:prstGeom prst="roundRect">
          <a:avLst>
            <a:gd name="adj" fmla="val 1000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IN" sz="1300" kern="1200" dirty="0"/>
            <a:t> User Interface</a:t>
          </a:r>
        </a:p>
      </dsp:txBody>
      <dsp:txXfrm>
        <a:off x="29651" y="1477466"/>
        <a:ext cx="852289" cy="1284635"/>
      </dsp:txXfrm>
    </dsp:sp>
    <dsp:sp modelId="{7B413FDC-8C82-4B4B-B0AC-4302F8459A29}">
      <dsp:nvSpPr>
        <dsp:cNvPr id="0" name=""/>
        <dsp:cNvSpPr/>
      </dsp:nvSpPr>
      <dsp:spPr>
        <a:xfrm>
          <a:off x="946480" y="1450950"/>
          <a:ext cx="905321" cy="1337667"/>
        </a:xfrm>
        <a:prstGeom prst="roundRect">
          <a:avLst>
            <a:gd name="adj" fmla="val 1000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IN" sz="1300" kern="1200" dirty="0"/>
            <a:t> Plaintext Input Processing</a:t>
          </a:r>
        </a:p>
      </dsp:txBody>
      <dsp:txXfrm>
        <a:off x="972996" y="1477466"/>
        <a:ext cx="852289" cy="1284635"/>
      </dsp:txXfrm>
    </dsp:sp>
    <dsp:sp modelId="{EDC8545A-8D2A-45C6-88E1-6AEDDEF195E3}">
      <dsp:nvSpPr>
        <dsp:cNvPr id="0" name=""/>
        <dsp:cNvSpPr/>
      </dsp:nvSpPr>
      <dsp:spPr>
        <a:xfrm>
          <a:off x="1927849" y="2900982"/>
          <a:ext cx="905321" cy="1337667"/>
        </a:xfrm>
        <a:prstGeom prst="roundRect">
          <a:avLst>
            <a:gd name="adj" fmla="val 1000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IN" sz="1500" kern="1200" dirty="0"/>
            <a:t> Quantum Channel Layer</a:t>
          </a:r>
        </a:p>
      </dsp:txBody>
      <dsp:txXfrm>
        <a:off x="1954365" y="2927498"/>
        <a:ext cx="852289" cy="1284635"/>
      </dsp:txXfrm>
    </dsp:sp>
    <dsp:sp modelId="{7DFA0E51-BE3B-498D-B45D-CEA15F4D8FDA}">
      <dsp:nvSpPr>
        <dsp:cNvPr id="0" name=""/>
        <dsp:cNvSpPr/>
      </dsp:nvSpPr>
      <dsp:spPr>
        <a:xfrm>
          <a:off x="1927849" y="1450950"/>
          <a:ext cx="905321" cy="1337667"/>
        </a:xfrm>
        <a:prstGeom prst="roundRect">
          <a:avLst>
            <a:gd name="adj" fmla="val 1000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IN" sz="1300" kern="1200" dirty="0"/>
            <a:t> BB84 Photon Exchange</a:t>
          </a:r>
        </a:p>
      </dsp:txBody>
      <dsp:txXfrm>
        <a:off x="1954365" y="1477466"/>
        <a:ext cx="852289" cy="1284635"/>
      </dsp:txXfrm>
    </dsp:sp>
    <dsp:sp modelId="{6D2BD372-956C-46F9-AE0E-1CCD2E8BBFB4}">
      <dsp:nvSpPr>
        <dsp:cNvPr id="0" name=""/>
        <dsp:cNvSpPr/>
      </dsp:nvSpPr>
      <dsp:spPr>
        <a:xfrm>
          <a:off x="2909217" y="2900982"/>
          <a:ext cx="3697332" cy="1337667"/>
        </a:xfrm>
        <a:prstGeom prst="roundRect">
          <a:avLst>
            <a:gd name="adj" fmla="val 1000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IN" sz="1500" kern="1200" dirty="0"/>
            <a:t> Server Backend</a:t>
          </a:r>
        </a:p>
      </dsp:txBody>
      <dsp:txXfrm>
        <a:off x="2948396" y="2940161"/>
        <a:ext cx="3618974" cy="1259309"/>
      </dsp:txXfrm>
    </dsp:sp>
    <dsp:sp modelId="{E03168B1-1EB8-45CC-8FB9-6BEB757E1061}">
      <dsp:nvSpPr>
        <dsp:cNvPr id="0" name=""/>
        <dsp:cNvSpPr/>
      </dsp:nvSpPr>
      <dsp:spPr>
        <a:xfrm>
          <a:off x="2909217" y="1450950"/>
          <a:ext cx="1829654" cy="1337667"/>
        </a:xfrm>
        <a:prstGeom prst="roundRect">
          <a:avLst>
            <a:gd name="adj" fmla="val 1000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IN" sz="1300" kern="1200" dirty="0"/>
            <a:t> Key Management</a:t>
          </a:r>
        </a:p>
      </dsp:txBody>
      <dsp:txXfrm>
        <a:off x="2948396" y="1490129"/>
        <a:ext cx="1751296" cy="1259309"/>
      </dsp:txXfrm>
    </dsp:sp>
    <dsp:sp modelId="{677B1A11-5D8C-494F-8FC1-55CBFDDAB25E}">
      <dsp:nvSpPr>
        <dsp:cNvPr id="0" name=""/>
        <dsp:cNvSpPr/>
      </dsp:nvSpPr>
      <dsp:spPr>
        <a:xfrm>
          <a:off x="2909217" y="919"/>
          <a:ext cx="905321" cy="1337667"/>
        </a:xfrm>
        <a:prstGeom prst="roundRect">
          <a:avLst>
            <a:gd name="adj" fmla="val 1000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IN" sz="1000" kern="1200" dirty="0"/>
            <a:t> SHA-256 Privacy Amplification</a:t>
          </a:r>
        </a:p>
      </dsp:txBody>
      <dsp:txXfrm>
        <a:off x="2935733" y="27435"/>
        <a:ext cx="852289" cy="1284635"/>
      </dsp:txXfrm>
    </dsp:sp>
    <dsp:sp modelId="{3ACF7DA4-9640-430A-B71C-12E8F307B51C}">
      <dsp:nvSpPr>
        <dsp:cNvPr id="0" name=""/>
        <dsp:cNvSpPr/>
      </dsp:nvSpPr>
      <dsp:spPr>
        <a:xfrm>
          <a:off x="3833551" y="919"/>
          <a:ext cx="905321" cy="1337667"/>
        </a:xfrm>
        <a:prstGeom prst="roundRect">
          <a:avLst>
            <a:gd name="adj" fmla="val 1000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IN" sz="1000" kern="1200" dirty="0"/>
            <a:t> AES Key Storage</a:t>
          </a:r>
        </a:p>
      </dsp:txBody>
      <dsp:txXfrm>
        <a:off x="3860067" y="27435"/>
        <a:ext cx="852289" cy="1284635"/>
      </dsp:txXfrm>
    </dsp:sp>
    <dsp:sp modelId="{939B8DF4-C784-40B5-A415-D897AE318F66}">
      <dsp:nvSpPr>
        <dsp:cNvPr id="0" name=""/>
        <dsp:cNvSpPr/>
      </dsp:nvSpPr>
      <dsp:spPr>
        <a:xfrm>
          <a:off x="4776895" y="1450950"/>
          <a:ext cx="1829654" cy="1337667"/>
        </a:xfrm>
        <a:prstGeom prst="roundRect">
          <a:avLst>
            <a:gd name="adj" fmla="val 1000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IN" sz="1300" kern="1200" dirty="0"/>
            <a:t> ABLKM Engine</a:t>
          </a:r>
        </a:p>
      </dsp:txBody>
      <dsp:txXfrm>
        <a:off x="4816074" y="1490129"/>
        <a:ext cx="1751296" cy="1259309"/>
      </dsp:txXfrm>
    </dsp:sp>
    <dsp:sp modelId="{BC222D26-B8A7-4856-A884-2DCEB947F41F}">
      <dsp:nvSpPr>
        <dsp:cNvPr id="0" name=""/>
        <dsp:cNvSpPr/>
      </dsp:nvSpPr>
      <dsp:spPr>
        <a:xfrm>
          <a:off x="4776895" y="919"/>
          <a:ext cx="905321" cy="1337667"/>
        </a:xfrm>
        <a:prstGeom prst="roundRect">
          <a:avLst>
            <a:gd name="adj" fmla="val 1000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IN" sz="1000" kern="1200" dirty="0"/>
            <a:t> Coordinate Mapping</a:t>
          </a:r>
        </a:p>
      </dsp:txBody>
      <dsp:txXfrm>
        <a:off x="4803411" y="27435"/>
        <a:ext cx="852289" cy="1284635"/>
      </dsp:txXfrm>
    </dsp:sp>
    <dsp:sp modelId="{D4B32FE1-F582-45FB-8B9A-2B829B0706EE}">
      <dsp:nvSpPr>
        <dsp:cNvPr id="0" name=""/>
        <dsp:cNvSpPr/>
      </dsp:nvSpPr>
      <dsp:spPr>
        <a:xfrm>
          <a:off x="5701229" y="919"/>
          <a:ext cx="905321" cy="1337667"/>
        </a:xfrm>
        <a:prstGeom prst="roundRect">
          <a:avLst>
            <a:gd name="adj" fmla="val 1000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IN" sz="1000" kern="1200" dirty="0"/>
            <a:t> Trigonometric Angle Calculator</a:t>
          </a:r>
        </a:p>
      </dsp:txBody>
      <dsp:txXfrm>
        <a:off x="5727745" y="27435"/>
        <a:ext cx="852289" cy="1284635"/>
      </dsp:txXfrm>
    </dsp:sp>
    <dsp:sp modelId="{291949E6-EED9-4640-930F-DF25917BD7DB}">
      <dsp:nvSpPr>
        <dsp:cNvPr id="0" name=""/>
        <dsp:cNvSpPr/>
      </dsp:nvSpPr>
      <dsp:spPr>
        <a:xfrm>
          <a:off x="6682597" y="2900982"/>
          <a:ext cx="1848666" cy="1337667"/>
        </a:xfrm>
        <a:prstGeom prst="roundRect">
          <a:avLst>
            <a:gd name="adj" fmla="val 1000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IN" sz="1500" kern="1200" dirty="0"/>
            <a:t> Database Grid</a:t>
          </a:r>
        </a:p>
      </dsp:txBody>
      <dsp:txXfrm>
        <a:off x="6721776" y="2940161"/>
        <a:ext cx="1770308" cy="1259309"/>
      </dsp:txXfrm>
    </dsp:sp>
    <dsp:sp modelId="{4406D5DD-2B30-4B43-A60A-7B95D58096CB}">
      <dsp:nvSpPr>
        <dsp:cNvPr id="0" name=""/>
        <dsp:cNvSpPr/>
      </dsp:nvSpPr>
      <dsp:spPr>
        <a:xfrm>
          <a:off x="6682597" y="1450950"/>
          <a:ext cx="905321" cy="1337667"/>
        </a:xfrm>
        <a:prstGeom prst="roundRect">
          <a:avLst>
            <a:gd name="adj" fmla="val 1000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IN" sz="1300" kern="1200" dirty="0"/>
            <a:t> Master Reference Point (Pref)</a:t>
          </a:r>
        </a:p>
      </dsp:txBody>
      <dsp:txXfrm>
        <a:off x="6709113" y="1477466"/>
        <a:ext cx="852289" cy="1284635"/>
      </dsp:txXfrm>
    </dsp:sp>
    <dsp:sp modelId="{6F8FA95E-365C-41BD-AA35-E7C4C8943012}">
      <dsp:nvSpPr>
        <dsp:cNvPr id="0" name=""/>
        <dsp:cNvSpPr/>
      </dsp:nvSpPr>
      <dsp:spPr>
        <a:xfrm>
          <a:off x="7625942" y="1450950"/>
          <a:ext cx="905321" cy="1337667"/>
        </a:xfrm>
        <a:prstGeom prst="roundRect">
          <a:avLst>
            <a:gd name="adj" fmla="val 1000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IN" sz="1300" kern="1200" dirty="0"/>
            <a:t> 360-Degree </a:t>
          </a:r>
          <a:r>
            <a:rPr lang="en-IN" sz="1300" kern="1200"/>
            <a:t>Angular Buckets</a:t>
          </a:r>
          <a:endParaRPr lang="en-IN" sz="1300" kern="1200" dirty="0"/>
        </a:p>
      </dsp:txBody>
      <dsp:txXfrm>
        <a:off x="7652458" y="1477466"/>
        <a:ext cx="852289" cy="1284635"/>
      </dsp:txXfrm>
    </dsp:sp>
  </dsp:spTree>
</dsp:drawing>
</file>

<file path=ppt/diagrams/layout1.xml><?xml version="1.0" encoding="utf-8"?>
<dgm:layoutDef xmlns:dgm="http://schemas.openxmlformats.org/drawingml/2006/diagram" xmlns:a="http://schemas.openxmlformats.org/drawingml/2006/main" uniqueId="urn:microsoft.com/office/officeart/2005/8/layout/architecture">
  <dgm:title val="Architecture Layout"/>
  <dgm:desc val="Use to show hierarchical relationships that build from the bottom up. This layout works well for showing architectural components or objects that build on other objects."/>
  <dgm:catLst>
    <dgm:cat type="hierarchy" pri="4500"/>
    <dgm:cat type="list" pri="24500"/>
    <dgm:cat type="relationship" pri="10500"/>
    <dgm:cat type="officeonline" pri="7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b"/>
        </dgm:alg>
      </dgm:if>
      <dgm:else name="Name3">
        <dgm:alg type="lin">
          <dgm:param type="linDir" val="fromR"/>
          <dgm:param type="nodeVertAlign" val="b"/>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B"/>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b"/>
              </dgm:alg>
            </dgm:if>
            <dgm:else name="Name10">
              <dgm:alg type="lin">
                <dgm:param type="linDir" val="fromR"/>
                <dgm:param type="nodeVertAlign" val="b"/>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B"/>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b"/>
                    </dgm:alg>
                  </dgm:if>
                  <dgm:else name="Name17">
                    <dgm:alg type="lin">
                      <dgm:param type="linDir" val="fromR"/>
                      <dgm:param type="nodeVertAlign" val="b"/>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B"/>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b"/>
                          </dgm:alg>
                        </dgm:if>
                        <dgm:else name="Name24">
                          <dgm:alg type="lin">
                            <dgm:param type="linDir" val="fromR"/>
                            <dgm:param type="nodeVertAlign" val="b"/>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B"/>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b"/>
                                </dgm:alg>
                              </dgm:if>
                              <dgm:else name="Name30">
                                <dgm:alg type="lin">
                                  <dgm:param type="linDir" val="fromR"/>
                                  <dgm:param type="nodeVertAlign" val="b"/>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4CD7A36-15CF-4B40-B7C9-B299C824610E}" type="datetimeFigureOut">
              <a:rPr lang="en-US" smtClean="0"/>
              <a:t>4/9/2026</a:t>
            </a:fld>
            <a:endParaRPr lang="en-US"/>
          </a:p>
        </p:txBody>
      </p:sp>
      <p:sp>
        <p:nvSpPr>
          <p:cNvPr id="4" name="Slide Image Placeholder 3"/>
          <p:cNvSpPr>
            <a:spLocks noGrp="1" noRot="1" noChangeAspect="1"/>
          </p:cNvSpPr>
          <p:nvPr>
            <p:ph type="sldImg" idx="2"/>
          </p:nvPr>
        </p:nvSpPr>
        <p:spPr>
          <a:xfrm>
            <a:off x="428625" y="685800"/>
            <a:ext cx="600075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3DE4103-D868-498D-BB7B-ABDA25F9744E}" type="slidenum">
              <a:rPr lang="en-US" smtClean="0"/>
              <a:t>‹#›</a:t>
            </a:fld>
            <a:endParaRPr lang="en-US"/>
          </a:p>
        </p:txBody>
      </p:sp>
    </p:spTree>
    <p:extLst>
      <p:ext uri="{BB962C8B-B14F-4D97-AF65-F5344CB8AC3E}">
        <p14:creationId xmlns:p14="http://schemas.microsoft.com/office/powerpoint/2010/main" val="4146365420"/>
      </p:ext>
    </p:extLst>
  </p:cSld>
  <p:clrMap bg1="lt1" tx1="dk1" bg2="lt2" tx2="dk2" accent1="accent1" accent2="accent2" accent3="accent3" accent4="accent4" accent5="accent5" accent6="accent6" hlink="hlink" folHlink="folHlink"/>
  <p:notesStyle>
    <a:lvl1pPr marL="0" algn="l" defTabSz="1149448" rtl="0" eaLnBrk="1" latinLnBrk="0" hangingPunct="1">
      <a:defRPr sz="1500" kern="1200">
        <a:solidFill>
          <a:schemeClr val="tx1"/>
        </a:solidFill>
        <a:latin typeface="+mn-lt"/>
        <a:ea typeface="+mn-ea"/>
        <a:cs typeface="+mn-cs"/>
      </a:defRPr>
    </a:lvl1pPr>
    <a:lvl2pPr marL="574724" algn="l" defTabSz="1149448" rtl="0" eaLnBrk="1" latinLnBrk="0" hangingPunct="1">
      <a:defRPr sz="1500" kern="1200">
        <a:solidFill>
          <a:schemeClr val="tx1"/>
        </a:solidFill>
        <a:latin typeface="+mn-lt"/>
        <a:ea typeface="+mn-ea"/>
        <a:cs typeface="+mn-cs"/>
      </a:defRPr>
    </a:lvl2pPr>
    <a:lvl3pPr marL="1149448" algn="l" defTabSz="1149448" rtl="0" eaLnBrk="1" latinLnBrk="0" hangingPunct="1">
      <a:defRPr sz="1500" kern="1200">
        <a:solidFill>
          <a:schemeClr val="tx1"/>
        </a:solidFill>
        <a:latin typeface="+mn-lt"/>
        <a:ea typeface="+mn-ea"/>
        <a:cs typeface="+mn-cs"/>
      </a:defRPr>
    </a:lvl3pPr>
    <a:lvl4pPr marL="1724172" algn="l" defTabSz="1149448" rtl="0" eaLnBrk="1" latinLnBrk="0" hangingPunct="1">
      <a:defRPr sz="1500" kern="1200">
        <a:solidFill>
          <a:schemeClr val="tx1"/>
        </a:solidFill>
        <a:latin typeface="+mn-lt"/>
        <a:ea typeface="+mn-ea"/>
        <a:cs typeface="+mn-cs"/>
      </a:defRPr>
    </a:lvl4pPr>
    <a:lvl5pPr marL="2298895" algn="l" defTabSz="1149448" rtl="0" eaLnBrk="1" latinLnBrk="0" hangingPunct="1">
      <a:defRPr sz="1500" kern="1200">
        <a:solidFill>
          <a:schemeClr val="tx1"/>
        </a:solidFill>
        <a:latin typeface="+mn-lt"/>
        <a:ea typeface="+mn-ea"/>
        <a:cs typeface="+mn-cs"/>
      </a:defRPr>
    </a:lvl5pPr>
    <a:lvl6pPr marL="2873621" algn="l" defTabSz="1149448" rtl="0" eaLnBrk="1" latinLnBrk="0" hangingPunct="1">
      <a:defRPr sz="1500" kern="1200">
        <a:solidFill>
          <a:schemeClr val="tx1"/>
        </a:solidFill>
        <a:latin typeface="+mn-lt"/>
        <a:ea typeface="+mn-ea"/>
        <a:cs typeface="+mn-cs"/>
      </a:defRPr>
    </a:lvl6pPr>
    <a:lvl7pPr marL="3448344" algn="l" defTabSz="1149448" rtl="0" eaLnBrk="1" latinLnBrk="0" hangingPunct="1">
      <a:defRPr sz="1500" kern="1200">
        <a:solidFill>
          <a:schemeClr val="tx1"/>
        </a:solidFill>
        <a:latin typeface="+mn-lt"/>
        <a:ea typeface="+mn-ea"/>
        <a:cs typeface="+mn-cs"/>
      </a:defRPr>
    </a:lvl7pPr>
    <a:lvl8pPr marL="4023069" algn="l" defTabSz="1149448" rtl="0" eaLnBrk="1" latinLnBrk="0" hangingPunct="1">
      <a:defRPr sz="1500" kern="1200">
        <a:solidFill>
          <a:schemeClr val="tx1"/>
        </a:solidFill>
        <a:latin typeface="+mn-lt"/>
        <a:ea typeface="+mn-ea"/>
        <a:cs typeface="+mn-cs"/>
      </a:defRPr>
    </a:lvl8pPr>
    <a:lvl9pPr marL="4597793" algn="l" defTabSz="1149448" rtl="0" eaLnBrk="1" latinLnBrk="0" hangingPunct="1">
      <a:defRPr sz="15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3DE4103-D868-498D-BB7B-ABDA25F9744E}" type="slidenum">
              <a:rPr lang="en-US" smtClean="0"/>
              <a:t>1</a:t>
            </a:fld>
            <a:endParaRPr lang="en-US"/>
          </a:p>
        </p:txBody>
      </p:sp>
    </p:spTree>
    <p:extLst>
      <p:ext uri="{BB962C8B-B14F-4D97-AF65-F5344CB8AC3E}">
        <p14:creationId xmlns:p14="http://schemas.microsoft.com/office/powerpoint/2010/main" val="13710295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problem addressed in this project is the vulnerability of traditional cryptography </a:t>
            </a:r>
            <a:r>
              <a:rPr lang="en-US" b="1" dirty="0"/>
              <a:t>to quantum computing attacks</a:t>
            </a:r>
            <a:r>
              <a:rPr lang="en-US" dirty="0"/>
              <a:t>.</a:t>
            </a:r>
          </a:p>
          <a:p>
            <a:r>
              <a:rPr lang="en-US" dirty="0"/>
              <a:t>To solve this, I propose a </a:t>
            </a:r>
            <a:r>
              <a:rPr lang="en-US" b="1" dirty="0"/>
              <a:t>hybrid framework</a:t>
            </a:r>
            <a:r>
              <a:rPr lang="en-US" dirty="0"/>
              <a:t>:</a:t>
            </a:r>
          </a:p>
          <a:p>
            <a:r>
              <a:rPr lang="en-US" dirty="0"/>
              <a:t>First, we use </a:t>
            </a:r>
            <a:r>
              <a:rPr lang="en-US" b="1" dirty="0"/>
              <a:t>BB84 Quantum Key Distribution</a:t>
            </a:r>
            <a:r>
              <a:rPr lang="en-US" dirty="0"/>
              <a:t> to generate a secure AES key. </a:t>
            </a:r>
          </a:p>
          <a:p>
            <a:r>
              <a:rPr lang="en-US" dirty="0"/>
              <a:t>Then, we use my original algorithm called </a:t>
            </a:r>
            <a:r>
              <a:rPr lang="en-US" b="1" dirty="0"/>
              <a:t>Angular-Bucket Lattice Key Mapping (ABLKM)</a:t>
            </a:r>
            <a:r>
              <a:rPr lang="en-US" dirty="0"/>
              <a:t> to store data spatially instead of linearly. </a:t>
            </a:r>
          </a:p>
          <a:p>
            <a:r>
              <a:rPr lang="en-US" dirty="0"/>
              <a:t>The key idea is:</a:t>
            </a:r>
            <a:br>
              <a:rPr lang="en-US" dirty="0"/>
            </a:br>
            <a:r>
              <a:rPr lang="en-US" dirty="0"/>
              <a:t>Even if the database is breached, without the quantum-secured reference point, the attacker cannot decrypt the data.”</a:t>
            </a:r>
          </a:p>
          <a:p>
            <a:endParaRPr lang="en-IN" dirty="0"/>
          </a:p>
        </p:txBody>
      </p:sp>
      <p:sp>
        <p:nvSpPr>
          <p:cNvPr id="4" name="Slide Number Placeholder 3"/>
          <p:cNvSpPr>
            <a:spLocks noGrp="1"/>
          </p:cNvSpPr>
          <p:nvPr>
            <p:ph type="sldNum" sz="quarter" idx="5"/>
          </p:nvPr>
        </p:nvSpPr>
        <p:spPr/>
        <p:txBody>
          <a:bodyPr/>
          <a:lstStyle/>
          <a:p>
            <a:fld id="{83DE4103-D868-498D-BB7B-ABDA25F9744E}" type="slidenum">
              <a:rPr lang="en-US" smtClean="0"/>
              <a:t>3</a:t>
            </a:fld>
            <a:endParaRPr lang="en-US"/>
          </a:p>
        </p:txBody>
      </p:sp>
    </p:spTree>
    <p:extLst>
      <p:ext uri="{BB962C8B-B14F-4D97-AF65-F5344CB8AC3E}">
        <p14:creationId xmlns:p14="http://schemas.microsoft.com/office/powerpoint/2010/main" val="4317293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“Quantum computing is rapidly evolving and threatens current encryption methods like RSA and ECC.</a:t>
            </a:r>
          </a:p>
          <a:p>
            <a:r>
              <a:rPr lang="en-US" dirty="0"/>
              <a:t>This creates a need to move beyond classical encryption.</a:t>
            </a:r>
          </a:p>
          <a:p>
            <a:r>
              <a:rPr lang="en-US" dirty="0"/>
              <a:t>My objective is to combine:</a:t>
            </a:r>
          </a:p>
          <a:p>
            <a:r>
              <a:rPr lang="en-US" b="1" dirty="0"/>
              <a:t>Quantum security for data transmission</a:t>
            </a:r>
            <a:r>
              <a:rPr lang="en-US" dirty="0"/>
              <a:t>, and </a:t>
            </a:r>
          </a:p>
          <a:p>
            <a:r>
              <a:rPr lang="en-US" b="1" dirty="0"/>
              <a:t>Geometric security for data storage</a:t>
            </a:r>
            <a:r>
              <a:rPr lang="en-US" dirty="0"/>
              <a:t>, </a:t>
            </a:r>
          </a:p>
          <a:p>
            <a:r>
              <a:rPr lang="en-US" dirty="0"/>
              <a:t>to create a </a:t>
            </a:r>
            <a:r>
              <a:rPr lang="en-US" b="1" dirty="0"/>
              <a:t>future-proof security system</a:t>
            </a:r>
            <a:r>
              <a:rPr lang="en-US" dirty="0"/>
              <a:t>.”</a:t>
            </a:r>
          </a:p>
          <a:p>
            <a:endParaRPr lang="en-IN" dirty="0"/>
          </a:p>
        </p:txBody>
      </p:sp>
      <p:sp>
        <p:nvSpPr>
          <p:cNvPr id="4" name="Slide Number Placeholder 3"/>
          <p:cNvSpPr>
            <a:spLocks noGrp="1"/>
          </p:cNvSpPr>
          <p:nvPr>
            <p:ph type="sldNum" sz="quarter" idx="5"/>
          </p:nvPr>
        </p:nvSpPr>
        <p:spPr/>
        <p:txBody>
          <a:bodyPr/>
          <a:lstStyle/>
          <a:p>
            <a:fld id="{83DE4103-D868-498D-BB7B-ABDA25F9744E}" type="slidenum">
              <a:rPr lang="en-US" smtClean="0"/>
              <a:t>4</a:t>
            </a:fld>
            <a:endParaRPr lang="en-US"/>
          </a:p>
        </p:txBody>
      </p:sp>
    </p:spTree>
    <p:extLst>
      <p:ext uri="{BB962C8B-B14F-4D97-AF65-F5344CB8AC3E}">
        <p14:creationId xmlns:p14="http://schemas.microsoft.com/office/powerpoint/2010/main" val="5151444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literature survey, I analyzed existing work in:</a:t>
            </a:r>
          </a:p>
          <a:p>
            <a:r>
              <a:rPr lang="en-US" dirty="0"/>
              <a:t>Quantum Key Distribution </a:t>
            </a:r>
          </a:p>
          <a:p>
            <a:r>
              <a:rPr lang="en-US" dirty="0"/>
              <a:t>Post-Quantum Cryptography </a:t>
            </a:r>
          </a:p>
          <a:p>
            <a:r>
              <a:rPr lang="en-US" dirty="0"/>
              <a:t>Hybrid security models </a:t>
            </a:r>
          </a:p>
          <a:p>
            <a:r>
              <a:rPr lang="en-US" dirty="0"/>
              <a:t>Most research focuses either on </a:t>
            </a:r>
            <a:r>
              <a:rPr lang="en-US" b="1" dirty="0"/>
              <a:t>secure transmission</a:t>
            </a:r>
            <a:r>
              <a:rPr lang="en-US" dirty="0"/>
              <a:t> or </a:t>
            </a:r>
            <a:r>
              <a:rPr lang="en-US" b="1" dirty="0"/>
              <a:t>secure encryption</a:t>
            </a:r>
            <a:r>
              <a:rPr lang="en-US" dirty="0"/>
              <a:t>, but not both together in a unified system.”</a:t>
            </a:r>
          </a:p>
          <a:p>
            <a:endParaRPr lang="en-IN" dirty="0"/>
          </a:p>
        </p:txBody>
      </p:sp>
      <p:sp>
        <p:nvSpPr>
          <p:cNvPr id="4" name="Slide Number Placeholder 3"/>
          <p:cNvSpPr>
            <a:spLocks noGrp="1"/>
          </p:cNvSpPr>
          <p:nvPr>
            <p:ph type="sldNum" sz="quarter" idx="5"/>
          </p:nvPr>
        </p:nvSpPr>
        <p:spPr/>
        <p:txBody>
          <a:bodyPr/>
          <a:lstStyle/>
          <a:p>
            <a:fld id="{83DE4103-D868-498D-BB7B-ABDA25F9744E}" type="slidenum">
              <a:rPr lang="en-US" smtClean="0"/>
              <a:t>5</a:t>
            </a:fld>
            <a:endParaRPr lang="en-US"/>
          </a:p>
        </p:txBody>
      </p:sp>
    </p:spTree>
    <p:extLst>
      <p:ext uri="{BB962C8B-B14F-4D97-AF65-F5344CB8AC3E}">
        <p14:creationId xmlns:p14="http://schemas.microsoft.com/office/powerpoint/2010/main" val="844056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analysis, I identified key gaps:</a:t>
            </a:r>
          </a:p>
          <a:p>
            <a:r>
              <a:rPr lang="en-US" dirty="0"/>
              <a:t>QKD secures data in transit but not storage </a:t>
            </a:r>
          </a:p>
          <a:p>
            <a:r>
              <a:rPr lang="en-US" dirty="0"/>
              <a:t>Post-quantum methods still rely on vulnerable databases </a:t>
            </a:r>
          </a:p>
          <a:p>
            <a:r>
              <a:rPr lang="en-US" dirty="0"/>
              <a:t>High computational cost in existing models </a:t>
            </a:r>
          </a:p>
          <a:p>
            <a:r>
              <a:rPr lang="en-US" dirty="0"/>
              <a:t>Insider threats are not handled effectively </a:t>
            </a:r>
          </a:p>
          <a:p>
            <a:r>
              <a:rPr lang="en-US" dirty="0"/>
              <a:t>Most importantly, there is </a:t>
            </a:r>
            <a:r>
              <a:rPr lang="en-US" b="1" dirty="0"/>
              <a:t>no integration between quantum security and spatial data storage</a:t>
            </a:r>
            <a:r>
              <a:rPr lang="en-US" dirty="0"/>
              <a:t>.”</a:t>
            </a:r>
          </a:p>
          <a:p>
            <a:endParaRPr lang="en-IN" dirty="0"/>
          </a:p>
        </p:txBody>
      </p:sp>
      <p:sp>
        <p:nvSpPr>
          <p:cNvPr id="4" name="Slide Number Placeholder 3"/>
          <p:cNvSpPr>
            <a:spLocks noGrp="1"/>
          </p:cNvSpPr>
          <p:nvPr>
            <p:ph type="sldNum" sz="quarter" idx="5"/>
          </p:nvPr>
        </p:nvSpPr>
        <p:spPr/>
        <p:txBody>
          <a:bodyPr/>
          <a:lstStyle/>
          <a:p>
            <a:fld id="{83DE4103-D868-498D-BB7B-ABDA25F9744E}" type="slidenum">
              <a:rPr lang="en-US" smtClean="0"/>
              <a:t>8</a:t>
            </a:fld>
            <a:endParaRPr lang="en-US"/>
          </a:p>
        </p:txBody>
      </p:sp>
    </p:spTree>
    <p:extLst>
      <p:ext uri="{BB962C8B-B14F-4D97-AF65-F5344CB8AC3E}">
        <p14:creationId xmlns:p14="http://schemas.microsoft.com/office/powerpoint/2010/main" val="33476930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objectives of my project are:</a:t>
            </a:r>
          </a:p>
          <a:p>
            <a:r>
              <a:rPr lang="en-US" dirty="0"/>
              <a:t>Integrate QKD with data storage </a:t>
            </a:r>
          </a:p>
          <a:p>
            <a:r>
              <a:rPr lang="en-US" dirty="0"/>
              <a:t>Replace traditional databases with geometric mapping </a:t>
            </a:r>
          </a:p>
          <a:p>
            <a:r>
              <a:rPr lang="en-US" dirty="0"/>
              <a:t>Improve computational efficiency </a:t>
            </a:r>
          </a:p>
          <a:p>
            <a:r>
              <a:rPr lang="en-US" dirty="0"/>
              <a:t>Implement a zero-trust architecture </a:t>
            </a:r>
          </a:p>
          <a:p>
            <a:r>
              <a:rPr lang="en-US" dirty="0"/>
              <a:t>Prevent ‘Harvest Now, Decrypt Later’ attacks”</a:t>
            </a:r>
          </a:p>
          <a:p>
            <a:endParaRPr lang="en-IN" dirty="0"/>
          </a:p>
        </p:txBody>
      </p:sp>
      <p:sp>
        <p:nvSpPr>
          <p:cNvPr id="4" name="Slide Number Placeholder 3"/>
          <p:cNvSpPr>
            <a:spLocks noGrp="1"/>
          </p:cNvSpPr>
          <p:nvPr>
            <p:ph type="sldNum" sz="quarter" idx="5"/>
          </p:nvPr>
        </p:nvSpPr>
        <p:spPr/>
        <p:txBody>
          <a:bodyPr/>
          <a:lstStyle/>
          <a:p>
            <a:fld id="{83DE4103-D868-498D-BB7B-ABDA25F9744E}" type="slidenum">
              <a:rPr lang="en-US" smtClean="0"/>
              <a:t>9</a:t>
            </a:fld>
            <a:endParaRPr lang="en-US"/>
          </a:p>
        </p:txBody>
      </p:sp>
    </p:spTree>
    <p:extLst>
      <p:ext uri="{BB962C8B-B14F-4D97-AF65-F5344CB8AC3E}">
        <p14:creationId xmlns:p14="http://schemas.microsoft.com/office/powerpoint/2010/main" val="13711096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“The system consists of five main modules:</a:t>
            </a:r>
          </a:p>
          <a:p>
            <a:r>
              <a:rPr lang="en-IN" b="1" dirty="0"/>
              <a:t>QKD Module</a:t>
            </a:r>
            <a:r>
              <a:rPr lang="en-IN" dirty="0"/>
              <a:t> – generates a secure AES key </a:t>
            </a:r>
          </a:p>
          <a:p>
            <a:r>
              <a:rPr lang="en-IN" b="1" dirty="0"/>
              <a:t>Reference Exchange Module</a:t>
            </a:r>
            <a:r>
              <a:rPr lang="en-IN" dirty="0"/>
              <a:t> – securely transmits the reference point </a:t>
            </a:r>
          </a:p>
          <a:p>
            <a:r>
              <a:rPr lang="en-IN" b="1" dirty="0"/>
              <a:t>Data Encoding Module</a:t>
            </a:r>
            <a:r>
              <a:rPr lang="en-IN" dirty="0"/>
              <a:t> – hashes input data </a:t>
            </a:r>
          </a:p>
          <a:p>
            <a:r>
              <a:rPr lang="en-IN" b="1" dirty="0"/>
              <a:t>ABLKM Module</a:t>
            </a:r>
            <a:r>
              <a:rPr lang="en-IN" dirty="0"/>
              <a:t> – maps data geometrically </a:t>
            </a:r>
          </a:p>
          <a:p>
            <a:r>
              <a:rPr lang="en-IN" b="1" dirty="0"/>
              <a:t>Storage Module</a:t>
            </a:r>
            <a:r>
              <a:rPr lang="en-IN" dirty="0"/>
              <a:t> – stores data in angular buckets</a:t>
            </a:r>
          </a:p>
          <a:p>
            <a:endParaRPr lang="en-IN" dirty="0"/>
          </a:p>
        </p:txBody>
      </p:sp>
      <p:sp>
        <p:nvSpPr>
          <p:cNvPr id="4" name="Slide Number Placeholder 3"/>
          <p:cNvSpPr>
            <a:spLocks noGrp="1"/>
          </p:cNvSpPr>
          <p:nvPr>
            <p:ph type="sldNum" sz="quarter" idx="5"/>
          </p:nvPr>
        </p:nvSpPr>
        <p:spPr/>
        <p:txBody>
          <a:bodyPr/>
          <a:lstStyle/>
          <a:p>
            <a:fld id="{83DE4103-D868-498D-BB7B-ABDA25F9744E}" type="slidenum">
              <a:rPr lang="en-US" smtClean="0"/>
              <a:t>10</a:t>
            </a:fld>
            <a:endParaRPr lang="en-US"/>
          </a:p>
        </p:txBody>
      </p:sp>
    </p:spTree>
    <p:extLst>
      <p:ext uri="{BB962C8B-B14F-4D97-AF65-F5344CB8AC3E}">
        <p14:creationId xmlns:p14="http://schemas.microsoft.com/office/powerpoint/2010/main" val="25790364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Workflow:</a:t>
            </a:r>
          </a:p>
          <a:p>
            <a:r>
              <a:rPr lang="en-US" dirty="0"/>
              <a:t>First, key is generated </a:t>
            </a:r>
          </a:p>
          <a:p>
            <a:r>
              <a:rPr lang="en-US" dirty="0"/>
              <a:t>Then reference point is transmitted </a:t>
            </a:r>
          </a:p>
          <a:p>
            <a:r>
              <a:rPr lang="en-US" dirty="0"/>
              <a:t>Data is hashed </a:t>
            </a:r>
          </a:p>
          <a:p>
            <a:r>
              <a:rPr lang="en-US" dirty="0"/>
              <a:t>Mapped spatially </a:t>
            </a:r>
          </a:p>
          <a:p>
            <a:r>
              <a:rPr lang="en-US" dirty="0"/>
              <a:t>Finally stored securely”</a:t>
            </a:r>
          </a:p>
          <a:p>
            <a:endParaRPr lang="en-IN" dirty="0"/>
          </a:p>
        </p:txBody>
      </p:sp>
      <p:sp>
        <p:nvSpPr>
          <p:cNvPr id="4" name="Slide Number Placeholder 3"/>
          <p:cNvSpPr>
            <a:spLocks noGrp="1"/>
          </p:cNvSpPr>
          <p:nvPr>
            <p:ph type="sldNum" sz="quarter" idx="5"/>
          </p:nvPr>
        </p:nvSpPr>
        <p:spPr/>
        <p:txBody>
          <a:bodyPr/>
          <a:lstStyle/>
          <a:p>
            <a:fld id="{83DE4103-D868-498D-BB7B-ABDA25F9744E}" type="slidenum">
              <a:rPr lang="en-US" smtClean="0"/>
              <a:t>11</a:t>
            </a:fld>
            <a:endParaRPr lang="en-US"/>
          </a:p>
        </p:txBody>
      </p:sp>
    </p:spTree>
    <p:extLst>
      <p:ext uri="{BB962C8B-B14F-4D97-AF65-F5344CB8AC3E}">
        <p14:creationId xmlns:p14="http://schemas.microsoft.com/office/powerpoint/2010/main" val="40109893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3DE4103-D868-498D-BB7B-ABDA25F9744E}" type="slidenum">
              <a:rPr lang="en-US" smtClean="0"/>
              <a:t>12</a:t>
            </a:fld>
            <a:endParaRPr lang="en-US"/>
          </a:p>
        </p:txBody>
      </p:sp>
    </p:spTree>
    <p:extLst>
      <p:ext uri="{BB962C8B-B14F-4D97-AF65-F5344CB8AC3E}">
        <p14:creationId xmlns:p14="http://schemas.microsoft.com/office/powerpoint/2010/main" val="21759138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shows how all modules interact.</a:t>
            </a:r>
          </a:p>
          <a:p>
            <a:r>
              <a:rPr lang="en-US" dirty="0"/>
              <a:t>The important idea is </a:t>
            </a:r>
            <a:r>
              <a:rPr lang="en-US" b="1" dirty="0"/>
              <a:t>zero-trust pipeline</a:t>
            </a:r>
            <a:r>
              <a:rPr lang="en-US" dirty="0"/>
              <a:t>:</a:t>
            </a:r>
          </a:p>
          <a:p>
            <a:r>
              <a:rPr lang="en-US" dirty="0"/>
              <a:t>Without the quantum key, </a:t>
            </a:r>
          </a:p>
          <a:p>
            <a:r>
              <a:rPr lang="en-US" dirty="0"/>
              <a:t>The system cannot access the reference point, </a:t>
            </a:r>
          </a:p>
          <a:p>
            <a:r>
              <a:rPr lang="en-US" dirty="0"/>
              <a:t>And without that, data retrieval is impossible.”</a:t>
            </a:r>
          </a:p>
          <a:p>
            <a:endParaRPr lang="en-IN" dirty="0"/>
          </a:p>
        </p:txBody>
      </p:sp>
      <p:sp>
        <p:nvSpPr>
          <p:cNvPr id="4" name="Slide Number Placeholder 3"/>
          <p:cNvSpPr>
            <a:spLocks noGrp="1"/>
          </p:cNvSpPr>
          <p:nvPr>
            <p:ph type="sldNum" sz="quarter" idx="5"/>
          </p:nvPr>
        </p:nvSpPr>
        <p:spPr/>
        <p:txBody>
          <a:bodyPr/>
          <a:lstStyle/>
          <a:p>
            <a:fld id="{83DE4103-D868-498D-BB7B-ABDA25F9744E}" type="slidenum">
              <a:rPr lang="en-US" smtClean="0"/>
              <a:t>13</a:t>
            </a:fld>
            <a:endParaRPr lang="en-US"/>
          </a:p>
        </p:txBody>
      </p:sp>
    </p:spTree>
    <p:extLst>
      <p:ext uri="{BB962C8B-B14F-4D97-AF65-F5344CB8AC3E}">
        <p14:creationId xmlns:p14="http://schemas.microsoft.com/office/powerpoint/2010/main" val="36680678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is implemented using:</a:t>
            </a:r>
          </a:p>
          <a:p>
            <a:r>
              <a:rPr lang="en-US" dirty="0"/>
              <a:t>Python for development </a:t>
            </a:r>
          </a:p>
          <a:p>
            <a:r>
              <a:rPr lang="en-US" dirty="0"/>
              <a:t>Custom BB84 simulation (no external APIs) </a:t>
            </a:r>
          </a:p>
          <a:p>
            <a:r>
              <a:rPr lang="en-US" dirty="0"/>
              <a:t>AES-256 for encryption </a:t>
            </a:r>
          </a:p>
          <a:p>
            <a:r>
              <a:rPr lang="en-US" dirty="0"/>
              <a:t>SHA-256 for hashing </a:t>
            </a:r>
          </a:p>
          <a:p>
            <a:r>
              <a:rPr lang="en-US" dirty="0"/>
              <a:t>Mathematical functions like modulo and trigonometry for mapping”</a:t>
            </a:r>
          </a:p>
          <a:p>
            <a:endParaRPr lang="en-IN" dirty="0"/>
          </a:p>
        </p:txBody>
      </p:sp>
      <p:sp>
        <p:nvSpPr>
          <p:cNvPr id="4" name="Slide Number Placeholder 3"/>
          <p:cNvSpPr>
            <a:spLocks noGrp="1"/>
          </p:cNvSpPr>
          <p:nvPr>
            <p:ph type="sldNum" sz="quarter" idx="5"/>
          </p:nvPr>
        </p:nvSpPr>
        <p:spPr/>
        <p:txBody>
          <a:bodyPr/>
          <a:lstStyle/>
          <a:p>
            <a:fld id="{83DE4103-D868-498D-BB7B-ABDA25F9744E}" type="slidenum">
              <a:rPr lang="en-US" smtClean="0"/>
              <a:t>14</a:t>
            </a:fld>
            <a:endParaRPr lang="en-US"/>
          </a:p>
        </p:txBody>
      </p:sp>
    </p:spTree>
    <p:extLst>
      <p:ext uri="{BB962C8B-B14F-4D97-AF65-F5344CB8AC3E}">
        <p14:creationId xmlns:p14="http://schemas.microsoft.com/office/powerpoint/2010/main" val="32553339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developed:</a:t>
            </a:r>
          </a:p>
          <a:p>
            <a:r>
              <a:rPr lang="en-US" dirty="0"/>
              <a:t>A complete BB84 simulation from scratch </a:t>
            </a:r>
          </a:p>
          <a:p>
            <a:r>
              <a:rPr lang="en-US" dirty="0"/>
              <a:t>A geometric ABLKM mapping engine</a:t>
            </a:r>
          </a:p>
          <a:p>
            <a:endParaRPr lang="en-US" dirty="0"/>
          </a:p>
          <a:p>
            <a:endParaRPr lang="en-IN" dirty="0"/>
          </a:p>
        </p:txBody>
      </p:sp>
      <p:sp>
        <p:nvSpPr>
          <p:cNvPr id="4" name="Slide Number Placeholder 3"/>
          <p:cNvSpPr>
            <a:spLocks noGrp="1"/>
          </p:cNvSpPr>
          <p:nvPr>
            <p:ph type="sldNum" sz="quarter" idx="5"/>
          </p:nvPr>
        </p:nvSpPr>
        <p:spPr/>
        <p:txBody>
          <a:bodyPr/>
          <a:lstStyle/>
          <a:p>
            <a:fld id="{83DE4103-D868-498D-BB7B-ABDA25F9744E}" type="slidenum">
              <a:rPr lang="en-US" smtClean="0"/>
              <a:t>15</a:t>
            </a:fld>
            <a:endParaRPr lang="en-US"/>
          </a:p>
        </p:txBody>
      </p:sp>
    </p:spTree>
    <p:extLst>
      <p:ext uri="{BB962C8B-B14F-4D97-AF65-F5344CB8AC3E}">
        <p14:creationId xmlns:p14="http://schemas.microsoft.com/office/powerpoint/2010/main" val="14721105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Integration is done through a pipeline where:</a:t>
            </a:r>
          </a:p>
          <a:p>
            <a:r>
              <a:rPr lang="en-US" dirty="0"/>
              <a:t>QKD generates the key </a:t>
            </a:r>
          </a:p>
          <a:p>
            <a:r>
              <a:rPr lang="en-US" dirty="0"/>
              <a:t>That key enables the rest of the system</a:t>
            </a:r>
          </a:p>
          <a:p>
            <a:endParaRPr lang="en-IN" dirty="0"/>
          </a:p>
        </p:txBody>
      </p:sp>
      <p:sp>
        <p:nvSpPr>
          <p:cNvPr id="4" name="Slide Number Placeholder 3"/>
          <p:cNvSpPr>
            <a:spLocks noGrp="1"/>
          </p:cNvSpPr>
          <p:nvPr>
            <p:ph type="sldNum" sz="quarter" idx="5"/>
          </p:nvPr>
        </p:nvSpPr>
        <p:spPr/>
        <p:txBody>
          <a:bodyPr/>
          <a:lstStyle/>
          <a:p>
            <a:fld id="{83DE4103-D868-498D-BB7B-ABDA25F9744E}" type="slidenum">
              <a:rPr lang="en-US" smtClean="0"/>
              <a:t>16</a:t>
            </a:fld>
            <a:endParaRPr lang="en-US"/>
          </a:p>
        </p:txBody>
      </p:sp>
    </p:spTree>
    <p:extLst>
      <p:ext uri="{BB962C8B-B14F-4D97-AF65-F5344CB8AC3E}">
        <p14:creationId xmlns:p14="http://schemas.microsoft.com/office/powerpoint/2010/main" val="35111916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Challenges faced:</a:t>
            </a:r>
          </a:p>
          <a:p>
            <a:r>
              <a:rPr lang="en-US" dirty="0"/>
              <a:t>Variable key lengths → solved using SHA-256 </a:t>
            </a:r>
          </a:p>
          <a:p>
            <a:r>
              <a:rPr lang="en-US" dirty="0"/>
              <a:t>Data collisions → solved using angular buckets instead of fixed coordinates”</a:t>
            </a:r>
          </a:p>
          <a:p>
            <a:endParaRPr lang="en-IN" dirty="0"/>
          </a:p>
        </p:txBody>
      </p:sp>
      <p:sp>
        <p:nvSpPr>
          <p:cNvPr id="4" name="Slide Number Placeholder 3"/>
          <p:cNvSpPr>
            <a:spLocks noGrp="1"/>
          </p:cNvSpPr>
          <p:nvPr>
            <p:ph type="sldNum" sz="quarter" idx="5"/>
          </p:nvPr>
        </p:nvSpPr>
        <p:spPr/>
        <p:txBody>
          <a:bodyPr/>
          <a:lstStyle/>
          <a:p>
            <a:fld id="{83DE4103-D868-498D-BB7B-ABDA25F9744E}" type="slidenum">
              <a:rPr lang="en-US" smtClean="0"/>
              <a:t>17</a:t>
            </a:fld>
            <a:endParaRPr lang="en-US"/>
          </a:p>
        </p:txBody>
      </p:sp>
    </p:spTree>
    <p:extLst>
      <p:ext uri="{BB962C8B-B14F-4D97-AF65-F5344CB8AC3E}">
        <p14:creationId xmlns:p14="http://schemas.microsoft.com/office/powerpoint/2010/main" val="27971961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working prototype has three phases:</a:t>
            </a:r>
          </a:p>
          <a:p>
            <a:r>
              <a:rPr lang="en-US" b="1" dirty="0"/>
              <a:t>Quantum Key Generation</a:t>
            </a:r>
            <a:r>
              <a:rPr lang="en-US" dirty="0"/>
              <a:t> </a:t>
            </a:r>
          </a:p>
          <a:p>
            <a:r>
              <a:rPr lang="en-US" b="1" dirty="0"/>
              <a:t>Secure Reference Point Exchange</a:t>
            </a:r>
            <a:r>
              <a:rPr lang="en-US" dirty="0"/>
              <a:t> </a:t>
            </a:r>
          </a:p>
          <a:p>
            <a:endParaRPr lang="en-IN" dirty="0"/>
          </a:p>
        </p:txBody>
      </p:sp>
      <p:sp>
        <p:nvSpPr>
          <p:cNvPr id="4" name="Slide Number Placeholder 3"/>
          <p:cNvSpPr>
            <a:spLocks noGrp="1"/>
          </p:cNvSpPr>
          <p:nvPr>
            <p:ph type="sldNum" sz="quarter" idx="5"/>
          </p:nvPr>
        </p:nvSpPr>
        <p:spPr/>
        <p:txBody>
          <a:bodyPr/>
          <a:lstStyle/>
          <a:p>
            <a:fld id="{83DE4103-D868-498D-BB7B-ABDA25F9744E}" type="slidenum">
              <a:rPr lang="en-US" smtClean="0"/>
              <a:t>18</a:t>
            </a:fld>
            <a:endParaRPr lang="en-US"/>
          </a:p>
        </p:txBody>
      </p:sp>
    </p:spTree>
    <p:extLst>
      <p:ext uri="{BB962C8B-B14F-4D97-AF65-F5344CB8AC3E}">
        <p14:creationId xmlns:p14="http://schemas.microsoft.com/office/powerpoint/2010/main" val="320248347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Geometric Data Storage</a:t>
            </a:r>
            <a:r>
              <a:rPr lang="en-US" dirty="0"/>
              <a:t> </a:t>
            </a:r>
          </a:p>
          <a:p>
            <a:r>
              <a:rPr lang="en-US" dirty="0"/>
              <a:t>I also simulated an attacker named ‘Eve’,</a:t>
            </a:r>
            <a:br>
              <a:rPr lang="en-US" dirty="0"/>
            </a:br>
            <a:r>
              <a:rPr lang="en-US" dirty="0"/>
              <a:t>who fails to retrieve data without the quantum reference point.”</a:t>
            </a:r>
          </a:p>
          <a:p>
            <a:endParaRPr lang="en-IN" dirty="0"/>
          </a:p>
        </p:txBody>
      </p:sp>
      <p:sp>
        <p:nvSpPr>
          <p:cNvPr id="4" name="Slide Number Placeholder 3"/>
          <p:cNvSpPr>
            <a:spLocks noGrp="1"/>
          </p:cNvSpPr>
          <p:nvPr>
            <p:ph type="sldNum" sz="quarter" idx="5"/>
          </p:nvPr>
        </p:nvSpPr>
        <p:spPr/>
        <p:txBody>
          <a:bodyPr/>
          <a:lstStyle/>
          <a:p>
            <a:fld id="{83DE4103-D868-498D-BB7B-ABDA25F9744E}" type="slidenum">
              <a:rPr lang="en-US" smtClean="0"/>
              <a:t>19</a:t>
            </a:fld>
            <a:endParaRPr lang="en-US"/>
          </a:p>
        </p:txBody>
      </p:sp>
    </p:spTree>
    <p:extLst>
      <p:ext uri="{BB962C8B-B14F-4D97-AF65-F5344CB8AC3E}">
        <p14:creationId xmlns:p14="http://schemas.microsoft.com/office/powerpoint/2010/main" val="1781425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results:</a:t>
            </a:r>
          </a:p>
          <a:p>
            <a:r>
              <a:rPr lang="en-US" dirty="0"/>
              <a:t>Successfully generated secure AES keys </a:t>
            </a:r>
          </a:p>
          <a:p>
            <a:r>
              <a:rPr lang="en-US" dirty="0"/>
              <a:t>Seamless integration of quantum and classical systems </a:t>
            </a:r>
          </a:p>
          <a:p>
            <a:r>
              <a:rPr lang="en-US" dirty="0"/>
              <a:t>Secure data storage and retrieval </a:t>
            </a:r>
          </a:p>
          <a:p>
            <a:r>
              <a:rPr lang="en-US" dirty="0"/>
              <a:t>Attack simulation failed completely </a:t>
            </a:r>
          </a:p>
          <a:p>
            <a:r>
              <a:rPr lang="en-US" dirty="0"/>
              <a:t>This proves the effectiveness of the hybrid approach.”</a:t>
            </a:r>
          </a:p>
          <a:p>
            <a:endParaRPr lang="en-IN" dirty="0"/>
          </a:p>
        </p:txBody>
      </p:sp>
      <p:sp>
        <p:nvSpPr>
          <p:cNvPr id="4" name="Slide Number Placeholder 3"/>
          <p:cNvSpPr>
            <a:spLocks noGrp="1"/>
          </p:cNvSpPr>
          <p:nvPr>
            <p:ph type="sldNum" sz="quarter" idx="5"/>
          </p:nvPr>
        </p:nvSpPr>
        <p:spPr/>
        <p:txBody>
          <a:bodyPr/>
          <a:lstStyle/>
          <a:p>
            <a:fld id="{83DE4103-D868-498D-BB7B-ABDA25F9744E}" type="slidenum">
              <a:rPr lang="en-US" smtClean="0"/>
              <a:t>21</a:t>
            </a:fld>
            <a:endParaRPr lang="en-US"/>
          </a:p>
        </p:txBody>
      </p:sp>
    </p:spTree>
    <p:extLst>
      <p:ext uri="{BB962C8B-B14F-4D97-AF65-F5344CB8AC3E}">
        <p14:creationId xmlns:p14="http://schemas.microsoft.com/office/powerpoint/2010/main" val="363194307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“Performance highlights:</a:t>
            </a:r>
          </a:p>
          <a:p>
            <a:r>
              <a:rPr lang="en-US" dirty="0"/>
              <a:t>Very low latency </a:t>
            </a:r>
          </a:p>
          <a:p>
            <a:r>
              <a:rPr lang="en-US" dirty="0"/>
              <a:t>Minimal storage overhead </a:t>
            </a:r>
          </a:p>
          <a:p>
            <a:r>
              <a:rPr lang="en-US" dirty="0"/>
              <a:t>Stable key generation </a:t>
            </a:r>
          </a:p>
          <a:p>
            <a:endParaRPr lang="en-IN" dirty="0"/>
          </a:p>
          <a:p>
            <a:endParaRPr lang="en-IN" dirty="0"/>
          </a:p>
        </p:txBody>
      </p:sp>
      <p:sp>
        <p:nvSpPr>
          <p:cNvPr id="4" name="Slide Number Placeholder 3"/>
          <p:cNvSpPr>
            <a:spLocks noGrp="1"/>
          </p:cNvSpPr>
          <p:nvPr>
            <p:ph type="sldNum" sz="quarter" idx="5"/>
          </p:nvPr>
        </p:nvSpPr>
        <p:spPr/>
        <p:txBody>
          <a:bodyPr/>
          <a:lstStyle/>
          <a:p>
            <a:fld id="{83DE4103-D868-498D-BB7B-ABDA25F9744E}" type="slidenum">
              <a:rPr lang="en-US" smtClean="0"/>
              <a:t>22</a:t>
            </a:fld>
            <a:endParaRPr lang="en-US"/>
          </a:p>
        </p:txBody>
      </p:sp>
    </p:spTree>
    <p:extLst>
      <p:ext uri="{BB962C8B-B14F-4D97-AF65-F5344CB8AC3E}">
        <p14:creationId xmlns:p14="http://schemas.microsoft.com/office/powerpoint/2010/main" val="114779381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3DE4103-D868-498D-BB7B-ABDA25F9744E}" type="slidenum">
              <a:rPr lang="en-US" smtClean="0"/>
              <a:t>23</a:t>
            </a:fld>
            <a:endParaRPr lang="en-US"/>
          </a:p>
        </p:txBody>
      </p:sp>
    </p:spTree>
    <p:extLst>
      <p:ext uri="{BB962C8B-B14F-4D97-AF65-F5344CB8AC3E}">
        <p14:creationId xmlns:p14="http://schemas.microsoft.com/office/powerpoint/2010/main" val="397827671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Observations:</a:t>
            </a:r>
          </a:p>
          <a:p>
            <a:r>
              <a:rPr lang="en-US" dirty="0"/>
              <a:t>Angular buckets reduced collisions </a:t>
            </a:r>
          </a:p>
          <a:p>
            <a:r>
              <a:rPr lang="en-US" dirty="0"/>
              <a:t>Attackers cannot access data </a:t>
            </a:r>
          </a:p>
          <a:p>
            <a:r>
              <a:rPr lang="en-US" dirty="0"/>
              <a:t>Smooth integration between quantum and classical systems”</a:t>
            </a:r>
          </a:p>
          <a:p>
            <a:endParaRPr lang="en-IN" dirty="0"/>
          </a:p>
          <a:p>
            <a:r>
              <a:rPr lang="en-IN" dirty="0"/>
              <a:t>Finally  I would like to say that this project is focusing  on </a:t>
            </a:r>
          </a:p>
          <a:p>
            <a:r>
              <a:rPr lang="en-US" dirty="0"/>
              <a:t>“ not just encrypting data, but hiding where the data exists.”</a:t>
            </a:r>
            <a:endParaRPr lang="en-IN" dirty="0"/>
          </a:p>
        </p:txBody>
      </p:sp>
      <p:sp>
        <p:nvSpPr>
          <p:cNvPr id="4" name="Slide Number Placeholder 3"/>
          <p:cNvSpPr>
            <a:spLocks noGrp="1"/>
          </p:cNvSpPr>
          <p:nvPr>
            <p:ph type="sldNum" sz="quarter" idx="5"/>
          </p:nvPr>
        </p:nvSpPr>
        <p:spPr/>
        <p:txBody>
          <a:bodyPr/>
          <a:lstStyle/>
          <a:p>
            <a:fld id="{83DE4103-D868-498D-BB7B-ABDA25F9744E}" type="slidenum">
              <a:rPr lang="en-US" smtClean="0"/>
              <a:t>24</a:t>
            </a:fld>
            <a:endParaRPr lang="en-US"/>
          </a:p>
        </p:txBody>
      </p:sp>
    </p:spTree>
    <p:extLst>
      <p:ext uri="{BB962C8B-B14F-4D97-AF65-F5344CB8AC3E}">
        <p14:creationId xmlns:p14="http://schemas.microsoft.com/office/powerpoint/2010/main" val="83914573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3DE4103-D868-498D-BB7B-ABDA25F9744E}" type="slidenum">
              <a:rPr lang="en-US" smtClean="0"/>
              <a:t>25</a:t>
            </a:fld>
            <a:endParaRPr lang="en-US"/>
          </a:p>
        </p:txBody>
      </p:sp>
    </p:spTree>
    <p:extLst>
      <p:ext uri="{BB962C8B-B14F-4D97-AF65-F5344CB8AC3E}">
        <p14:creationId xmlns:p14="http://schemas.microsoft.com/office/powerpoint/2010/main" val="128401537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research papers and standards used in this project.”</a:t>
            </a:r>
            <a:endParaRPr lang="en-IN" dirty="0"/>
          </a:p>
        </p:txBody>
      </p:sp>
      <p:sp>
        <p:nvSpPr>
          <p:cNvPr id="4" name="Slide Number Placeholder 3"/>
          <p:cNvSpPr>
            <a:spLocks noGrp="1"/>
          </p:cNvSpPr>
          <p:nvPr>
            <p:ph type="sldNum" sz="quarter" idx="5"/>
          </p:nvPr>
        </p:nvSpPr>
        <p:spPr/>
        <p:txBody>
          <a:bodyPr/>
          <a:lstStyle/>
          <a:p>
            <a:fld id="{83DE4103-D868-498D-BB7B-ABDA25F9744E}" type="slidenum">
              <a:rPr lang="en-US" smtClean="0"/>
              <a:t>26</a:t>
            </a:fld>
            <a:endParaRPr lang="en-US"/>
          </a:p>
        </p:txBody>
      </p:sp>
    </p:spTree>
    <p:extLst>
      <p:ext uri="{BB962C8B-B14F-4D97-AF65-F5344CB8AC3E}">
        <p14:creationId xmlns:p14="http://schemas.microsoft.com/office/powerpoint/2010/main" val="279699624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1149448" rtl="0" eaLnBrk="1" fontAlgn="auto" latinLnBrk="0" hangingPunct="1">
              <a:lnSpc>
                <a:spcPct val="100000"/>
              </a:lnSpc>
              <a:spcBef>
                <a:spcPts val="0"/>
              </a:spcBef>
              <a:spcAft>
                <a:spcPts val="0"/>
              </a:spcAft>
              <a:buClrTx/>
              <a:buSzTx/>
              <a:buFontTx/>
              <a:buNone/>
              <a:tabLst/>
              <a:defRPr/>
            </a:pPr>
            <a:r>
              <a:rPr lang="en-US" dirty="0"/>
              <a:t>“Thank you for your time.</a:t>
            </a:r>
            <a:br>
              <a:rPr lang="en-US" dirty="0"/>
            </a:br>
            <a:r>
              <a:rPr lang="en-US" dirty="0"/>
              <a:t>I would be happy to take any questions.”</a:t>
            </a:r>
          </a:p>
          <a:p>
            <a:endParaRPr lang="en-IN" dirty="0"/>
          </a:p>
        </p:txBody>
      </p:sp>
      <p:sp>
        <p:nvSpPr>
          <p:cNvPr id="4" name="Slide Number Placeholder 3"/>
          <p:cNvSpPr>
            <a:spLocks noGrp="1"/>
          </p:cNvSpPr>
          <p:nvPr>
            <p:ph type="sldNum" sz="quarter" idx="5"/>
          </p:nvPr>
        </p:nvSpPr>
        <p:spPr/>
        <p:txBody>
          <a:bodyPr/>
          <a:lstStyle/>
          <a:p>
            <a:fld id="{83DE4103-D868-498D-BB7B-ABDA25F9744E}" type="slidenum">
              <a:rPr lang="en-US" smtClean="0"/>
              <a:t>27</a:t>
            </a:fld>
            <a:endParaRPr lang="en-US"/>
          </a:p>
        </p:txBody>
      </p:sp>
    </p:spTree>
    <p:extLst>
      <p:ext uri="{BB962C8B-B14F-4D97-AF65-F5344CB8AC3E}">
        <p14:creationId xmlns:p14="http://schemas.microsoft.com/office/powerpoint/2010/main" val="574277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60120" y="2272456"/>
            <a:ext cx="10881360" cy="1568027"/>
          </a:xfrm>
        </p:spPr>
        <p:txBody>
          <a:bodyPr/>
          <a:lstStyle/>
          <a:p>
            <a:r>
              <a:rPr lang="en-US"/>
              <a:t>Click to edit Master title style</a:t>
            </a:r>
          </a:p>
        </p:txBody>
      </p:sp>
      <p:sp>
        <p:nvSpPr>
          <p:cNvPr id="3" name="Subtitle 2"/>
          <p:cNvSpPr>
            <a:spLocks noGrp="1"/>
          </p:cNvSpPr>
          <p:nvPr>
            <p:ph type="subTitle" idx="1"/>
          </p:nvPr>
        </p:nvSpPr>
        <p:spPr>
          <a:xfrm>
            <a:off x="1920240" y="4145280"/>
            <a:ext cx="8961120" cy="1869440"/>
          </a:xfrm>
        </p:spPr>
        <p:txBody>
          <a:bodyPr/>
          <a:lstStyle>
            <a:lvl1pPr marL="0" indent="0" algn="ctr">
              <a:buNone/>
              <a:defRPr>
                <a:solidFill>
                  <a:schemeClr val="tx1">
                    <a:tint val="75000"/>
                  </a:schemeClr>
                </a:solidFill>
              </a:defRPr>
            </a:lvl1pPr>
            <a:lvl2pPr marL="574724" indent="0" algn="ctr">
              <a:buNone/>
              <a:defRPr>
                <a:solidFill>
                  <a:schemeClr val="tx1">
                    <a:tint val="75000"/>
                  </a:schemeClr>
                </a:solidFill>
              </a:defRPr>
            </a:lvl2pPr>
            <a:lvl3pPr marL="1149448" indent="0" algn="ctr">
              <a:buNone/>
              <a:defRPr>
                <a:solidFill>
                  <a:schemeClr val="tx1">
                    <a:tint val="75000"/>
                  </a:schemeClr>
                </a:solidFill>
              </a:defRPr>
            </a:lvl3pPr>
            <a:lvl4pPr marL="1724172" indent="0" algn="ctr">
              <a:buNone/>
              <a:defRPr>
                <a:solidFill>
                  <a:schemeClr val="tx1">
                    <a:tint val="75000"/>
                  </a:schemeClr>
                </a:solidFill>
              </a:defRPr>
            </a:lvl4pPr>
            <a:lvl5pPr marL="2298895" indent="0" algn="ctr">
              <a:buNone/>
              <a:defRPr>
                <a:solidFill>
                  <a:schemeClr val="tx1">
                    <a:tint val="75000"/>
                  </a:schemeClr>
                </a:solidFill>
              </a:defRPr>
            </a:lvl5pPr>
            <a:lvl6pPr marL="2873621" indent="0" algn="ctr">
              <a:buNone/>
              <a:defRPr>
                <a:solidFill>
                  <a:schemeClr val="tx1">
                    <a:tint val="75000"/>
                  </a:schemeClr>
                </a:solidFill>
              </a:defRPr>
            </a:lvl6pPr>
            <a:lvl7pPr marL="3448344" indent="0" algn="ctr">
              <a:buNone/>
              <a:defRPr>
                <a:solidFill>
                  <a:schemeClr val="tx1">
                    <a:tint val="75000"/>
                  </a:schemeClr>
                </a:solidFill>
              </a:defRPr>
            </a:lvl7pPr>
            <a:lvl8pPr marL="4023069" indent="0" algn="ctr">
              <a:buNone/>
              <a:defRPr>
                <a:solidFill>
                  <a:schemeClr val="tx1">
                    <a:tint val="75000"/>
                  </a:schemeClr>
                </a:solidFill>
              </a:defRPr>
            </a:lvl8pPr>
            <a:lvl9pPr marL="4597793"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C2E1E87-9C15-4984-91E0-215221CAF7F6}" type="datetime1">
              <a:rPr lang="en-US" smtClean="0"/>
              <a:t>4/9/2026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2A2637-A5A3-49FA-B214-6E67543099EF}" type="slidenum">
              <a:rPr lang="en-US" smtClean="0"/>
              <a:t>‹#›</a:t>
            </a:fld>
            <a:endParaRPr lang="en-US"/>
          </a:p>
        </p:txBody>
      </p:sp>
    </p:spTree>
    <p:extLst>
      <p:ext uri="{BB962C8B-B14F-4D97-AF65-F5344CB8AC3E}">
        <p14:creationId xmlns:p14="http://schemas.microsoft.com/office/powerpoint/2010/main" val="25058825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1116BE9-D6CB-4D14-A12D-7F5512E1435B}" type="datetime1">
              <a:rPr lang="en-US" smtClean="0"/>
              <a:t>4/9/2026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2A2637-A5A3-49FA-B214-6E67543099EF}" type="slidenum">
              <a:rPr lang="en-US" smtClean="0"/>
              <a:t>‹#›</a:t>
            </a:fld>
            <a:endParaRPr lang="en-US"/>
          </a:p>
        </p:txBody>
      </p:sp>
    </p:spTree>
    <p:extLst>
      <p:ext uri="{BB962C8B-B14F-4D97-AF65-F5344CB8AC3E}">
        <p14:creationId xmlns:p14="http://schemas.microsoft.com/office/powerpoint/2010/main" val="11410616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11238" y="4700695"/>
            <a:ext cx="10881360" cy="1452880"/>
          </a:xfrm>
        </p:spPr>
        <p:txBody>
          <a:bodyPr anchor="t"/>
          <a:lstStyle>
            <a:lvl1pPr algn="l">
              <a:defRPr sz="5100" b="1" cap="all"/>
            </a:lvl1pPr>
          </a:lstStyle>
          <a:p>
            <a:r>
              <a:rPr lang="en-US"/>
              <a:t>Click to edit Master title style</a:t>
            </a:r>
          </a:p>
        </p:txBody>
      </p:sp>
      <p:sp>
        <p:nvSpPr>
          <p:cNvPr id="3" name="Text Placeholder 2"/>
          <p:cNvSpPr>
            <a:spLocks noGrp="1"/>
          </p:cNvSpPr>
          <p:nvPr>
            <p:ph type="body" idx="1"/>
          </p:nvPr>
        </p:nvSpPr>
        <p:spPr>
          <a:xfrm>
            <a:off x="1011238" y="3100496"/>
            <a:ext cx="10881360" cy="1600199"/>
          </a:xfrm>
        </p:spPr>
        <p:txBody>
          <a:bodyPr anchor="b"/>
          <a:lstStyle>
            <a:lvl1pPr marL="0" indent="0">
              <a:buNone/>
              <a:defRPr sz="2500">
                <a:solidFill>
                  <a:schemeClr val="tx1">
                    <a:tint val="75000"/>
                  </a:schemeClr>
                </a:solidFill>
              </a:defRPr>
            </a:lvl1pPr>
            <a:lvl2pPr marL="574724" indent="0">
              <a:buNone/>
              <a:defRPr sz="2300">
                <a:solidFill>
                  <a:schemeClr val="tx1">
                    <a:tint val="75000"/>
                  </a:schemeClr>
                </a:solidFill>
              </a:defRPr>
            </a:lvl2pPr>
            <a:lvl3pPr marL="1149448" indent="0">
              <a:buNone/>
              <a:defRPr sz="2000">
                <a:solidFill>
                  <a:schemeClr val="tx1">
                    <a:tint val="75000"/>
                  </a:schemeClr>
                </a:solidFill>
              </a:defRPr>
            </a:lvl3pPr>
            <a:lvl4pPr marL="1724172" indent="0">
              <a:buNone/>
              <a:defRPr sz="1800">
                <a:solidFill>
                  <a:schemeClr val="tx1">
                    <a:tint val="75000"/>
                  </a:schemeClr>
                </a:solidFill>
              </a:defRPr>
            </a:lvl4pPr>
            <a:lvl5pPr marL="2298895" indent="0">
              <a:buNone/>
              <a:defRPr sz="1800">
                <a:solidFill>
                  <a:schemeClr val="tx1">
                    <a:tint val="75000"/>
                  </a:schemeClr>
                </a:solidFill>
              </a:defRPr>
            </a:lvl5pPr>
            <a:lvl6pPr marL="2873621" indent="0">
              <a:buNone/>
              <a:defRPr sz="1800">
                <a:solidFill>
                  <a:schemeClr val="tx1">
                    <a:tint val="75000"/>
                  </a:schemeClr>
                </a:solidFill>
              </a:defRPr>
            </a:lvl6pPr>
            <a:lvl7pPr marL="3448344" indent="0">
              <a:buNone/>
              <a:defRPr sz="1800">
                <a:solidFill>
                  <a:schemeClr val="tx1">
                    <a:tint val="75000"/>
                  </a:schemeClr>
                </a:solidFill>
              </a:defRPr>
            </a:lvl7pPr>
            <a:lvl8pPr marL="4023069" indent="0">
              <a:buNone/>
              <a:defRPr sz="1800">
                <a:solidFill>
                  <a:schemeClr val="tx1">
                    <a:tint val="75000"/>
                  </a:schemeClr>
                </a:solidFill>
              </a:defRPr>
            </a:lvl8pPr>
            <a:lvl9pPr marL="4597793" indent="0">
              <a:buNone/>
              <a:defRPr sz="18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12A9D04-24B9-408C-A000-3B78FDBD0AEB}" type="datetime1">
              <a:rPr lang="en-US" smtClean="0"/>
              <a:t>4/9/2026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2A2637-A5A3-49FA-B214-6E67543099EF}" type="slidenum">
              <a:rPr lang="en-US" smtClean="0"/>
              <a:t>‹#›</a:t>
            </a:fld>
            <a:endParaRPr lang="en-US"/>
          </a:p>
        </p:txBody>
      </p:sp>
    </p:spTree>
    <p:extLst>
      <p:ext uri="{BB962C8B-B14F-4D97-AF65-F5344CB8AC3E}">
        <p14:creationId xmlns:p14="http://schemas.microsoft.com/office/powerpoint/2010/main" val="4860235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40080" y="1706880"/>
            <a:ext cx="5654040" cy="4827694"/>
          </a:xfrm>
        </p:spPr>
        <p:txBody>
          <a:bodyPr/>
          <a:lstStyle>
            <a:lvl1pPr>
              <a:defRPr sz="3500"/>
            </a:lvl1pPr>
            <a:lvl2pPr>
              <a:defRPr sz="3000"/>
            </a:lvl2pPr>
            <a:lvl3pPr>
              <a:defRPr sz="2500"/>
            </a:lvl3pPr>
            <a:lvl4pPr>
              <a:defRPr sz="2300"/>
            </a:lvl4pPr>
            <a:lvl5pPr>
              <a:defRPr sz="2300"/>
            </a:lvl5pPr>
            <a:lvl6pPr>
              <a:defRPr sz="2300"/>
            </a:lvl6pPr>
            <a:lvl7pPr>
              <a:defRPr sz="2300"/>
            </a:lvl7pPr>
            <a:lvl8pPr>
              <a:defRPr sz="2300"/>
            </a:lvl8pPr>
            <a:lvl9pPr>
              <a:defRPr sz="2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507480" y="1706880"/>
            <a:ext cx="5654040" cy="4827694"/>
          </a:xfrm>
        </p:spPr>
        <p:txBody>
          <a:bodyPr/>
          <a:lstStyle>
            <a:lvl1pPr>
              <a:defRPr sz="3500"/>
            </a:lvl1pPr>
            <a:lvl2pPr>
              <a:defRPr sz="3000"/>
            </a:lvl2pPr>
            <a:lvl3pPr>
              <a:defRPr sz="2500"/>
            </a:lvl3pPr>
            <a:lvl4pPr>
              <a:defRPr sz="2300"/>
            </a:lvl4pPr>
            <a:lvl5pPr>
              <a:defRPr sz="2300"/>
            </a:lvl5pPr>
            <a:lvl6pPr>
              <a:defRPr sz="2300"/>
            </a:lvl6pPr>
            <a:lvl7pPr>
              <a:defRPr sz="2300"/>
            </a:lvl7pPr>
            <a:lvl8pPr>
              <a:defRPr sz="2300"/>
            </a:lvl8pPr>
            <a:lvl9pPr>
              <a:defRPr sz="2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2B91B48-F2B5-44C0-A324-732125246729}" type="datetime1">
              <a:rPr lang="en-US" smtClean="0"/>
              <a:t>4/9/2026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02A2637-A5A3-49FA-B214-6E67543099EF}" type="slidenum">
              <a:rPr lang="en-US" smtClean="0"/>
              <a:t>‹#›</a:t>
            </a:fld>
            <a:endParaRPr lang="en-US"/>
          </a:p>
        </p:txBody>
      </p:sp>
    </p:spTree>
    <p:extLst>
      <p:ext uri="{BB962C8B-B14F-4D97-AF65-F5344CB8AC3E}">
        <p14:creationId xmlns:p14="http://schemas.microsoft.com/office/powerpoint/2010/main" val="4189833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40080" y="1637454"/>
            <a:ext cx="5656263" cy="682414"/>
          </a:xfrm>
        </p:spPr>
        <p:txBody>
          <a:bodyPr anchor="b"/>
          <a:lstStyle>
            <a:lvl1pPr marL="0" indent="0">
              <a:buNone/>
              <a:defRPr sz="3000" b="1"/>
            </a:lvl1pPr>
            <a:lvl2pPr marL="574724" indent="0">
              <a:buNone/>
              <a:defRPr sz="2500" b="1"/>
            </a:lvl2pPr>
            <a:lvl3pPr marL="1149448" indent="0">
              <a:buNone/>
              <a:defRPr sz="2300" b="1"/>
            </a:lvl3pPr>
            <a:lvl4pPr marL="1724172" indent="0">
              <a:buNone/>
              <a:defRPr sz="2000" b="1"/>
            </a:lvl4pPr>
            <a:lvl5pPr marL="2298895" indent="0">
              <a:buNone/>
              <a:defRPr sz="2000" b="1"/>
            </a:lvl5pPr>
            <a:lvl6pPr marL="2873621" indent="0">
              <a:buNone/>
              <a:defRPr sz="2000" b="1"/>
            </a:lvl6pPr>
            <a:lvl7pPr marL="3448344" indent="0">
              <a:buNone/>
              <a:defRPr sz="2000" b="1"/>
            </a:lvl7pPr>
            <a:lvl8pPr marL="4023069" indent="0">
              <a:buNone/>
              <a:defRPr sz="2000" b="1"/>
            </a:lvl8pPr>
            <a:lvl9pPr marL="4597793" indent="0">
              <a:buNone/>
              <a:defRPr sz="2000" b="1"/>
            </a:lvl9pPr>
          </a:lstStyle>
          <a:p>
            <a:pPr lvl="0"/>
            <a:r>
              <a:rPr lang="en-US"/>
              <a:t>Click to edit Master text styles</a:t>
            </a:r>
          </a:p>
        </p:txBody>
      </p:sp>
      <p:sp>
        <p:nvSpPr>
          <p:cNvPr id="4" name="Content Placeholder 3"/>
          <p:cNvSpPr>
            <a:spLocks noGrp="1"/>
          </p:cNvSpPr>
          <p:nvPr>
            <p:ph sz="half" idx="2"/>
          </p:nvPr>
        </p:nvSpPr>
        <p:spPr>
          <a:xfrm>
            <a:off x="640080" y="2319868"/>
            <a:ext cx="5656263" cy="4214707"/>
          </a:xfrm>
        </p:spPr>
        <p:txBody>
          <a:bodyPr/>
          <a:lstStyle>
            <a:lvl1pPr>
              <a:defRPr sz="3000"/>
            </a:lvl1pPr>
            <a:lvl2pPr>
              <a:defRPr sz="2500"/>
            </a:lvl2pPr>
            <a:lvl3pPr>
              <a:defRPr sz="23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503037" y="1637454"/>
            <a:ext cx="5658485" cy="682414"/>
          </a:xfrm>
        </p:spPr>
        <p:txBody>
          <a:bodyPr anchor="b"/>
          <a:lstStyle>
            <a:lvl1pPr marL="0" indent="0">
              <a:buNone/>
              <a:defRPr sz="3000" b="1"/>
            </a:lvl1pPr>
            <a:lvl2pPr marL="574724" indent="0">
              <a:buNone/>
              <a:defRPr sz="2500" b="1"/>
            </a:lvl2pPr>
            <a:lvl3pPr marL="1149448" indent="0">
              <a:buNone/>
              <a:defRPr sz="2300" b="1"/>
            </a:lvl3pPr>
            <a:lvl4pPr marL="1724172" indent="0">
              <a:buNone/>
              <a:defRPr sz="2000" b="1"/>
            </a:lvl4pPr>
            <a:lvl5pPr marL="2298895" indent="0">
              <a:buNone/>
              <a:defRPr sz="2000" b="1"/>
            </a:lvl5pPr>
            <a:lvl6pPr marL="2873621" indent="0">
              <a:buNone/>
              <a:defRPr sz="2000" b="1"/>
            </a:lvl6pPr>
            <a:lvl7pPr marL="3448344" indent="0">
              <a:buNone/>
              <a:defRPr sz="2000" b="1"/>
            </a:lvl7pPr>
            <a:lvl8pPr marL="4023069" indent="0">
              <a:buNone/>
              <a:defRPr sz="2000" b="1"/>
            </a:lvl8pPr>
            <a:lvl9pPr marL="4597793" indent="0">
              <a:buNone/>
              <a:defRPr sz="2000" b="1"/>
            </a:lvl9pPr>
          </a:lstStyle>
          <a:p>
            <a:pPr lvl="0"/>
            <a:r>
              <a:rPr lang="en-US"/>
              <a:t>Click to edit Master text styles</a:t>
            </a:r>
          </a:p>
        </p:txBody>
      </p:sp>
      <p:sp>
        <p:nvSpPr>
          <p:cNvPr id="6" name="Content Placeholder 5"/>
          <p:cNvSpPr>
            <a:spLocks noGrp="1"/>
          </p:cNvSpPr>
          <p:nvPr>
            <p:ph sz="quarter" idx="4"/>
          </p:nvPr>
        </p:nvSpPr>
        <p:spPr>
          <a:xfrm>
            <a:off x="6503037" y="2319868"/>
            <a:ext cx="5658485" cy="4214707"/>
          </a:xfrm>
        </p:spPr>
        <p:txBody>
          <a:bodyPr/>
          <a:lstStyle>
            <a:lvl1pPr>
              <a:defRPr sz="3000"/>
            </a:lvl1pPr>
            <a:lvl2pPr>
              <a:defRPr sz="2500"/>
            </a:lvl2pPr>
            <a:lvl3pPr>
              <a:defRPr sz="23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8337E91-F602-4F18-92CA-FB1A231376B0}" type="datetime1">
              <a:rPr lang="en-US" smtClean="0"/>
              <a:t>4/9/2026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02A2637-A5A3-49FA-B214-6E67543099EF}" type="slidenum">
              <a:rPr lang="en-US" smtClean="0"/>
              <a:t>‹#›</a:t>
            </a:fld>
            <a:endParaRPr lang="en-US"/>
          </a:p>
        </p:txBody>
      </p:sp>
    </p:spTree>
    <p:extLst>
      <p:ext uri="{BB962C8B-B14F-4D97-AF65-F5344CB8AC3E}">
        <p14:creationId xmlns:p14="http://schemas.microsoft.com/office/powerpoint/2010/main" val="1793677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0818EFE-411D-495F-AE32-482368671348}" type="datetime1">
              <a:rPr lang="en-US" smtClean="0"/>
              <a:t>4/9/2026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02A2637-A5A3-49FA-B214-6E67543099EF}" type="slidenum">
              <a:rPr lang="en-US" smtClean="0"/>
              <a:t>‹#›</a:t>
            </a:fld>
            <a:endParaRPr lang="en-US"/>
          </a:p>
        </p:txBody>
      </p:sp>
    </p:spTree>
    <p:extLst>
      <p:ext uri="{BB962C8B-B14F-4D97-AF65-F5344CB8AC3E}">
        <p14:creationId xmlns:p14="http://schemas.microsoft.com/office/powerpoint/2010/main" val="20362177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C6129DD-E279-4A67-BA32-75987FE76FB7}" type="datetime1">
              <a:rPr lang="en-US" smtClean="0"/>
              <a:t>4/9/2026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02A2637-A5A3-49FA-B214-6E67543099EF}" type="slidenum">
              <a:rPr lang="en-US" smtClean="0"/>
              <a:t>‹#›</a:t>
            </a:fld>
            <a:endParaRPr lang="en-US"/>
          </a:p>
        </p:txBody>
      </p:sp>
    </p:spTree>
    <p:extLst>
      <p:ext uri="{BB962C8B-B14F-4D97-AF65-F5344CB8AC3E}">
        <p14:creationId xmlns:p14="http://schemas.microsoft.com/office/powerpoint/2010/main" val="18440107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40082" y="291252"/>
            <a:ext cx="4211638" cy="1239521"/>
          </a:xfrm>
        </p:spPr>
        <p:txBody>
          <a:bodyPr anchor="b"/>
          <a:lstStyle>
            <a:lvl1pPr algn="l">
              <a:defRPr sz="2500" b="1"/>
            </a:lvl1pPr>
          </a:lstStyle>
          <a:p>
            <a:r>
              <a:rPr lang="en-US"/>
              <a:t>Click to edit Master title style</a:t>
            </a:r>
          </a:p>
        </p:txBody>
      </p:sp>
      <p:sp>
        <p:nvSpPr>
          <p:cNvPr id="3" name="Content Placeholder 2"/>
          <p:cNvSpPr>
            <a:spLocks noGrp="1"/>
          </p:cNvSpPr>
          <p:nvPr>
            <p:ph idx="1"/>
          </p:nvPr>
        </p:nvSpPr>
        <p:spPr>
          <a:xfrm>
            <a:off x="5005070" y="291255"/>
            <a:ext cx="7156450" cy="6243321"/>
          </a:xfrm>
        </p:spPr>
        <p:txBody>
          <a:bodyPr/>
          <a:lstStyle>
            <a:lvl1pPr>
              <a:defRPr sz="3900"/>
            </a:lvl1pPr>
            <a:lvl2pPr>
              <a:defRPr sz="3500"/>
            </a:lvl2pPr>
            <a:lvl3pPr>
              <a:defRPr sz="3000"/>
            </a:lvl3pPr>
            <a:lvl4pPr>
              <a:defRPr sz="2500"/>
            </a:lvl4pPr>
            <a:lvl5pPr>
              <a:defRPr sz="2500"/>
            </a:lvl5pPr>
            <a:lvl6pPr>
              <a:defRPr sz="2500"/>
            </a:lvl6pPr>
            <a:lvl7pPr>
              <a:defRPr sz="2500"/>
            </a:lvl7pPr>
            <a:lvl8pPr>
              <a:defRPr sz="2500"/>
            </a:lvl8pPr>
            <a:lvl9pPr>
              <a:defRPr sz="2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40082" y="1530775"/>
            <a:ext cx="4211638" cy="5003802"/>
          </a:xfrm>
        </p:spPr>
        <p:txBody>
          <a:bodyPr/>
          <a:lstStyle>
            <a:lvl1pPr marL="0" indent="0">
              <a:buNone/>
              <a:defRPr sz="1800"/>
            </a:lvl1pPr>
            <a:lvl2pPr marL="574724" indent="0">
              <a:buNone/>
              <a:defRPr sz="1500"/>
            </a:lvl2pPr>
            <a:lvl3pPr marL="1149448" indent="0">
              <a:buNone/>
              <a:defRPr sz="1300"/>
            </a:lvl3pPr>
            <a:lvl4pPr marL="1724172" indent="0">
              <a:buNone/>
              <a:defRPr sz="1100"/>
            </a:lvl4pPr>
            <a:lvl5pPr marL="2298895" indent="0">
              <a:buNone/>
              <a:defRPr sz="1100"/>
            </a:lvl5pPr>
            <a:lvl6pPr marL="2873621" indent="0">
              <a:buNone/>
              <a:defRPr sz="1100"/>
            </a:lvl6pPr>
            <a:lvl7pPr marL="3448344" indent="0">
              <a:buNone/>
              <a:defRPr sz="1100"/>
            </a:lvl7pPr>
            <a:lvl8pPr marL="4023069" indent="0">
              <a:buNone/>
              <a:defRPr sz="1100"/>
            </a:lvl8pPr>
            <a:lvl9pPr marL="459779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E97BA02B-9B73-458F-B848-E99C8FA83242}" type="datetime1">
              <a:rPr lang="en-US" smtClean="0"/>
              <a:t>4/9/2026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02A2637-A5A3-49FA-B214-6E67543099EF}" type="slidenum">
              <a:rPr lang="en-US" smtClean="0"/>
              <a:t>‹#›</a:t>
            </a:fld>
            <a:endParaRPr lang="en-US"/>
          </a:p>
        </p:txBody>
      </p:sp>
    </p:spTree>
    <p:extLst>
      <p:ext uri="{BB962C8B-B14F-4D97-AF65-F5344CB8AC3E}">
        <p14:creationId xmlns:p14="http://schemas.microsoft.com/office/powerpoint/2010/main" val="16849433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09203" y="5120640"/>
            <a:ext cx="7680960" cy="604521"/>
          </a:xfrm>
        </p:spPr>
        <p:txBody>
          <a:bodyPr anchor="b"/>
          <a:lstStyle>
            <a:lvl1pPr algn="l">
              <a:defRPr sz="2500" b="1"/>
            </a:lvl1pPr>
          </a:lstStyle>
          <a:p>
            <a:r>
              <a:rPr lang="en-US"/>
              <a:t>Click to edit Master title style</a:t>
            </a:r>
          </a:p>
        </p:txBody>
      </p:sp>
      <p:sp>
        <p:nvSpPr>
          <p:cNvPr id="3" name="Picture Placeholder 2"/>
          <p:cNvSpPr>
            <a:spLocks noGrp="1"/>
          </p:cNvSpPr>
          <p:nvPr>
            <p:ph type="pic" idx="1"/>
          </p:nvPr>
        </p:nvSpPr>
        <p:spPr>
          <a:xfrm>
            <a:off x="2509203" y="653626"/>
            <a:ext cx="7680960" cy="4389120"/>
          </a:xfrm>
        </p:spPr>
        <p:txBody>
          <a:bodyPr/>
          <a:lstStyle>
            <a:lvl1pPr marL="0" indent="0">
              <a:buNone/>
              <a:defRPr sz="3900"/>
            </a:lvl1pPr>
            <a:lvl2pPr marL="574724" indent="0">
              <a:buNone/>
              <a:defRPr sz="3500"/>
            </a:lvl2pPr>
            <a:lvl3pPr marL="1149448" indent="0">
              <a:buNone/>
              <a:defRPr sz="3000"/>
            </a:lvl3pPr>
            <a:lvl4pPr marL="1724172" indent="0">
              <a:buNone/>
              <a:defRPr sz="2500"/>
            </a:lvl4pPr>
            <a:lvl5pPr marL="2298895" indent="0">
              <a:buNone/>
              <a:defRPr sz="2500"/>
            </a:lvl5pPr>
            <a:lvl6pPr marL="2873621" indent="0">
              <a:buNone/>
              <a:defRPr sz="2500"/>
            </a:lvl6pPr>
            <a:lvl7pPr marL="3448344" indent="0">
              <a:buNone/>
              <a:defRPr sz="2500"/>
            </a:lvl7pPr>
            <a:lvl8pPr marL="4023069" indent="0">
              <a:buNone/>
              <a:defRPr sz="2500"/>
            </a:lvl8pPr>
            <a:lvl9pPr marL="4597793" indent="0">
              <a:buNone/>
              <a:defRPr sz="2500"/>
            </a:lvl9pPr>
          </a:lstStyle>
          <a:p>
            <a:endParaRPr lang="en-US"/>
          </a:p>
        </p:txBody>
      </p:sp>
      <p:sp>
        <p:nvSpPr>
          <p:cNvPr id="4" name="Text Placeholder 3"/>
          <p:cNvSpPr>
            <a:spLocks noGrp="1"/>
          </p:cNvSpPr>
          <p:nvPr>
            <p:ph type="body" sz="half" idx="2"/>
          </p:nvPr>
        </p:nvSpPr>
        <p:spPr>
          <a:xfrm>
            <a:off x="2509203" y="5725161"/>
            <a:ext cx="7680960" cy="858519"/>
          </a:xfrm>
        </p:spPr>
        <p:txBody>
          <a:bodyPr/>
          <a:lstStyle>
            <a:lvl1pPr marL="0" indent="0">
              <a:buNone/>
              <a:defRPr sz="1800"/>
            </a:lvl1pPr>
            <a:lvl2pPr marL="574724" indent="0">
              <a:buNone/>
              <a:defRPr sz="1500"/>
            </a:lvl2pPr>
            <a:lvl3pPr marL="1149448" indent="0">
              <a:buNone/>
              <a:defRPr sz="1300"/>
            </a:lvl3pPr>
            <a:lvl4pPr marL="1724172" indent="0">
              <a:buNone/>
              <a:defRPr sz="1100"/>
            </a:lvl4pPr>
            <a:lvl5pPr marL="2298895" indent="0">
              <a:buNone/>
              <a:defRPr sz="1100"/>
            </a:lvl5pPr>
            <a:lvl6pPr marL="2873621" indent="0">
              <a:buNone/>
              <a:defRPr sz="1100"/>
            </a:lvl6pPr>
            <a:lvl7pPr marL="3448344" indent="0">
              <a:buNone/>
              <a:defRPr sz="1100"/>
            </a:lvl7pPr>
            <a:lvl8pPr marL="4023069" indent="0">
              <a:buNone/>
              <a:defRPr sz="1100"/>
            </a:lvl8pPr>
            <a:lvl9pPr marL="459779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33752997-1B9E-4EF2-B260-9EB38D81F553}" type="datetime1">
              <a:rPr lang="en-US" smtClean="0"/>
              <a:t>4/9/2026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02A2637-A5A3-49FA-B214-6E67543099EF}" type="slidenum">
              <a:rPr lang="en-US" smtClean="0"/>
              <a:t>‹#›</a:t>
            </a:fld>
            <a:endParaRPr lang="en-US"/>
          </a:p>
        </p:txBody>
      </p:sp>
    </p:spTree>
    <p:extLst>
      <p:ext uri="{BB962C8B-B14F-4D97-AF65-F5344CB8AC3E}">
        <p14:creationId xmlns:p14="http://schemas.microsoft.com/office/powerpoint/2010/main" val="41316001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41370E5-7D69-44CE-AE73-71BFC3B68EE4}" type="datetime1">
              <a:rPr lang="en-US" smtClean="0"/>
              <a:t>4/9/2026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2A2637-A5A3-49FA-B214-6E67543099EF}" type="slidenum">
              <a:rPr lang="en-US" smtClean="0"/>
              <a:t>‹#›</a:t>
            </a:fld>
            <a:endParaRPr lang="en-US"/>
          </a:p>
        </p:txBody>
      </p:sp>
    </p:spTree>
    <p:extLst>
      <p:ext uri="{BB962C8B-B14F-4D97-AF65-F5344CB8AC3E}">
        <p14:creationId xmlns:p14="http://schemas.microsoft.com/office/powerpoint/2010/main" val="16832098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81160" y="292948"/>
            <a:ext cx="2880360" cy="624162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40080" y="292948"/>
            <a:ext cx="8427720" cy="624162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CFF8B80-F83C-48AA-AA3F-63D37C1606D6}" type="datetime1">
              <a:rPr lang="en-US" smtClean="0"/>
              <a:t>4/9/2026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2A2637-A5A3-49FA-B214-6E67543099EF}" type="slidenum">
              <a:rPr lang="en-US" smtClean="0"/>
              <a:t>‹#›</a:t>
            </a:fld>
            <a:endParaRPr lang="en-US"/>
          </a:p>
        </p:txBody>
      </p:sp>
    </p:spTree>
    <p:extLst>
      <p:ext uri="{BB962C8B-B14F-4D97-AF65-F5344CB8AC3E}">
        <p14:creationId xmlns:p14="http://schemas.microsoft.com/office/powerpoint/2010/main" val="10111354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40080" y="292946"/>
            <a:ext cx="11521440" cy="1219200"/>
          </a:xfrm>
          <a:prstGeom prst="rect">
            <a:avLst/>
          </a:prstGeom>
        </p:spPr>
        <p:txBody>
          <a:bodyPr vert="horz" lIns="114945" tIns="57473" rIns="114945" bIns="57473" rtlCol="0" anchor="ctr">
            <a:normAutofit/>
          </a:bodyPr>
          <a:lstStyle/>
          <a:p>
            <a:r>
              <a:rPr lang="en-US"/>
              <a:t>Click to edit Master title style</a:t>
            </a:r>
          </a:p>
        </p:txBody>
      </p:sp>
      <p:sp>
        <p:nvSpPr>
          <p:cNvPr id="3" name="Text Placeholder 2"/>
          <p:cNvSpPr>
            <a:spLocks noGrp="1"/>
          </p:cNvSpPr>
          <p:nvPr>
            <p:ph type="body" idx="1"/>
          </p:nvPr>
        </p:nvSpPr>
        <p:spPr>
          <a:xfrm>
            <a:off x="640080" y="1706880"/>
            <a:ext cx="11521440" cy="4827694"/>
          </a:xfrm>
          <a:prstGeom prst="rect">
            <a:avLst/>
          </a:prstGeom>
        </p:spPr>
        <p:txBody>
          <a:bodyPr vert="horz" lIns="114945" tIns="57473" rIns="114945" bIns="57473"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40080" y="6780107"/>
            <a:ext cx="2987040" cy="389467"/>
          </a:xfrm>
          <a:prstGeom prst="rect">
            <a:avLst/>
          </a:prstGeom>
        </p:spPr>
        <p:txBody>
          <a:bodyPr vert="horz" lIns="114945" tIns="57473" rIns="114945" bIns="57473" rtlCol="0" anchor="ctr"/>
          <a:lstStyle>
            <a:lvl1pPr algn="l">
              <a:defRPr sz="1500">
                <a:solidFill>
                  <a:schemeClr val="tx1">
                    <a:tint val="75000"/>
                  </a:schemeClr>
                </a:solidFill>
              </a:defRPr>
            </a:lvl1pPr>
          </a:lstStyle>
          <a:p>
            <a:fld id="{0E5C8E2D-1657-4F9E-9BA7-8881C66FCBC2}" type="datetime1">
              <a:rPr lang="en-US" smtClean="0"/>
              <a:t>4/9/2026</a:t>
            </a:fld>
            <a:endParaRPr lang="en-US"/>
          </a:p>
        </p:txBody>
      </p:sp>
      <p:sp>
        <p:nvSpPr>
          <p:cNvPr id="5" name="Footer Placeholder 4"/>
          <p:cNvSpPr>
            <a:spLocks noGrp="1"/>
          </p:cNvSpPr>
          <p:nvPr>
            <p:ph type="ftr" sz="quarter" idx="3"/>
          </p:nvPr>
        </p:nvSpPr>
        <p:spPr>
          <a:xfrm>
            <a:off x="4373880" y="6780107"/>
            <a:ext cx="4053840" cy="389467"/>
          </a:xfrm>
          <a:prstGeom prst="rect">
            <a:avLst/>
          </a:prstGeom>
        </p:spPr>
        <p:txBody>
          <a:bodyPr vert="horz" lIns="114945" tIns="57473" rIns="114945" bIns="57473" rtlCol="0" anchor="ctr"/>
          <a:lstStyle>
            <a:lvl1pPr algn="ctr">
              <a:defRPr sz="15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9174480" y="6780107"/>
            <a:ext cx="2987040" cy="389467"/>
          </a:xfrm>
          <a:prstGeom prst="rect">
            <a:avLst/>
          </a:prstGeom>
        </p:spPr>
        <p:txBody>
          <a:bodyPr vert="horz" lIns="114945" tIns="57473" rIns="114945" bIns="57473" rtlCol="0" anchor="ctr"/>
          <a:lstStyle>
            <a:lvl1pPr algn="r">
              <a:defRPr sz="1500">
                <a:solidFill>
                  <a:schemeClr val="tx1">
                    <a:tint val="75000"/>
                  </a:schemeClr>
                </a:solidFill>
              </a:defRPr>
            </a:lvl1pPr>
          </a:lstStyle>
          <a:p>
            <a:fld id="{C02A2637-A5A3-49FA-B214-6E67543099EF}" type="slidenum">
              <a:rPr lang="en-US" smtClean="0"/>
              <a:t>‹#›</a:t>
            </a:fld>
            <a:endParaRPr lang="en-US"/>
          </a:p>
        </p:txBody>
      </p:sp>
    </p:spTree>
    <p:extLst>
      <p:ext uri="{BB962C8B-B14F-4D97-AF65-F5344CB8AC3E}">
        <p14:creationId xmlns:p14="http://schemas.microsoft.com/office/powerpoint/2010/main" val="6410387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1149448" rtl="0" eaLnBrk="1" latinLnBrk="0" hangingPunct="1">
        <a:spcBef>
          <a:spcPct val="0"/>
        </a:spcBef>
        <a:buNone/>
        <a:defRPr sz="5500" kern="1200">
          <a:solidFill>
            <a:schemeClr val="tx1"/>
          </a:solidFill>
          <a:latin typeface="+mj-lt"/>
          <a:ea typeface="+mj-ea"/>
          <a:cs typeface="+mj-cs"/>
        </a:defRPr>
      </a:lvl1pPr>
    </p:titleStyle>
    <p:bodyStyle>
      <a:lvl1pPr marL="431044" indent="-431044" algn="l" defTabSz="1149448" rtl="0" eaLnBrk="1" latinLnBrk="0" hangingPunct="1">
        <a:spcBef>
          <a:spcPct val="20000"/>
        </a:spcBef>
        <a:buFont typeface="Arial" pitchFamily="34" charset="0"/>
        <a:buChar char="•"/>
        <a:defRPr sz="3900" kern="1200">
          <a:solidFill>
            <a:schemeClr val="tx1"/>
          </a:solidFill>
          <a:latin typeface="+mn-lt"/>
          <a:ea typeface="+mn-ea"/>
          <a:cs typeface="+mn-cs"/>
        </a:defRPr>
      </a:lvl1pPr>
      <a:lvl2pPr marL="933926" indent="-359202" algn="l" defTabSz="1149448" rtl="0" eaLnBrk="1" latinLnBrk="0" hangingPunct="1">
        <a:spcBef>
          <a:spcPct val="20000"/>
        </a:spcBef>
        <a:buFont typeface="Arial" pitchFamily="34" charset="0"/>
        <a:buChar char="–"/>
        <a:defRPr sz="3500" kern="1200">
          <a:solidFill>
            <a:schemeClr val="tx1"/>
          </a:solidFill>
          <a:latin typeface="+mn-lt"/>
          <a:ea typeface="+mn-ea"/>
          <a:cs typeface="+mn-cs"/>
        </a:defRPr>
      </a:lvl2pPr>
      <a:lvl3pPr marL="1436810" indent="-287362" algn="l" defTabSz="1149448" rtl="0" eaLnBrk="1" latinLnBrk="0" hangingPunct="1">
        <a:spcBef>
          <a:spcPct val="20000"/>
        </a:spcBef>
        <a:buFont typeface="Arial" pitchFamily="34" charset="0"/>
        <a:buChar char="•"/>
        <a:defRPr sz="3000" kern="1200">
          <a:solidFill>
            <a:schemeClr val="tx1"/>
          </a:solidFill>
          <a:latin typeface="+mn-lt"/>
          <a:ea typeface="+mn-ea"/>
          <a:cs typeface="+mn-cs"/>
        </a:defRPr>
      </a:lvl3pPr>
      <a:lvl4pPr marL="2011534" indent="-287362" algn="l" defTabSz="1149448" rtl="0" eaLnBrk="1" latinLnBrk="0" hangingPunct="1">
        <a:spcBef>
          <a:spcPct val="20000"/>
        </a:spcBef>
        <a:buFont typeface="Arial" pitchFamily="34" charset="0"/>
        <a:buChar char="–"/>
        <a:defRPr sz="2500" kern="1200">
          <a:solidFill>
            <a:schemeClr val="tx1"/>
          </a:solidFill>
          <a:latin typeface="+mn-lt"/>
          <a:ea typeface="+mn-ea"/>
          <a:cs typeface="+mn-cs"/>
        </a:defRPr>
      </a:lvl4pPr>
      <a:lvl5pPr marL="2586258" indent="-287362" algn="l" defTabSz="1149448" rtl="0" eaLnBrk="1" latinLnBrk="0" hangingPunct="1">
        <a:spcBef>
          <a:spcPct val="20000"/>
        </a:spcBef>
        <a:buFont typeface="Arial" pitchFamily="34" charset="0"/>
        <a:buChar char="»"/>
        <a:defRPr sz="2500" kern="1200">
          <a:solidFill>
            <a:schemeClr val="tx1"/>
          </a:solidFill>
          <a:latin typeface="+mn-lt"/>
          <a:ea typeface="+mn-ea"/>
          <a:cs typeface="+mn-cs"/>
        </a:defRPr>
      </a:lvl5pPr>
      <a:lvl6pPr marL="3160983" indent="-287362" algn="l" defTabSz="1149448" rtl="0" eaLnBrk="1" latinLnBrk="0" hangingPunct="1">
        <a:spcBef>
          <a:spcPct val="20000"/>
        </a:spcBef>
        <a:buFont typeface="Arial" pitchFamily="34" charset="0"/>
        <a:buChar char="•"/>
        <a:defRPr sz="2500" kern="1200">
          <a:solidFill>
            <a:schemeClr val="tx1"/>
          </a:solidFill>
          <a:latin typeface="+mn-lt"/>
          <a:ea typeface="+mn-ea"/>
          <a:cs typeface="+mn-cs"/>
        </a:defRPr>
      </a:lvl6pPr>
      <a:lvl7pPr marL="3735707" indent="-287362" algn="l" defTabSz="1149448" rtl="0" eaLnBrk="1" latinLnBrk="0" hangingPunct="1">
        <a:spcBef>
          <a:spcPct val="20000"/>
        </a:spcBef>
        <a:buFont typeface="Arial" pitchFamily="34" charset="0"/>
        <a:buChar char="•"/>
        <a:defRPr sz="2500" kern="1200">
          <a:solidFill>
            <a:schemeClr val="tx1"/>
          </a:solidFill>
          <a:latin typeface="+mn-lt"/>
          <a:ea typeface="+mn-ea"/>
          <a:cs typeface="+mn-cs"/>
        </a:defRPr>
      </a:lvl7pPr>
      <a:lvl8pPr marL="4310430" indent="-287362" algn="l" defTabSz="1149448" rtl="0" eaLnBrk="1" latinLnBrk="0" hangingPunct="1">
        <a:spcBef>
          <a:spcPct val="20000"/>
        </a:spcBef>
        <a:buFont typeface="Arial" pitchFamily="34" charset="0"/>
        <a:buChar char="•"/>
        <a:defRPr sz="2500" kern="1200">
          <a:solidFill>
            <a:schemeClr val="tx1"/>
          </a:solidFill>
          <a:latin typeface="+mn-lt"/>
          <a:ea typeface="+mn-ea"/>
          <a:cs typeface="+mn-cs"/>
        </a:defRPr>
      </a:lvl8pPr>
      <a:lvl9pPr marL="4885155" indent="-287362" algn="l" defTabSz="1149448" rtl="0" eaLnBrk="1" latinLnBrk="0" hangingPunct="1">
        <a:spcBef>
          <a:spcPct val="20000"/>
        </a:spcBef>
        <a:buFont typeface="Arial" pitchFamily="34" charset="0"/>
        <a:buChar char="•"/>
        <a:defRPr sz="2500" kern="1200">
          <a:solidFill>
            <a:schemeClr val="tx1"/>
          </a:solidFill>
          <a:latin typeface="+mn-lt"/>
          <a:ea typeface="+mn-ea"/>
          <a:cs typeface="+mn-cs"/>
        </a:defRPr>
      </a:lvl9pPr>
    </p:bodyStyle>
    <p:otherStyle>
      <a:defPPr>
        <a:defRPr lang="en-US"/>
      </a:defPPr>
      <a:lvl1pPr marL="0" algn="l" defTabSz="1149448" rtl="0" eaLnBrk="1" latinLnBrk="0" hangingPunct="1">
        <a:defRPr sz="2300" kern="1200">
          <a:solidFill>
            <a:schemeClr val="tx1"/>
          </a:solidFill>
          <a:latin typeface="+mn-lt"/>
          <a:ea typeface="+mn-ea"/>
          <a:cs typeface="+mn-cs"/>
        </a:defRPr>
      </a:lvl1pPr>
      <a:lvl2pPr marL="574724" algn="l" defTabSz="1149448" rtl="0" eaLnBrk="1" latinLnBrk="0" hangingPunct="1">
        <a:defRPr sz="2300" kern="1200">
          <a:solidFill>
            <a:schemeClr val="tx1"/>
          </a:solidFill>
          <a:latin typeface="+mn-lt"/>
          <a:ea typeface="+mn-ea"/>
          <a:cs typeface="+mn-cs"/>
        </a:defRPr>
      </a:lvl2pPr>
      <a:lvl3pPr marL="1149448" algn="l" defTabSz="1149448" rtl="0" eaLnBrk="1" latinLnBrk="0" hangingPunct="1">
        <a:defRPr sz="2300" kern="1200">
          <a:solidFill>
            <a:schemeClr val="tx1"/>
          </a:solidFill>
          <a:latin typeface="+mn-lt"/>
          <a:ea typeface="+mn-ea"/>
          <a:cs typeface="+mn-cs"/>
        </a:defRPr>
      </a:lvl3pPr>
      <a:lvl4pPr marL="1724172" algn="l" defTabSz="1149448" rtl="0" eaLnBrk="1" latinLnBrk="0" hangingPunct="1">
        <a:defRPr sz="2300" kern="1200">
          <a:solidFill>
            <a:schemeClr val="tx1"/>
          </a:solidFill>
          <a:latin typeface="+mn-lt"/>
          <a:ea typeface="+mn-ea"/>
          <a:cs typeface="+mn-cs"/>
        </a:defRPr>
      </a:lvl4pPr>
      <a:lvl5pPr marL="2298895" algn="l" defTabSz="1149448" rtl="0" eaLnBrk="1" latinLnBrk="0" hangingPunct="1">
        <a:defRPr sz="2300" kern="1200">
          <a:solidFill>
            <a:schemeClr val="tx1"/>
          </a:solidFill>
          <a:latin typeface="+mn-lt"/>
          <a:ea typeface="+mn-ea"/>
          <a:cs typeface="+mn-cs"/>
        </a:defRPr>
      </a:lvl5pPr>
      <a:lvl6pPr marL="2873621" algn="l" defTabSz="1149448" rtl="0" eaLnBrk="1" latinLnBrk="0" hangingPunct="1">
        <a:defRPr sz="2300" kern="1200">
          <a:solidFill>
            <a:schemeClr val="tx1"/>
          </a:solidFill>
          <a:latin typeface="+mn-lt"/>
          <a:ea typeface="+mn-ea"/>
          <a:cs typeface="+mn-cs"/>
        </a:defRPr>
      </a:lvl6pPr>
      <a:lvl7pPr marL="3448344" algn="l" defTabSz="1149448" rtl="0" eaLnBrk="1" latinLnBrk="0" hangingPunct="1">
        <a:defRPr sz="2300" kern="1200">
          <a:solidFill>
            <a:schemeClr val="tx1"/>
          </a:solidFill>
          <a:latin typeface="+mn-lt"/>
          <a:ea typeface="+mn-ea"/>
          <a:cs typeface="+mn-cs"/>
        </a:defRPr>
      </a:lvl7pPr>
      <a:lvl8pPr marL="4023069" algn="l" defTabSz="1149448" rtl="0" eaLnBrk="1" latinLnBrk="0" hangingPunct="1">
        <a:defRPr sz="2300" kern="1200">
          <a:solidFill>
            <a:schemeClr val="tx1"/>
          </a:solidFill>
          <a:latin typeface="+mn-lt"/>
          <a:ea typeface="+mn-ea"/>
          <a:cs typeface="+mn-cs"/>
        </a:defRPr>
      </a:lvl8pPr>
      <a:lvl9pPr marL="4597793" algn="l" defTabSz="1149448" rtl="0" eaLnBrk="1" latinLnBrk="0" hangingPunct="1">
        <a:defRPr sz="23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12801600" cy="1600199"/>
          </a:xfrm>
          <a:solidFill>
            <a:schemeClr val="tx2">
              <a:lumMod val="60000"/>
              <a:lumOff val="40000"/>
            </a:schemeClr>
          </a:solidFill>
        </p:spPr>
        <p:txBody>
          <a:bodyPr>
            <a:noAutofit/>
          </a:bodyPr>
          <a:lstStyle/>
          <a:p>
            <a:r>
              <a:rPr lang="en-US" sz="3900" b="1" dirty="0">
                <a:solidFill>
                  <a:schemeClr val="bg1"/>
                </a:solidFill>
                <a:latin typeface="Times New Roman" pitchFamily="18" charset="0"/>
                <a:cs typeface="Times New Roman" pitchFamily="18" charset="0"/>
              </a:rPr>
              <a:t>Hybrid Quantum </a:t>
            </a:r>
            <a:r>
              <a:rPr lang="en-US" sz="3900" b="1">
                <a:solidFill>
                  <a:schemeClr val="bg1"/>
                </a:solidFill>
                <a:latin typeface="Times New Roman" pitchFamily="18" charset="0"/>
                <a:cs typeface="Times New Roman" pitchFamily="18" charset="0"/>
              </a:rPr>
              <a:t>Secure Framework( ABLKM + BB84)</a:t>
            </a:r>
            <a:endParaRPr lang="en-US" sz="3900" b="1" dirty="0">
              <a:solidFill>
                <a:schemeClr val="bg1"/>
              </a:solidFill>
              <a:latin typeface="Times New Roman" pitchFamily="18" charset="0"/>
              <a:cs typeface="Times New Roman" pitchFamily="18" charset="0"/>
            </a:endParaRPr>
          </a:p>
        </p:txBody>
      </p:sp>
      <p:sp>
        <p:nvSpPr>
          <p:cNvPr id="3" name="Subtitle 2"/>
          <p:cNvSpPr>
            <a:spLocks noGrp="1"/>
          </p:cNvSpPr>
          <p:nvPr>
            <p:ph type="subTitle" idx="1"/>
          </p:nvPr>
        </p:nvSpPr>
        <p:spPr>
          <a:xfrm>
            <a:off x="2026920" y="3088640"/>
            <a:ext cx="8961120" cy="3982720"/>
          </a:xfrm>
        </p:spPr>
        <p:txBody>
          <a:bodyPr>
            <a:normAutofit fontScale="55000" lnSpcReduction="20000"/>
          </a:bodyPr>
          <a:lstStyle/>
          <a:p>
            <a:r>
              <a:rPr lang="en-US" sz="4400" dirty="0" err="1">
                <a:solidFill>
                  <a:schemeClr val="accent1">
                    <a:lumMod val="50000"/>
                  </a:schemeClr>
                </a:solidFill>
                <a:latin typeface="Times New Roman" pitchFamily="18" charset="0"/>
                <a:cs typeface="Times New Roman" pitchFamily="18" charset="0"/>
              </a:rPr>
              <a:t>M.Tech</a:t>
            </a:r>
            <a:r>
              <a:rPr lang="en-US" sz="4400" dirty="0">
                <a:solidFill>
                  <a:schemeClr val="accent1">
                    <a:lumMod val="50000"/>
                  </a:schemeClr>
                </a:solidFill>
                <a:latin typeface="Times New Roman" pitchFamily="18" charset="0"/>
                <a:cs typeface="Times New Roman" pitchFamily="18" charset="0"/>
              </a:rPr>
              <a:t> Project Work Review-II</a:t>
            </a:r>
          </a:p>
          <a:p>
            <a:r>
              <a:rPr lang="en-US" sz="4400" dirty="0">
                <a:solidFill>
                  <a:schemeClr val="accent1">
                    <a:lumMod val="50000"/>
                  </a:schemeClr>
                </a:solidFill>
                <a:latin typeface="Times New Roman" pitchFamily="18" charset="0"/>
                <a:cs typeface="Times New Roman" pitchFamily="18" charset="0"/>
              </a:rPr>
              <a:t> Presented by</a:t>
            </a:r>
          </a:p>
          <a:p>
            <a:endParaRPr lang="en-US" sz="4400" dirty="0">
              <a:solidFill>
                <a:schemeClr val="accent1">
                  <a:lumMod val="50000"/>
                </a:schemeClr>
              </a:solidFill>
              <a:latin typeface="Times New Roman" pitchFamily="18" charset="0"/>
              <a:cs typeface="Times New Roman" pitchFamily="18" charset="0"/>
            </a:endParaRPr>
          </a:p>
          <a:p>
            <a:r>
              <a:rPr lang="en-US" sz="4400" dirty="0">
                <a:solidFill>
                  <a:schemeClr val="accent1">
                    <a:lumMod val="50000"/>
                  </a:schemeClr>
                </a:solidFill>
                <a:latin typeface="Times New Roman" pitchFamily="18" charset="0"/>
                <a:cs typeface="Times New Roman" pitchFamily="18" charset="0"/>
              </a:rPr>
              <a:t>Parth Anantrao Gawande (25MCS1021)</a:t>
            </a:r>
          </a:p>
          <a:p>
            <a:r>
              <a:rPr lang="en-US" sz="4400" dirty="0" err="1">
                <a:solidFill>
                  <a:schemeClr val="accent1">
                    <a:lumMod val="50000"/>
                  </a:schemeClr>
                </a:solidFill>
                <a:latin typeface="Times New Roman" pitchFamily="18" charset="0"/>
                <a:cs typeface="Times New Roman" pitchFamily="18" charset="0"/>
              </a:rPr>
              <a:t>M.Tech</a:t>
            </a:r>
            <a:r>
              <a:rPr lang="en-US" sz="4400" dirty="0">
                <a:solidFill>
                  <a:schemeClr val="accent1">
                    <a:lumMod val="50000"/>
                  </a:schemeClr>
                </a:solidFill>
                <a:latin typeface="Times New Roman" pitchFamily="18" charset="0"/>
                <a:cs typeface="Times New Roman" pitchFamily="18" charset="0"/>
              </a:rPr>
              <a:t> Computer Science and Engineering </a:t>
            </a:r>
          </a:p>
          <a:p>
            <a:r>
              <a:rPr lang="en-US" sz="4400" dirty="0">
                <a:solidFill>
                  <a:schemeClr val="accent1">
                    <a:lumMod val="50000"/>
                  </a:schemeClr>
                </a:solidFill>
                <a:latin typeface="Times New Roman" pitchFamily="18" charset="0"/>
                <a:cs typeface="Times New Roman" pitchFamily="18" charset="0"/>
              </a:rPr>
              <a:t>Under the Guidance of</a:t>
            </a:r>
          </a:p>
          <a:p>
            <a:r>
              <a:rPr lang="en-US" sz="4400" dirty="0">
                <a:solidFill>
                  <a:schemeClr val="accent1">
                    <a:lumMod val="50000"/>
                  </a:schemeClr>
                </a:solidFill>
                <a:latin typeface="Times New Roman" pitchFamily="18" charset="0"/>
                <a:cs typeface="Times New Roman" pitchFamily="18" charset="0"/>
              </a:rPr>
              <a:t>Dr. Nisha V. M.</a:t>
            </a:r>
          </a:p>
          <a:p>
            <a:r>
              <a:rPr lang="en-US" sz="4400" dirty="0">
                <a:solidFill>
                  <a:schemeClr val="accent1">
                    <a:lumMod val="50000"/>
                  </a:schemeClr>
                </a:solidFill>
                <a:latin typeface="Times New Roman" pitchFamily="18" charset="0"/>
                <a:cs typeface="Times New Roman" pitchFamily="18" charset="0"/>
              </a:rPr>
              <a:t>Associate Professor</a:t>
            </a:r>
          </a:p>
          <a:p>
            <a:r>
              <a:rPr lang="en-US" sz="4400" dirty="0">
                <a:solidFill>
                  <a:schemeClr val="accent1">
                    <a:lumMod val="50000"/>
                  </a:schemeClr>
                </a:solidFill>
                <a:latin typeface="Times New Roman" pitchFamily="18" charset="0"/>
                <a:cs typeface="Times New Roman" pitchFamily="18" charset="0"/>
              </a:rPr>
              <a:t>School of Computer Science and Engineering</a:t>
            </a:r>
          </a:p>
          <a:p>
            <a:r>
              <a:rPr lang="en-US" sz="4400" dirty="0">
                <a:solidFill>
                  <a:schemeClr val="accent1">
                    <a:lumMod val="50000"/>
                  </a:schemeClr>
                </a:solidFill>
                <a:latin typeface="Times New Roman" pitchFamily="18" charset="0"/>
                <a:cs typeface="Times New Roman" pitchFamily="18" charset="0"/>
              </a:rPr>
              <a:t>Vellore Institute of Technology, Chennai</a:t>
            </a:r>
            <a:r>
              <a:rPr lang="en-US" dirty="0"/>
              <a:t>.</a:t>
            </a:r>
          </a:p>
          <a:p>
            <a:endParaRPr lang="en-US" dirty="0"/>
          </a:p>
        </p:txBody>
      </p:sp>
      <p:pic>
        <p:nvPicPr>
          <p:cNvPr id="1026" name="Picture 2" descr="VIT Logo">
            <a:extLst>
              <a:ext uri="{FF2B5EF4-FFF2-40B4-BE49-F238E27FC236}">
                <a16:creationId xmlns:a16="http://schemas.microsoft.com/office/drawing/2014/main" id="{3480622C-94EE-8879-D91B-FCEDA7BB9B6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042591" y="1831079"/>
            <a:ext cx="4716417" cy="12896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998431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02A2637-A5A3-49FA-B214-6E67543099EF}" type="slidenum">
              <a:rPr lang="en-US" smtClean="0"/>
              <a:t>2</a:t>
            </a:fld>
            <a:endParaRPr lang="en-US" dirty="0"/>
          </a:p>
        </p:txBody>
      </p:sp>
      <p:sp>
        <p:nvSpPr>
          <p:cNvPr id="14" name="Title 1"/>
          <p:cNvSpPr>
            <a:spLocks noGrp="1"/>
          </p:cNvSpPr>
          <p:nvPr>
            <p:ph type="title"/>
          </p:nvPr>
        </p:nvSpPr>
        <p:spPr>
          <a:xfrm>
            <a:off x="0" y="0"/>
            <a:ext cx="12801600" cy="1512146"/>
          </a:xfrm>
          <a:solidFill>
            <a:schemeClr val="tx2">
              <a:lumMod val="60000"/>
              <a:lumOff val="40000"/>
            </a:schemeClr>
          </a:solidFill>
        </p:spPr>
        <p:txBody>
          <a:bodyPr/>
          <a:lstStyle/>
          <a:p>
            <a:r>
              <a:rPr lang="en-US" sz="3700" b="1" dirty="0">
                <a:solidFill>
                  <a:schemeClr val="bg1"/>
                </a:solidFill>
                <a:latin typeface="Times New Roman" pitchFamily="18" charset="0"/>
                <a:cs typeface="Times New Roman" pitchFamily="18" charset="0"/>
              </a:rPr>
              <a:t>CONTENTS</a:t>
            </a:r>
          </a:p>
        </p:txBody>
      </p:sp>
      <p:sp>
        <p:nvSpPr>
          <p:cNvPr id="5" name="Content Placeholder 2"/>
          <p:cNvSpPr txBox="1">
            <a:spLocks/>
          </p:cNvSpPr>
          <p:nvPr/>
        </p:nvSpPr>
        <p:spPr>
          <a:xfrm>
            <a:off x="640080" y="1706880"/>
            <a:ext cx="11521440" cy="4827694"/>
          </a:xfrm>
          <a:prstGeom prst="rect">
            <a:avLst/>
          </a:prstGeom>
        </p:spPr>
        <p:txBody>
          <a:bodyPr vert="horz" lIns="114945" tIns="57473" rIns="114945" bIns="57473" rtlCol="0">
            <a:normAutofit fontScale="85000" lnSpcReduction="20000"/>
          </a:bodyPr>
          <a:lstStyle>
            <a:lvl1pPr marL="431044" indent="-431044" algn="l" defTabSz="1149448" rtl="0" eaLnBrk="1" latinLnBrk="0" hangingPunct="1">
              <a:spcBef>
                <a:spcPct val="20000"/>
              </a:spcBef>
              <a:buFont typeface="Arial" pitchFamily="34" charset="0"/>
              <a:buChar char="•"/>
              <a:defRPr sz="3900" kern="1200">
                <a:solidFill>
                  <a:schemeClr val="tx1"/>
                </a:solidFill>
                <a:latin typeface="+mn-lt"/>
                <a:ea typeface="+mn-ea"/>
                <a:cs typeface="+mn-cs"/>
              </a:defRPr>
            </a:lvl1pPr>
            <a:lvl2pPr marL="933926" indent="-359202" algn="l" defTabSz="1149448" rtl="0" eaLnBrk="1" latinLnBrk="0" hangingPunct="1">
              <a:spcBef>
                <a:spcPct val="20000"/>
              </a:spcBef>
              <a:buFont typeface="Arial" pitchFamily="34" charset="0"/>
              <a:buChar char="–"/>
              <a:defRPr sz="3500" kern="1200">
                <a:solidFill>
                  <a:schemeClr val="tx1"/>
                </a:solidFill>
                <a:latin typeface="+mn-lt"/>
                <a:ea typeface="+mn-ea"/>
                <a:cs typeface="+mn-cs"/>
              </a:defRPr>
            </a:lvl2pPr>
            <a:lvl3pPr marL="1436810" indent="-287362" algn="l" defTabSz="1149448" rtl="0" eaLnBrk="1" latinLnBrk="0" hangingPunct="1">
              <a:spcBef>
                <a:spcPct val="20000"/>
              </a:spcBef>
              <a:buFont typeface="Arial" pitchFamily="34" charset="0"/>
              <a:buChar char="•"/>
              <a:defRPr sz="3000" kern="1200">
                <a:solidFill>
                  <a:schemeClr val="tx1"/>
                </a:solidFill>
                <a:latin typeface="+mn-lt"/>
                <a:ea typeface="+mn-ea"/>
                <a:cs typeface="+mn-cs"/>
              </a:defRPr>
            </a:lvl3pPr>
            <a:lvl4pPr marL="2011534" indent="-287362" algn="l" defTabSz="1149448" rtl="0" eaLnBrk="1" latinLnBrk="0" hangingPunct="1">
              <a:spcBef>
                <a:spcPct val="20000"/>
              </a:spcBef>
              <a:buFont typeface="Arial" pitchFamily="34" charset="0"/>
              <a:buChar char="–"/>
              <a:defRPr sz="2500" kern="1200">
                <a:solidFill>
                  <a:schemeClr val="tx1"/>
                </a:solidFill>
                <a:latin typeface="+mn-lt"/>
                <a:ea typeface="+mn-ea"/>
                <a:cs typeface="+mn-cs"/>
              </a:defRPr>
            </a:lvl4pPr>
            <a:lvl5pPr marL="2586258" indent="-287362" algn="l" defTabSz="1149448" rtl="0" eaLnBrk="1" latinLnBrk="0" hangingPunct="1">
              <a:spcBef>
                <a:spcPct val="20000"/>
              </a:spcBef>
              <a:buFont typeface="Arial" pitchFamily="34" charset="0"/>
              <a:buChar char="»"/>
              <a:defRPr sz="2500" kern="1200">
                <a:solidFill>
                  <a:schemeClr val="tx1"/>
                </a:solidFill>
                <a:latin typeface="+mn-lt"/>
                <a:ea typeface="+mn-ea"/>
                <a:cs typeface="+mn-cs"/>
              </a:defRPr>
            </a:lvl5pPr>
            <a:lvl6pPr marL="3160983" indent="-287362" algn="l" defTabSz="1149448" rtl="0" eaLnBrk="1" latinLnBrk="0" hangingPunct="1">
              <a:spcBef>
                <a:spcPct val="20000"/>
              </a:spcBef>
              <a:buFont typeface="Arial" pitchFamily="34" charset="0"/>
              <a:buChar char="•"/>
              <a:defRPr sz="2500" kern="1200">
                <a:solidFill>
                  <a:schemeClr val="tx1"/>
                </a:solidFill>
                <a:latin typeface="+mn-lt"/>
                <a:ea typeface="+mn-ea"/>
                <a:cs typeface="+mn-cs"/>
              </a:defRPr>
            </a:lvl6pPr>
            <a:lvl7pPr marL="3735707" indent="-287362" algn="l" defTabSz="1149448" rtl="0" eaLnBrk="1" latinLnBrk="0" hangingPunct="1">
              <a:spcBef>
                <a:spcPct val="20000"/>
              </a:spcBef>
              <a:buFont typeface="Arial" pitchFamily="34" charset="0"/>
              <a:buChar char="•"/>
              <a:defRPr sz="2500" kern="1200">
                <a:solidFill>
                  <a:schemeClr val="tx1"/>
                </a:solidFill>
                <a:latin typeface="+mn-lt"/>
                <a:ea typeface="+mn-ea"/>
                <a:cs typeface="+mn-cs"/>
              </a:defRPr>
            </a:lvl7pPr>
            <a:lvl8pPr marL="4310430" indent="-287362" algn="l" defTabSz="1149448" rtl="0" eaLnBrk="1" latinLnBrk="0" hangingPunct="1">
              <a:spcBef>
                <a:spcPct val="20000"/>
              </a:spcBef>
              <a:buFont typeface="Arial" pitchFamily="34" charset="0"/>
              <a:buChar char="•"/>
              <a:defRPr sz="2500" kern="1200">
                <a:solidFill>
                  <a:schemeClr val="tx1"/>
                </a:solidFill>
                <a:latin typeface="+mn-lt"/>
                <a:ea typeface="+mn-ea"/>
                <a:cs typeface="+mn-cs"/>
              </a:defRPr>
            </a:lvl8pPr>
            <a:lvl9pPr marL="4885155" indent="-287362" algn="l" defTabSz="1149448" rtl="0" eaLnBrk="1" latinLnBrk="0" hangingPunct="1">
              <a:spcBef>
                <a:spcPct val="20000"/>
              </a:spcBef>
              <a:buFont typeface="Arial" pitchFamily="34" charset="0"/>
              <a:buChar char="•"/>
              <a:defRPr sz="2500" kern="1200">
                <a:solidFill>
                  <a:schemeClr val="tx1"/>
                </a:solidFill>
                <a:latin typeface="+mn-lt"/>
                <a:ea typeface="+mn-ea"/>
                <a:cs typeface="+mn-cs"/>
              </a:defRPr>
            </a:lvl9pPr>
          </a:lstStyle>
          <a:p>
            <a:pPr fontAlgn="ctr">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ABSTRACT</a:t>
            </a:r>
          </a:p>
          <a:p>
            <a:pPr fontAlgn="ctr">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INTRODUCTION</a:t>
            </a:r>
          </a:p>
          <a:p>
            <a:pPr fontAlgn="ctr">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LITERATURE SURVEY</a:t>
            </a:r>
          </a:p>
          <a:p>
            <a:pPr fontAlgn="ctr">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RESEARCH GAPS </a:t>
            </a:r>
          </a:p>
          <a:p>
            <a:pPr fontAlgn="ctr">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OBJECTIVES</a:t>
            </a:r>
          </a:p>
          <a:p>
            <a:pPr fontAlgn="ctr">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MODULE IDENTIFICATION</a:t>
            </a:r>
          </a:p>
          <a:p>
            <a:pPr fontAlgn="ctr">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SYSTEM ARCHITECTURE</a:t>
            </a:r>
          </a:p>
          <a:p>
            <a:pPr fontAlgn="ctr">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DEVELOPMENT &amp; INTEGRATION</a:t>
            </a:r>
          </a:p>
          <a:p>
            <a:pPr fontAlgn="ctr">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PROTOTYPE / RESEARCH FRAMEWORK</a:t>
            </a:r>
          </a:p>
          <a:p>
            <a:pPr fontAlgn="ctr">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OUTCOME</a:t>
            </a:r>
          </a:p>
          <a:p>
            <a:pPr fontAlgn="ctr">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RESULTS</a:t>
            </a:r>
          </a:p>
          <a:p>
            <a:pPr fontAlgn="ctr">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TIMELINE / GANTT CHART</a:t>
            </a:r>
          </a:p>
          <a:p>
            <a:pPr fontAlgn="ctr">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REFERENCES</a:t>
            </a:r>
          </a:p>
        </p:txBody>
      </p:sp>
    </p:spTree>
    <p:extLst>
      <p:ext uri="{BB962C8B-B14F-4D97-AF65-F5344CB8AC3E}">
        <p14:creationId xmlns:p14="http://schemas.microsoft.com/office/powerpoint/2010/main" val="24901540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801600" cy="1512146"/>
          </a:xfrm>
          <a:solidFill>
            <a:schemeClr val="tx2">
              <a:lumMod val="60000"/>
              <a:lumOff val="40000"/>
            </a:schemeClr>
          </a:solidFill>
        </p:spPr>
        <p:txBody>
          <a:bodyPr>
            <a:normAutofit/>
          </a:bodyPr>
          <a:lstStyle/>
          <a:p>
            <a:r>
              <a:rPr lang="en-US" sz="3700" b="1" dirty="0">
                <a:solidFill>
                  <a:schemeClr val="bg1"/>
                </a:solidFill>
                <a:latin typeface="Times New Roman" pitchFamily="18" charset="0"/>
                <a:cs typeface="Times New Roman" pitchFamily="18" charset="0"/>
              </a:rPr>
              <a:t>1.ABSTRACT</a:t>
            </a:r>
          </a:p>
        </p:txBody>
      </p:sp>
      <p:sp>
        <p:nvSpPr>
          <p:cNvPr id="3" name="Content Placeholder 2"/>
          <p:cNvSpPr>
            <a:spLocks noGrp="1"/>
          </p:cNvSpPr>
          <p:nvPr>
            <p:ph idx="1"/>
          </p:nvPr>
        </p:nvSpPr>
        <p:spPr>
          <a:xfrm>
            <a:off x="548640" y="1676400"/>
            <a:ext cx="11704320" cy="4980094"/>
          </a:xfrm>
        </p:spPr>
        <p:txBody>
          <a:bodyPr>
            <a:normAutofit fontScale="25000" lnSpcReduction="20000"/>
          </a:bodyPr>
          <a:lstStyle/>
          <a:p>
            <a:r>
              <a:rPr lang="en-US" sz="9600" b="1" dirty="0">
                <a:latin typeface="Times New Roman" panose="02020603050405020304" pitchFamily="18" charset="0"/>
                <a:cs typeface="Times New Roman" panose="02020603050405020304" pitchFamily="18" charset="0"/>
              </a:rPr>
              <a:t>Problem:</a:t>
            </a:r>
            <a:r>
              <a:rPr lang="en-US" sz="9600" dirty="0">
                <a:latin typeface="Times New Roman" panose="02020603050405020304" pitchFamily="18" charset="0"/>
                <a:cs typeface="Times New Roman" panose="02020603050405020304" pitchFamily="18" charset="0"/>
              </a:rPr>
              <a:t> Traditional cryptography faces unprecedented vulnerabilities due to the rapid advancement of quantum computing. Classical encryption algorithms, relying on prime factorization, will inevitably be broken by quantum attacks, severely threatening global data security.</a:t>
            </a:r>
          </a:p>
          <a:p>
            <a:r>
              <a:rPr lang="en-US" sz="9600" b="1" dirty="0">
                <a:latin typeface="Times New Roman" panose="02020603050405020304" pitchFamily="18" charset="0"/>
                <a:cs typeface="Times New Roman" panose="02020603050405020304" pitchFamily="18" charset="0"/>
              </a:rPr>
              <a:t>Methodology:</a:t>
            </a:r>
            <a:r>
              <a:rPr lang="en-US" sz="9600" dirty="0">
                <a:latin typeface="Times New Roman" panose="02020603050405020304" pitchFamily="18" charset="0"/>
                <a:cs typeface="Times New Roman" panose="02020603050405020304" pitchFamily="18" charset="0"/>
              </a:rPr>
              <a:t> To counter this, we propose a Hybrid Cryptographic Framework integrating the Quantum Key Distribution (QKD) BB84 protocol with a novel post-quantum algorithm: Angular-Bucket Lattice Key Mapping (ABLKM). In phase one, the BB84 protocol leverages photon polarization and quantum mechanics to establish an unbreakable 256-bit AES key. This key securely transmits a master Lattice Reference Point (Pref). In phase two, the ABLKM algorithm replaces vulnerable traditional databases. It anchors encrypted data to precise geometric coordinates on a 2D modular lattice grid. Using modulo arithmetic and trigonometry, encrypted data is dynamically distributed into 360-degree angular buckets based on its geometric relation to the secret Pref.</a:t>
            </a:r>
          </a:p>
          <a:p>
            <a:r>
              <a:rPr lang="en-US" sz="9600" b="1" dirty="0">
                <a:latin typeface="Times New Roman" panose="02020603050405020304" pitchFamily="18" charset="0"/>
                <a:cs typeface="Times New Roman" panose="02020603050405020304" pitchFamily="18" charset="0"/>
              </a:rPr>
              <a:t>Expected Outcome:</a:t>
            </a:r>
            <a:r>
              <a:rPr lang="en-US" sz="9600" dirty="0">
                <a:latin typeface="Times New Roman" panose="02020603050405020304" pitchFamily="18" charset="0"/>
                <a:cs typeface="Times New Roman" panose="02020603050405020304" pitchFamily="18" charset="0"/>
              </a:rPr>
              <a:t> This system delivers a highly scalable, mathematically provable defense mechanism. Even if a database is breached, attackers cannot decrypt the payload without the quantum-secured Pref, ensuring robust, future-proof data privacy against all classical or quantum threats.</a:t>
            </a:r>
          </a:p>
          <a:p>
            <a:pPr marL="0" indent="0">
              <a:buNone/>
            </a:pPr>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C02A2637-A5A3-49FA-B214-6E67543099EF}" type="slidenum">
              <a:rPr lang="en-US" smtClean="0"/>
              <a:t>3</a:t>
            </a:fld>
            <a:endParaRPr lang="en-US"/>
          </a:p>
        </p:txBody>
      </p:sp>
    </p:spTree>
    <p:extLst>
      <p:ext uri="{BB962C8B-B14F-4D97-AF65-F5344CB8AC3E}">
        <p14:creationId xmlns:p14="http://schemas.microsoft.com/office/powerpoint/2010/main" val="7359432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801600" cy="1512146"/>
          </a:xfrm>
          <a:solidFill>
            <a:schemeClr val="tx2">
              <a:lumMod val="60000"/>
              <a:lumOff val="40000"/>
            </a:schemeClr>
          </a:solidFill>
        </p:spPr>
        <p:txBody>
          <a:bodyPr>
            <a:normAutofit/>
          </a:bodyPr>
          <a:lstStyle/>
          <a:p>
            <a:r>
              <a:rPr lang="en-US" sz="3900" b="1" dirty="0">
                <a:solidFill>
                  <a:schemeClr val="bg1"/>
                </a:solidFill>
                <a:latin typeface="Times New Roman" pitchFamily="18" charset="0"/>
                <a:cs typeface="Times New Roman" pitchFamily="18" charset="0"/>
              </a:rPr>
              <a:t>2. INTRODUCTION</a:t>
            </a:r>
          </a:p>
        </p:txBody>
      </p:sp>
      <p:sp>
        <p:nvSpPr>
          <p:cNvPr id="3" name="Content Placeholder 2"/>
          <p:cNvSpPr>
            <a:spLocks noGrp="1"/>
          </p:cNvSpPr>
          <p:nvPr>
            <p:ph idx="1"/>
          </p:nvPr>
        </p:nvSpPr>
        <p:spPr/>
        <p:txBody>
          <a:bodyPr>
            <a:normAutofit fontScale="62500" lnSpcReduction="20000"/>
          </a:bodyPr>
          <a:lstStyle/>
          <a:p>
            <a:r>
              <a:rPr lang="en-US" b="1" dirty="0">
                <a:latin typeface="Times New Roman" panose="02020603050405020304" pitchFamily="18" charset="0"/>
                <a:cs typeface="Times New Roman" panose="02020603050405020304" pitchFamily="18" charset="0"/>
              </a:rPr>
              <a:t>Overview of Problem Domain:</a:t>
            </a:r>
            <a:r>
              <a:rPr lang="en-US" dirty="0">
                <a:latin typeface="Times New Roman" panose="02020603050405020304" pitchFamily="18" charset="0"/>
                <a:cs typeface="Times New Roman" panose="02020603050405020304" pitchFamily="18" charset="0"/>
              </a:rPr>
              <a:t> The rapid evolution of quantum computing fundamentally threatens modern cryptographic systems. Traditional algorithms like RSA and ECC rely on mathematical complexities that are structurally vulnerable to quantum attacks, severely endangering global data privacy and secure communications.</a:t>
            </a:r>
          </a:p>
          <a:p>
            <a:r>
              <a:rPr lang="en-US" b="1" dirty="0">
                <a:latin typeface="Times New Roman" panose="02020603050405020304" pitchFamily="18" charset="0"/>
                <a:cs typeface="Times New Roman" panose="02020603050405020304" pitchFamily="18" charset="0"/>
              </a:rPr>
              <a:t>Motivation:</a:t>
            </a:r>
            <a:r>
              <a:rPr lang="en-US" dirty="0">
                <a:latin typeface="Times New Roman" panose="02020603050405020304" pitchFamily="18" charset="0"/>
                <a:cs typeface="Times New Roman" panose="02020603050405020304" pitchFamily="18" charset="0"/>
              </a:rPr>
              <a:t> This impending computational shift creates an urgent necessity to transition away from classical encryption. Our motivation is to preemptively secure sensitive data architectures against both ongoing classical database breaches and inevitable quantum decryption capabilities.</a:t>
            </a:r>
          </a:p>
          <a:p>
            <a:r>
              <a:rPr lang="en-US" b="1" dirty="0">
                <a:latin typeface="Times New Roman" panose="02020603050405020304" pitchFamily="18" charset="0"/>
                <a:cs typeface="Times New Roman" panose="02020603050405020304" pitchFamily="18" charset="0"/>
              </a:rPr>
              <a:t>Objectives:</a:t>
            </a:r>
            <a:r>
              <a:rPr lang="en-US" dirty="0">
                <a:latin typeface="Times New Roman" panose="02020603050405020304" pitchFamily="18" charset="0"/>
                <a:cs typeface="Times New Roman" panose="02020603050405020304" pitchFamily="18" charset="0"/>
              </a:rPr>
              <a:t> The primary objective is to design and implement a unbreakable Hybrid Cryptographic Framework. This project aims to synthesize the physics-based security of Quantum Key Distribution (BB84 protocol) with a novel, post-quantum geometric algorithm called Angular-Bucket Lattice Key Mapping (ABLKM). Ultimately, this system seeks to deliver a highly scalable, mathematically proven defense mechanism for future-proof data storage.</a:t>
            </a:r>
          </a:p>
          <a:p>
            <a:pPr marL="0" indent="0">
              <a:buNone/>
            </a:pPr>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C02A2637-A5A3-49FA-B214-6E67543099EF}" type="slidenum">
              <a:rPr lang="en-US" smtClean="0"/>
              <a:t>4</a:t>
            </a:fld>
            <a:endParaRPr lang="en-US"/>
          </a:p>
        </p:txBody>
      </p:sp>
    </p:spTree>
    <p:extLst>
      <p:ext uri="{BB962C8B-B14F-4D97-AF65-F5344CB8AC3E}">
        <p14:creationId xmlns:p14="http://schemas.microsoft.com/office/powerpoint/2010/main" val="29739748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801600" cy="1512146"/>
          </a:xfrm>
          <a:solidFill>
            <a:schemeClr val="tx2">
              <a:lumMod val="60000"/>
              <a:lumOff val="40000"/>
            </a:schemeClr>
          </a:solidFill>
        </p:spPr>
        <p:txBody>
          <a:bodyPr>
            <a:normAutofit/>
          </a:bodyPr>
          <a:lstStyle/>
          <a:p>
            <a:r>
              <a:rPr lang="en-US" sz="3700" b="1" dirty="0">
                <a:solidFill>
                  <a:schemeClr val="bg1"/>
                </a:solidFill>
                <a:latin typeface="Times New Roman" pitchFamily="18" charset="0"/>
                <a:cs typeface="Times New Roman" pitchFamily="18" charset="0"/>
              </a:rPr>
              <a:t>3.LITERATURE SURVEY</a:t>
            </a:r>
          </a:p>
        </p:txBody>
      </p:sp>
      <p:graphicFrame>
        <p:nvGraphicFramePr>
          <p:cNvPr id="5" name="Content Placeholder 5"/>
          <p:cNvGraphicFramePr>
            <a:graphicFrameLocks/>
          </p:cNvGraphicFramePr>
          <p:nvPr>
            <p:extLst>
              <p:ext uri="{D42A27DB-BD31-4B8C-83A1-F6EECF244321}">
                <p14:modId xmlns:p14="http://schemas.microsoft.com/office/powerpoint/2010/main" val="1391055250"/>
              </p:ext>
            </p:extLst>
          </p:nvPr>
        </p:nvGraphicFramePr>
        <p:xfrm>
          <a:off x="642708" y="1606937"/>
          <a:ext cx="11475720" cy="5515450"/>
        </p:xfrm>
        <a:graphic>
          <a:graphicData uri="http://schemas.openxmlformats.org/drawingml/2006/table">
            <a:tbl>
              <a:tblPr firstRow="1" firstCol="1" bandRow="1">
                <a:tableStyleId>{BC89EF96-8CEA-46FF-86C4-4CE0E7609802}</a:tableStyleId>
              </a:tblPr>
              <a:tblGrid>
                <a:gridCol w="702131">
                  <a:extLst>
                    <a:ext uri="{9D8B030D-6E8A-4147-A177-3AD203B41FA5}">
                      <a16:colId xmlns:a16="http://schemas.microsoft.com/office/drawing/2014/main" val="20000"/>
                    </a:ext>
                  </a:extLst>
                </a:gridCol>
                <a:gridCol w="2543764">
                  <a:extLst>
                    <a:ext uri="{9D8B030D-6E8A-4147-A177-3AD203B41FA5}">
                      <a16:colId xmlns:a16="http://schemas.microsoft.com/office/drawing/2014/main" val="20001"/>
                    </a:ext>
                  </a:extLst>
                </a:gridCol>
                <a:gridCol w="2917847">
                  <a:extLst>
                    <a:ext uri="{9D8B030D-6E8A-4147-A177-3AD203B41FA5}">
                      <a16:colId xmlns:a16="http://schemas.microsoft.com/office/drawing/2014/main" val="20002"/>
                    </a:ext>
                  </a:extLst>
                </a:gridCol>
                <a:gridCol w="2843030">
                  <a:extLst>
                    <a:ext uri="{9D8B030D-6E8A-4147-A177-3AD203B41FA5}">
                      <a16:colId xmlns:a16="http://schemas.microsoft.com/office/drawing/2014/main" val="1023101934"/>
                    </a:ext>
                  </a:extLst>
                </a:gridCol>
                <a:gridCol w="2468948">
                  <a:extLst>
                    <a:ext uri="{9D8B030D-6E8A-4147-A177-3AD203B41FA5}">
                      <a16:colId xmlns:a16="http://schemas.microsoft.com/office/drawing/2014/main" val="548304626"/>
                    </a:ext>
                  </a:extLst>
                </a:gridCol>
              </a:tblGrid>
              <a:tr h="396651">
                <a:tc>
                  <a:txBody>
                    <a:bodyPr/>
                    <a:lstStyle/>
                    <a:p>
                      <a:pPr marL="0" marR="0" algn="ctr">
                        <a:lnSpc>
                          <a:spcPct val="115000"/>
                        </a:lnSpc>
                        <a:spcBef>
                          <a:spcPts val="0"/>
                        </a:spcBef>
                        <a:spcAft>
                          <a:spcPts val="0"/>
                        </a:spcAft>
                      </a:pPr>
                      <a:r>
                        <a:rPr lang="en-US" sz="2000" dirty="0">
                          <a:effectLst/>
                          <a:latin typeface="Times New Roman" pitchFamily="18" charset="0"/>
                          <a:cs typeface="Times New Roman" pitchFamily="18" charset="0"/>
                        </a:rPr>
                        <a:t>S.No</a:t>
                      </a:r>
                      <a:endParaRPr lang="en-US" sz="2000" dirty="0">
                        <a:effectLst/>
                        <a:latin typeface="Times New Roman" pitchFamily="18" charset="0"/>
                        <a:ea typeface="Calibri"/>
                        <a:cs typeface="Times New Roman" pitchFamily="18" charset="0"/>
                      </a:endParaRPr>
                    </a:p>
                  </a:txBody>
                  <a:tcPr marL="67838" marR="67838" marT="0" marB="0"/>
                </a:tc>
                <a:tc>
                  <a:txBody>
                    <a:bodyPr/>
                    <a:lstStyle/>
                    <a:p>
                      <a:pPr marL="0" marR="0" algn="ctr">
                        <a:lnSpc>
                          <a:spcPct val="115000"/>
                        </a:lnSpc>
                        <a:spcBef>
                          <a:spcPts val="0"/>
                        </a:spcBef>
                        <a:spcAft>
                          <a:spcPts val="0"/>
                        </a:spcAft>
                      </a:pPr>
                      <a:r>
                        <a:rPr lang="en-US" sz="2000" dirty="0">
                          <a:effectLst/>
                          <a:latin typeface="Times New Roman" pitchFamily="18" charset="0"/>
                          <a:cs typeface="Times New Roman" pitchFamily="18" charset="0"/>
                        </a:rPr>
                        <a:t>Article  Title </a:t>
                      </a:r>
                      <a:endParaRPr lang="en-US" sz="2000" dirty="0">
                        <a:effectLst/>
                        <a:latin typeface="Times New Roman" pitchFamily="18" charset="0"/>
                        <a:ea typeface="Calibri"/>
                        <a:cs typeface="Times New Roman" pitchFamily="18" charset="0"/>
                      </a:endParaRPr>
                    </a:p>
                  </a:txBody>
                  <a:tcPr marL="67838" marR="67838" marT="0" marB="0"/>
                </a:tc>
                <a:tc>
                  <a:txBody>
                    <a:bodyPr/>
                    <a:lstStyle/>
                    <a:p>
                      <a:pPr marL="0" marR="0" algn="ctr">
                        <a:lnSpc>
                          <a:spcPct val="115000"/>
                        </a:lnSpc>
                        <a:spcBef>
                          <a:spcPts val="0"/>
                        </a:spcBef>
                        <a:spcAft>
                          <a:spcPts val="0"/>
                        </a:spcAft>
                      </a:pPr>
                      <a:r>
                        <a:rPr lang="en-US" sz="2000" dirty="0">
                          <a:effectLst/>
                          <a:latin typeface="Times New Roman" pitchFamily="18" charset="0"/>
                          <a:ea typeface="Calibri"/>
                          <a:cs typeface="Times New Roman" pitchFamily="18" charset="0"/>
                        </a:rPr>
                        <a:t>Techniques Used</a:t>
                      </a:r>
                    </a:p>
                  </a:txBody>
                  <a:tcPr marL="67838" marR="67838" marT="0" marB="0"/>
                </a:tc>
                <a:tc>
                  <a:txBody>
                    <a:bodyPr/>
                    <a:lstStyle/>
                    <a:p>
                      <a:pPr marL="0" marR="0" algn="ctr">
                        <a:lnSpc>
                          <a:spcPct val="115000"/>
                        </a:lnSpc>
                        <a:spcBef>
                          <a:spcPts val="0"/>
                        </a:spcBef>
                        <a:spcAft>
                          <a:spcPts val="0"/>
                        </a:spcAft>
                      </a:pPr>
                      <a:r>
                        <a:rPr lang="en-US" sz="2000" dirty="0">
                          <a:effectLst/>
                          <a:latin typeface="Times New Roman" pitchFamily="18" charset="0"/>
                          <a:ea typeface="Calibri"/>
                          <a:cs typeface="Times New Roman" pitchFamily="18" charset="0"/>
                        </a:rPr>
                        <a:t>Key Findings</a:t>
                      </a:r>
                    </a:p>
                  </a:txBody>
                  <a:tcPr marL="67838" marR="67838" marT="0" marB="0"/>
                </a:tc>
                <a:tc>
                  <a:txBody>
                    <a:bodyPr/>
                    <a:lstStyle/>
                    <a:p>
                      <a:pPr marL="0" marR="0" algn="ctr">
                        <a:lnSpc>
                          <a:spcPct val="115000"/>
                        </a:lnSpc>
                        <a:spcBef>
                          <a:spcPts val="0"/>
                        </a:spcBef>
                        <a:spcAft>
                          <a:spcPts val="0"/>
                        </a:spcAft>
                      </a:pPr>
                      <a:r>
                        <a:rPr lang="en-US" sz="2000" dirty="0">
                          <a:effectLst/>
                          <a:latin typeface="Times New Roman" pitchFamily="18" charset="0"/>
                          <a:ea typeface="Calibri"/>
                          <a:cs typeface="Times New Roman" pitchFamily="18" charset="0"/>
                        </a:rPr>
                        <a:t>Limitations</a:t>
                      </a:r>
                    </a:p>
                  </a:txBody>
                  <a:tcPr marL="67838" marR="67838" marT="0" marB="0"/>
                </a:tc>
                <a:extLst>
                  <a:ext uri="{0D108BD9-81ED-4DB2-BD59-A6C34878D82A}">
                    <a16:rowId xmlns:a16="http://schemas.microsoft.com/office/drawing/2014/main" val="10000"/>
                  </a:ext>
                </a:extLst>
              </a:tr>
              <a:tr h="752857">
                <a:tc>
                  <a:txBody>
                    <a:bodyPr/>
                    <a:lstStyle/>
                    <a:p>
                      <a:pPr marL="0" marR="0" algn="ctr">
                        <a:lnSpc>
                          <a:spcPct val="115000"/>
                        </a:lnSpc>
                        <a:spcBef>
                          <a:spcPts val="0"/>
                        </a:spcBef>
                        <a:spcAft>
                          <a:spcPts val="0"/>
                        </a:spcAft>
                      </a:pPr>
                      <a:r>
                        <a:rPr lang="en-US" sz="1600" dirty="0">
                          <a:effectLst/>
                          <a:latin typeface="Times New Roman" pitchFamily="18" charset="0"/>
                          <a:cs typeface="Times New Roman" pitchFamily="18" charset="0"/>
                        </a:rPr>
                        <a:t>1</a:t>
                      </a:r>
                      <a:endParaRPr lang="en-US" sz="1600" dirty="0">
                        <a:effectLst/>
                        <a:latin typeface="Times New Roman" pitchFamily="18" charset="0"/>
                        <a:ea typeface="Calibri"/>
                        <a:cs typeface="Times New Roman" pitchFamily="18" charset="0"/>
                      </a:endParaRPr>
                    </a:p>
                  </a:txBody>
                  <a:tcPr marL="67838" marR="67838" marT="0" marB="0">
                    <a:solidFill>
                      <a:srgbClr val="C4E1F2"/>
                    </a:solidFill>
                  </a:tcPr>
                </a:tc>
                <a:tc>
                  <a:txBody>
                    <a:bodyPr/>
                    <a:lstStyle/>
                    <a:p>
                      <a:pPr marL="0" marR="0" algn="just">
                        <a:lnSpc>
                          <a:spcPct val="115000"/>
                        </a:lnSpc>
                        <a:spcBef>
                          <a:spcPts val="0"/>
                        </a:spcBef>
                        <a:spcAft>
                          <a:spcPts val="0"/>
                        </a:spcAft>
                      </a:pPr>
                      <a:r>
                        <a:rPr lang="en-IN" sz="1600" b="0" i="1" kern="1200" dirty="0">
                          <a:solidFill>
                            <a:schemeClr val="tx1"/>
                          </a:solidFill>
                          <a:effectLst/>
                          <a:latin typeface="Times New Roman" panose="02020603050405020304" pitchFamily="18" charset="0"/>
                          <a:ea typeface="+mn-ea"/>
                          <a:cs typeface="Times New Roman" panose="02020603050405020304" pitchFamily="18" charset="0"/>
                        </a:rPr>
                        <a:t>Algorithms for quantum computation: discrete logarithms and factoring</a:t>
                      </a:r>
                      <a:r>
                        <a:rPr lang="en-IN" sz="1600" b="0" i="0" kern="1200" dirty="0">
                          <a:solidFill>
                            <a:schemeClr val="tx1"/>
                          </a:solidFill>
                          <a:effectLst/>
                          <a:latin typeface="Times New Roman" panose="02020603050405020304" pitchFamily="18" charset="0"/>
                          <a:ea typeface="+mn-ea"/>
                          <a:cs typeface="Times New Roman" panose="02020603050405020304" pitchFamily="18" charset="0"/>
                        </a:rPr>
                        <a:t> (Shor)</a:t>
                      </a:r>
                      <a:endParaRPr lang="en-US" sz="1100" dirty="0">
                        <a:effectLst/>
                        <a:latin typeface="Times New Roman" pitchFamily="18" charset="0"/>
                        <a:ea typeface="Calibri"/>
                        <a:cs typeface="Times New Roman" pitchFamily="18" charset="0"/>
                      </a:endParaRPr>
                    </a:p>
                  </a:txBody>
                  <a:tcPr marL="67838" marR="67838" marT="0" marB="0">
                    <a:solidFill>
                      <a:srgbClr val="C4E1F2"/>
                    </a:solidFill>
                  </a:tcPr>
                </a:tc>
                <a:tc>
                  <a:txBody>
                    <a:bodyPr/>
                    <a:lstStyle/>
                    <a:p>
                      <a:pPr marL="0" marR="0" algn="just">
                        <a:lnSpc>
                          <a:spcPct val="115000"/>
                        </a:lnSpc>
                        <a:spcBef>
                          <a:spcPts val="0"/>
                        </a:spcBef>
                        <a:spcAft>
                          <a:spcPts val="0"/>
                        </a:spcAft>
                      </a:pPr>
                      <a:r>
                        <a:rPr lang="en-US" sz="1600" b="0" i="0" kern="1200" dirty="0">
                          <a:solidFill>
                            <a:schemeClr val="tx1"/>
                          </a:solidFill>
                          <a:effectLst/>
                          <a:latin typeface="Times New Roman" panose="02020603050405020304" pitchFamily="18" charset="0"/>
                          <a:ea typeface="+mn-ea"/>
                          <a:cs typeface="Times New Roman" panose="02020603050405020304" pitchFamily="18" charset="0"/>
                        </a:rPr>
                        <a:t>Quantum Algorithms, Prime Factorization Math</a:t>
                      </a:r>
                      <a:endParaRPr lang="en-US" sz="1100" dirty="0">
                        <a:effectLst/>
                        <a:latin typeface="Times New Roman" pitchFamily="18" charset="0"/>
                        <a:ea typeface="Calibri"/>
                        <a:cs typeface="Times New Roman" pitchFamily="18" charset="0"/>
                      </a:endParaRPr>
                    </a:p>
                  </a:txBody>
                  <a:tcPr marL="67838" marR="67838" marT="0" marB="0">
                    <a:solidFill>
                      <a:srgbClr val="C4E1F2"/>
                    </a:solidFill>
                  </a:tcPr>
                </a:tc>
                <a:tc>
                  <a:txBody>
                    <a:bodyPr/>
                    <a:lstStyle/>
                    <a:p>
                      <a:pPr marL="0" marR="0" algn="just">
                        <a:lnSpc>
                          <a:spcPct val="115000"/>
                        </a:lnSpc>
                        <a:spcBef>
                          <a:spcPts val="0"/>
                        </a:spcBef>
                        <a:spcAft>
                          <a:spcPts val="0"/>
                        </a:spcAft>
                      </a:pPr>
                      <a:r>
                        <a:rPr lang="en-US" sz="1600" b="0" i="0" kern="1200" dirty="0">
                          <a:solidFill>
                            <a:schemeClr val="tx1"/>
                          </a:solidFill>
                          <a:effectLst/>
                          <a:latin typeface="Times New Roman" panose="02020603050405020304" pitchFamily="18" charset="0"/>
                          <a:ea typeface="+mn-ea"/>
                          <a:cs typeface="Times New Roman" panose="02020603050405020304" pitchFamily="18" charset="0"/>
                        </a:rPr>
                        <a:t>Demonstrated computationally that quantum computers can easily break standard RSA and ECC algorithms.</a:t>
                      </a:r>
                      <a:endParaRPr lang="en-US" sz="1100" dirty="0">
                        <a:effectLst/>
                        <a:latin typeface="Times New Roman" pitchFamily="18" charset="0"/>
                        <a:ea typeface="Calibri"/>
                        <a:cs typeface="Times New Roman" pitchFamily="18" charset="0"/>
                      </a:endParaRPr>
                    </a:p>
                  </a:txBody>
                  <a:tcPr marL="67838" marR="67838" marT="0" marB="0">
                    <a:solidFill>
                      <a:srgbClr val="C4E1F2"/>
                    </a:solidFill>
                  </a:tcPr>
                </a:tc>
                <a:tc>
                  <a:txBody>
                    <a:bodyPr/>
                    <a:lstStyle/>
                    <a:p>
                      <a:pPr marL="0" marR="0" algn="just">
                        <a:lnSpc>
                          <a:spcPct val="115000"/>
                        </a:lnSpc>
                        <a:spcBef>
                          <a:spcPts val="0"/>
                        </a:spcBef>
                        <a:spcAft>
                          <a:spcPts val="0"/>
                        </a:spcAft>
                      </a:pPr>
                      <a:r>
                        <a:rPr lang="en-US" sz="1600" b="0" i="0" kern="1200" dirty="0">
                          <a:solidFill>
                            <a:schemeClr val="tx1"/>
                          </a:solidFill>
                          <a:effectLst/>
                          <a:latin typeface="Times New Roman" panose="02020603050405020304" pitchFamily="18" charset="0"/>
                          <a:ea typeface="+mn-ea"/>
                          <a:cs typeface="Times New Roman" panose="02020603050405020304" pitchFamily="18" charset="0"/>
                        </a:rPr>
                        <a:t>Assumes the existence of large-scale, highly stable quantum computers.</a:t>
                      </a:r>
                      <a:endParaRPr lang="en-US" sz="1100" dirty="0">
                        <a:effectLst/>
                        <a:latin typeface="Times New Roman" pitchFamily="18" charset="0"/>
                        <a:ea typeface="Calibri"/>
                        <a:cs typeface="Times New Roman" pitchFamily="18" charset="0"/>
                      </a:endParaRPr>
                    </a:p>
                  </a:txBody>
                  <a:tcPr marL="67838" marR="67838" marT="0" marB="0">
                    <a:solidFill>
                      <a:srgbClr val="C4E1F2"/>
                    </a:solidFill>
                  </a:tcPr>
                </a:tc>
                <a:extLst>
                  <a:ext uri="{0D108BD9-81ED-4DB2-BD59-A6C34878D82A}">
                    <a16:rowId xmlns:a16="http://schemas.microsoft.com/office/drawing/2014/main" val="10001"/>
                  </a:ext>
                </a:extLst>
              </a:tr>
              <a:tr h="841249">
                <a:tc>
                  <a:txBody>
                    <a:bodyPr/>
                    <a:lstStyle/>
                    <a:p>
                      <a:pPr marL="0" marR="0" algn="ctr">
                        <a:lnSpc>
                          <a:spcPct val="115000"/>
                        </a:lnSpc>
                        <a:spcBef>
                          <a:spcPts val="0"/>
                        </a:spcBef>
                        <a:spcAft>
                          <a:spcPts val="0"/>
                        </a:spcAft>
                      </a:pPr>
                      <a:r>
                        <a:rPr lang="en-US" sz="1600" dirty="0">
                          <a:effectLst/>
                          <a:latin typeface="Times New Roman" pitchFamily="18" charset="0"/>
                          <a:cs typeface="Times New Roman" pitchFamily="18" charset="0"/>
                        </a:rPr>
                        <a:t>2</a:t>
                      </a:r>
                      <a:endParaRPr lang="en-US" sz="1600" dirty="0">
                        <a:effectLst/>
                        <a:latin typeface="Times New Roman" pitchFamily="18" charset="0"/>
                        <a:ea typeface="Calibri"/>
                        <a:cs typeface="Times New Roman" pitchFamily="18" charset="0"/>
                      </a:endParaRPr>
                    </a:p>
                  </a:txBody>
                  <a:tcPr marL="67838" marR="67838" marT="0" marB="0"/>
                </a:tc>
                <a:tc>
                  <a:txBody>
                    <a:bodyPr/>
                    <a:lstStyle/>
                    <a:p>
                      <a:pPr marL="0" marR="0" algn="just">
                        <a:lnSpc>
                          <a:spcPct val="115000"/>
                        </a:lnSpc>
                        <a:spcBef>
                          <a:spcPts val="0"/>
                        </a:spcBef>
                        <a:spcAft>
                          <a:spcPts val="0"/>
                        </a:spcAft>
                      </a:pPr>
                      <a:r>
                        <a:rPr lang="en-US" sz="1600" b="0" i="1" kern="1200" dirty="0">
                          <a:solidFill>
                            <a:schemeClr val="tx1"/>
                          </a:solidFill>
                          <a:effectLst/>
                          <a:latin typeface="Times New Roman" panose="02020603050405020304" pitchFamily="18" charset="0"/>
                          <a:ea typeface="+mn-ea"/>
                          <a:cs typeface="Times New Roman" panose="02020603050405020304" pitchFamily="18" charset="0"/>
                        </a:rPr>
                        <a:t>Quantum cryptography: Public key distribution</a:t>
                      </a:r>
                      <a:r>
                        <a:rPr lang="en-US" sz="1600" b="0" i="0" kern="1200" dirty="0">
                          <a:solidFill>
                            <a:schemeClr val="tx1"/>
                          </a:solidFill>
                          <a:effectLst/>
                          <a:latin typeface="Times New Roman" panose="02020603050405020304" pitchFamily="18" charset="0"/>
                          <a:ea typeface="+mn-ea"/>
                          <a:cs typeface="Times New Roman" panose="02020603050405020304" pitchFamily="18" charset="0"/>
                        </a:rPr>
                        <a:t> (Bennett &amp; Brassard)</a:t>
                      </a:r>
                      <a:endParaRPr lang="en-US" sz="1100" dirty="0">
                        <a:effectLst/>
                        <a:latin typeface="Times New Roman" pitchFamily="18" charset="0"/>
                        <a:ea typeface="Calibri"/>
                        <a:cs typeface="Times New Roman" pitchFamily="18" charset="0"/>
                      </a:endParaRPr>
                    </a:p>
                  </a:txBody>
                  <a:tcPr marL="67838" marR="67838" marT="0" marB="0"/>
                </a:tc>
                <a:tc>
                  <a:txBody>
                    <a:bodyPr/>
                    <a:lstStyle/>
                    <a:p>
                      <a:pPr marL="0" marR="0" algn="just">
                        <a:lnSpc>
                          <a:spcPct val="115000"/>
                        </a:lnSpc>
                        <a:spcBef>
                          <a:spcPts val="0"/>
                        </a:spcBef>
                        <a:spcAft>
                          <a:spcPts val="0"/>
                        </a:spcAft>
                      </a:pPr>
                      <a:r>
                        <a:rPr lang="en-US" sz="1600" b="0" i="0" kern="1200" dirty="0">
                          <a:solidFill>
                            <a:schemeClr val="tx1"/>
                          </a:solidFill>
                          <a:effectLst/>
                          <a:latin typeface="Times New Roman" panose="02020603050405020304" pitchFamily="18" charset="0"/>
                          <a:ea typeface="+mn-ea"/>
                          <a:cs typeface="Times New Roman" panose="02020603050405020304" pitchFamily="18" charset="0"/>
                        </a:rPr>
                        <a:t>Quantum Key Distribution (BB84), Photon Polarization</a:t>
                      </a:r>
                      <a:endParaRPr lang="en-US" sz="1100" dirty="0">
                        <a:effectLst/>
                        <a:latin typeface="Times New Roman" pitchFamily="18" charset="0"/>
                        <a:ea typeface="Calibri"/>
                        <a:cs typeface="Times New Roman" pitchFamily="18" charset="0"/>
                      </a:endParaRPr>
                    </a:p>
                  </a:txBody>
                  <a:tcPr marL="67838" marR="67838" marT="0" marB="0"/>
                </a:tc>
                <a:tc>
                  <a:txBody>
                    <a:bodyPr/>
                    <a:lstStyle/>
                    <a:p>
                      <a:pPr marL="0" marR="0" algn="just">
                        <a:lnSpc>
                          <a:spcPct val="115000"/>
                        </a:lnSpc>
                        <a:spcBef>
                          <a:spcPts val="0"/>
                        </a:spcBef>
                        <a:spcAft>
                          <a:spcPts val="0"/>
                        </a:spcAft>
                      </a:pPr>
                      <a:r>
                        <a:rPr lang="en-US" sz="1600" b="0" i="0" kern="1200" dirty="0">
                          <a:solidFill>
                            <a:schemeClr val="tx1"/>
                          </a:solidFill>
                          <a:effectLst/>
                          <a:latin typeface="Times New Roman" panose="02020603050405020304" pitchFamily="18" charset="0"/>
                          <a:ea typeface="+mn-ea"/>
                          <a:cs typeface="Times New Roman" panose="02020603050405020304" pitchFamily="18" charset="0"/>
                        </a:rPr>
                        <a:t>Proven that perfectly secure communication can be guaranteed purely by the principles of quantum mechanics.</a:t>
                      </a:r>
                      <a:endParaRPr lang="en-US" sz="1100" dirty="0">
                        <a:effectLst/>
                        <a:latin typeface="Times New Roman" pitchFamily="18" charset="0"/>
                        <a:ea typeface="Calibri"/>
                        <a:cs typeface="Times New Roman" pitchFamily="18" charset="0"/>
                      </a:endParaRPr>
                    </a:p>
                  </a:txBody>
                  <a:tcPr marL="67838" marR="67838" marT="0" marB="0"/>
                </a:tc>
                <a:tc>
                  <a:txBody>
                    <a:bodyPr/>
                    <a:lstStyle/>
                    <a:p>
                      <a:pPr marL="0" marR="0" lvl="0" indent="0" algn="just" defTabSz="1149448" rtl="0" eaLnBrk="1" fontAlgn="auto" latinLnBrk="0" hangingPunct="1">
                        <a:lnSpc>
                          <a:spcPct val="115000"/>
                        </a:lnSpc>
                        <a:spcBef>
                          <a:spcPts val="0"/>
                        </a:spcBef>
                        <a:spcAft>
                          <a:spcPts val="0"/>
                        </a:spcAft>
                        <a:buClrTx/>
                        <a:buSzTx/>
                        <a:buFontTx/>
                        <a:buNone/>
                        <a:tabLst/>
                        <a:defRPr/>
                      </a:pPr>
                      <a:r>
                        <a:rPr lang="en-US" sz="1600" dirty="0">
                          <a:effectLst/>
                          <a:latin typeface="Times New Roman" panose="02020603050405020304" pitchFamily="18" charset="0"/>
                          <a:cs typeface="Times New Roman" panose="02020603050405020304" pitchFamily="18" charset="0"/>
                        </a:rPr>
                        <a:t>Requires expensive, dedicated, and specialized fiber-optic physical channels.</a:t>
                      </a:r>
                    </a:p>
                    <a:p>
                      <a:pPr marL="0" marR="0" algn="just">
                        <a:lnSpc>
                          <a:spcPct val="115000"/>
                        </a:lnSpc>
                        <a:spcBef>
                          <a:spcPts val="0"/>
                        </a:spcBef>
                        <a:spcAft>
                          <a:spcPts val="0"/>
                        </a:spcAft>
                      </a:pPr>
                      <a:endParaRPr lang="en-US" sz="1800" dirty="0">
                        <a:effectLst/>
                        <a:latin typeface="Times New Roman" pitchFamily="18" charset="0"/>
                        <a:ea typeface="Calibri"/>
                        <a:cs typeface="Times New Roman" pitchFamily="18" charset="0"/>
                      </a:endParaRPr>
                    </a:p>
                  </a:txBody>
                  <a:tcPr marL="67838" marR="67838" marT="0" marB="0"/>
                </a:tc>
                <a:extLst>
                  <a:ext uri="{0D108BD9-81ED-4DB2-BD59-A6C34878D82A}">
                    <a16:rowId xmlns:a16="http://schemas.microsoft.com/office/drawing/2014/main" val="10002"/>
                  </a:ext>
                </a:extLst>
              </a:tr>
              <a:tr h="841249">
                <a:tc>
                  <a:txBody>
                    <a:bodyPr/>
                    <a:lstStyle/>
                    <a:p>
                      <a:pPr marL="0" marR="0" algn="ctr">
                        <a:lnSpc>
                          <a:spcPct val="115000"/>
                        </a:lnSpc>
                        <a:spcBef>
                          <a:spcPts val="0"/>
                        </a:spcBef>
                        <a:spcAft>
                          <a:spcPts val="0"/>
                        </a:spcAft>
                      </a:pPr>
                      <a:r>
                        <a:rPr lang="en-US" sz="1600" dirty="0">
                          <a:effectLst/>
                          <a:latin typeface="Times New Roman" pitchFamily="18" charset="0"/>
                          <a:cs typeface="Times New Roman" pitchFamily="18" charset="0"/>
                        </a:rPr>
                        <a:t>3</a:t>
                      </a:r>
                      <a:endParaRPr lang="en-US" sz="1600" dirty="0">
                        <a:effectLst/>
                        <a:latin typeface="Times New Roman" pitchFamily="18" charset="0"/>
                        <a:ea typeface="Calibri"/>
                        <a:cs typeface="Times New Roman" pitchFamily="18" charset="0"/>
                      </a:endParaRPr>
                    </a:p>
                  </a:txBody>
                  <a:tcPr marL="67838" marR="67838" marT="0" marB="0">
                    <a:solidFill>
                      <a:srgbClr val="C4E1F2"/>
                    </a:solidFill>
                  </a:tcPr>
                </a:tc>
                <a:tc>
                  <a:txBody>
                    <a:bodyPr/>
                    <a:lstStyle/>
                    <a:p>
                      <a:pPr marL="0" marR="0" indent="0" algn="just" defTabSz="914400" rtl="0" eaLnBrk="1" fontAlgn="auto" latinLnBrk="0" hangingPunct="1">
                        <a:lnSpc>
                          <a:spcPct val="115000"/>
                        </a:lnSpc>
                        <a:spcBef>
                          <a:spcPts val="0"/>
                        </a:spcBef>
                        <a:spcAft>
                          <a:spcPts val="0"/>
                        </a:spcAft>
                        <a:buClrTx/>
                        <a:buSzTx/>
                        <a:buFontTx/>
                        <a:buNone/>
                        <a:tabLst/>
                        <a:defRPr/>
                      </a:pPr>
                      <a:r>
                        <a:rPr lang="en-US" sz="1600" b="0" i="1" kern="1200" dirty="0">
                          <a:solidFill>
                            <a:schemeClr val="tx1"/>
                          </a:solidFill>
                          <a:effectLst/>
                          <a:latin typeface="Times New Roman" panose="02020603050405020304" pitchFamily="18" charset="0"/>
                          <a:ea typeface="+mn-ea"/>
                          <a:cs typeface="Times New Roman" panose="02020603050405020304" pitchFamily="18" charset="0"/>
                        </a:rPr>
                        <a:t>A Decade of Lattice Cryptography</a:t>
                      </a:r>
                      <a:r>
                        <a:rPr lang="en-US" sz="1600" b="0" i="0" kern="1200" dirty="0">
                          <a:solidFill>
                            <a:schemeClr val="tx1"/>
                          </a:solidFill>
                          <a:effectLst/>
                          <a:latin typeface="Times New Roman" panose="02020603050405020304" pitchFamily="18" charset="0"/>
                          <a:ea typeface="+mn-ea"/>
                          <a:cs typeface="Times New Roman" panose="02020603050405020304" pitchFamily="18" charset="0"/>
                        </a:rPr>
                        <a:t> (Peikert)</a:t>
                      </a:r>
                      <a:endParaRPr lang="en-US" sz="1100" dirty="0">
                        <a:effectLst/>
                        <a:latin typeface="Times New Roman" pitchFamily="18" charset="0"/>
                        <a:ea typeface="Calibri"/>
                        <a:cs typeface="Times New Roman" pitchFamily="18" charset="0"/>
                      </a:endParaRPr>
                    </a:p>
                  </a:txBody>
                  <a:tcPr marL="67838" marR="67838" marT="0" marB="0">
                    <a:solidFill>
                      <a:srgbClr val="C4E1F2"/>
                    </a:solidFill>
                  </a:tcPr>
                </a:tc>
                <a:tc>
                  <a:txBody>
                    <a:bodyPr/>
                    <a:lstStyle/>
                    <a:p>
                      <a:pPr marL="0" marR="0" algn="just">
                        <a:lnSpc>
                          <a:spcPct val="115000"/>
                        </a:lnSpc>
                        <a:spcBef>
                          <a:spcPts val="0"/>
                        </a:spcBef>
                        <a:spcAft>
                          <a:spcPts val="0"/>
                        </a:spcAft>
                      </a:pPr>
                      <a:r>
                        <a:rPr lang="en-US" sz="1600" b="0" i="0" kern="1200" dirty="0">
                          <a:solidFill>
                            <a:schemeClr val="tx1"/>
                          </a:solidFill>
                          <a:effectLst/>
                          <a:latin typeface="Times New Roman" panose="02020603050405020304" pitchFamily="18" charset="0"/>
                          <a:ea typeface="+mn-ea"/>
                          <a:cs typeface="Times New Roman" panose="02020603050405020304" pitchFamily="18" charset="0"/>
                        </a:rPr>
                        <a:t>Learning With Errors (LWE), Lattice Reduction</a:t>
                      </a:r>
                      <a:endParaRPr lang="en-US" sz="1100" dirty="0">
                        <a:effectLst/>
                        <a:latin typeface="Times New Roman" pitchFamily="18" charset="0"/>
                        <a:ea typeface="Calibri"/>
                        <a:cs typeface="Times New Roman" pitchFamily="18" charset="0"/>
                      </a:endParaRPr>
                    </a:p>
                  </a:txBody>
                  <a:tcPr marL="67838" marR="67838" marT="0" marB="0">
                    <a:solidFill>
                      <a:srgbClr val="C4E1F2"/>
                    </a:solidFill>
                  </a:tcPr>
                </a:tc>
                <a:tc>
                  <a:txBody>
                    <a:bodyPr/>
                    <a:lstStyle/>
                    <a:p>
                      <a:pPr marL="0" marR="0" algn="just">
                        <a:lnSpc>
                          <a:spcPct val="115000"/>
                        </a:lnSpc>
                        <a:spcBef>
                          <a:spcPts val="0"/>
                        </a:spcBef>
                        <a:spcAft>
                          <a:spcPts val="0"/>
                        </a:spcAft>
                      </a:pPr>
                      <a:r>
                        <a:rPr lang="en-US" sz="1600" b="0" i="0" kern="1200" dirty="0">
                          <a:solidFill>
                            <a:schemeClr val="tx1"/>
                          </a:solidFill>
                          <a:effectLst/>
                          <a:latin typeface="Times New Roman" panose="02020603050405020304" pitchFamily="18" charset="0"/>
                          <a:ea typeface="+mn-ea"/>
                          <a:cs typeface="Times New Roman" panose="02020603050405020304" pitchFamily="18" charset="0"/>
                        </a:rPr>
                        <a:t>Established that lattice-based cryptography offers high efficiency and robust post-quantum security mathematically.</a:t>
                      </a:r>
                      <a:endParaRPr lang="en-US" sz="1100" dirty="0">
                        <a:effectLst/>
                        <a:latin typeface="Times New Roman" pitchFamily="18" charset="0"/>
                        <a:ea typeface="Calibri"/>
                        <a:cs typeface="Times New Roman" pitchFamily="18" charset="0"/>
                      </a:endParaRPr>
                    </a:p>
                  </a:txBody>
                  <a:tcPr marL="67838" marR="67838" marT="0" marB="0">
                    <a:solidFill>
                      <a:srgbClr val="C4E1F2"/>
                    </a:solidFill>
                  </a:tcPr>
                </a:tc>
                <a:tc>
                  <a:txBody>
                    <a:bodyPr/>
                    <a:lstStyle/>
                    <a:p>
                      <a:pPr marL="0" marR="0" algn="just">
                        <a:lnSpc>
                          <a:spcPct val="115000"/>
                        </a:lnSpc>
                        <a:spcBef>
                          <a:spcPts val="0"/>
                        </a:spcBef>
                        <a:spcAft>
                          <a:spcPts val="0"/>
                        </a:spcAft>
                      </a:pPr>
                      <a:r>
                        <a:rPr lang="en-US" sz="1600" b="0" i="0" kern="1200" dirty="0">
                          <a:solidFill>
                            <a:schemeClr val="tx1"/>
                          </a:solidFill>
                          <a:effectLst/>
                          <a:latin typeface="Times New Roman" panose="02020603050405020304" pitchFamily="18" charset="0"/>
                          <a:ea typeface="+mn-ea"/>
                          <a:cs typeface="Times New Roman" panose="02020603050405020304" pitchFamily="18" charset="0"/>
                        </a:rPr>
                        <a:t>Requires larger cryptographic key sizes compared to classic ECC schemes.</a:t>
                      </a:r>
                      <a:endParaRPr lang="en-US" sz="1100" dirty="0">
                        <a:effectLst/>
                        <a:latin typeface="Times New Roman" pitchFamily="18" charset="0"/>
                        <a:ea typeface="Calibri"/>
                        <a:cs typeface="Times New Roman" pitchFamily="18" charset="0"/>
                      </a:endParaRPr>
                    </a:p>
                  </a:txBody>
                  <a:tcPr marL="67838" marR="67838" marT="0" marB="0">
                    <a:solidFill>
                      <a:srgbClr val="C4E1F2"/>
                    </a:solidFill>
                  </a:tcPr>
                </a:tc>
                <a:extLst>
                  <a:ext uri="{0D108BD9-81ED-4DB2-BD59-A6C34878D82A}">
                    <a16:rowId xmlns:a16="http://schemas.microsoft.com/office/drawing/2014/main" val="10003"/>
                  </a:ext>
                </a:extLst>
              </a:tr>
              <a:tr h="1121664">
                <a:tc>
                  <a:txBody>
                    <a:bodyPr/>
                    <a:lstStyle/>
                    <a:p>
                      <a:pPr marL="0" marR="0" algn="ctr">
                        <a:lnSpc>
                          <a:spcPct val="115000"/>
                        </a:lnSpc>
                        <a:spcBef>
                          <a:spcPts val="0"/>
                        </a:spcBef>
                        <a:spcAft>
                          <a:spcPts val="0"/>
                        </a:spcAft>
                      </a:pPr>
                      <a:r>
                        <a:rPr lang="en-US" sz="1600" dirty="0">
                          <a:effectLst/>
                          <a:latin typeface="Times New Roman" pitchFamily="18" charset="0"/>
                          <a:cs typeface="Times New Roman" pitchFamily="18" charset="0"/>
                        </a:rPr>
                        <a:t>4</a:t>
                      </a:r>
                      <a:endParaRPr lang="en-US" sz="1600" dirty="0">
                        <a:effectLst/>
                        <a:latin typeface="Times New Roman" pitchFamily="18" charset="0"/>
                        <a:ea typeface="Calibri"/>
                        <a:cs typeface="Times New Roman" pitchFamily="18" charset="0"/>
                      </a:endParaRPr>
                    </a:p>
                  </a:txBody>
                  <a:tcPr marL="67838" marR="67838" marT="0" marB="0"/>
                </a:tc>
                <a:tc>
                  <a:txBody>
                    <a:bodyPr/>
                    <a:lstStyle/>
                    <a:p>
                      <a:pPr marL="0" marR="0" indent="0" algn="just" defTabSz="914400" rtl="0" eaLnBrk="1" fontAlgn="auto" latinLnBrk="0" hangingPunct="1">
                        <a:lnSpc>
                          <a:spcPct val="115000"/>
                        </a:lnSpc>
                        <a:spcBef>
                          <a:spcPts val="0"/>
                        </a:spcBef>
                        <a:spcAft>
                          <a:spcPts val="0"/>
                        </a:spcAft>
                        <a:buClrTx/>
                        <a:buSzTx/>
                        <a:buFontTx/>
                        <a:buNone/>
                        <a:tabLst/>
                        <a:defRPr/>
                      </a:pPr>
                      <a:r>
                        <a:rPr lang="en-IN" sz="1600" b="0" i="1" kern="1200" dirty="0">
                          <a:solidFill>
                            <a:schemeClr val="tx1"/>
                          </a:solidFill>
                          <a:effectLst/>
                          <a:latin typeface="Times New Roman" panose="02020603050405020304" pitchFamily="18" charset="0"/>
                          <a:ea typeface="+mn-ea"/>
                          <a:cs typeface="Times New Roman" panose="02020603050405020304" pitchFamily="18" charset="0"/>
                        </a:rPr>
                        <a:t>Quantum cryptography</a:t>
                      </a:r>
                      <a:r>
                        <a:rPr lang="en-IN" sz="1600" b="0" i="0" kern="1200" dirty="0">
                          <a:solidFill>
                            <a:schemeClr val="tx1"/>
                          </a:solidFill>
                          <a:effectLst/>
                          <a:latin typeface="Times New Roman" panose="02020603050405020304" pitchFamily="18" charset="0"/>
                          <a:ea typeface="+mn-ea"/>
                          <a:cs typeface="Times New Roman" panose="02020603050405020304" pitchFamily="18" charset="0"/>
                        </a:rPr>
                        <a:t> (Gisin et al.)</a:t>
                      </a:r>
                      <a:endParaRPr lang="en-US" sz="1100" dirty="0">
                        <a:effectLst/>
                        <a:latin typeface="Times New Roman" pitchFamily="18" charset="0"/>
                        <a:ea typeface="Calibri"/>
                        <a:cs typeface="Times New Roman" pitchFamily="18" charset="0"/>
                      </a:endParaRPr>
                    </a:p>
                  </a:txBody>
                  <a:tcPr marL="67838" marR="67838" marT="0" marB="0"/>
                </a:tc>
                <a:tc>
                  <a:txBody>
                    <a:bodyPr/>
                    <a:lstStyle/>
                    <a:p>
                      <a:pPr marL="0" marR="0" algn="just">
                        <a:lnSpc>
                          <a:spcPct val="115000"/>
                        </a:lnSpc>
                        <a:spcBef>
                          <a:spcPts val="0"/>
                        </a:spcBef>
                        <a:spcAft>
                          <a:spcPts val="0"/>
                        </a:spcAft>
                      </a:pPr>
                      <a:r>
                        <a:rPr lang="en-US" sz="1600" b="0" i="0" kern="1200" dirty="0">
                          <a:solidFill>
                            <a:schemeClr val="tx1"/>
                          </a:solidFill>
                          <a:effectLst/>
                          <a:latin typeface="Times New Roman" panose="02020603050405020304" pitchFamily="18" charset="0"/>
                          <a:ea typeface="+mn-ea"/>
                          <a:cs typeface="Times New Roman" panose="02020603050405020304" pitchFamily="18" charset="0"/>
                        </a:rPr>
                        <a:t>Fiber-optic Transmission, Error Rate QBER Monitoring</a:t>
                      </a:r>
                      <a:endParaRPr lang="en-US" sz="1100" dirty="0">
                        <a:effectLst/>
                        <a:latin typeface="Times New Roman" pitchFamily="18" charset="0"/>
                        <a:ea typeface="Calibri"/>
                        <a:cs typeface="Times New Roman" pitchFamily="18" charset="0"/>
                      </a:endParaRPr>
                    </a:p>
                  </a:txBody>
                  <a:tcPr marL="67838" marR="67838" marT="0" marB="0"/>
                </a:tc>
                <a:tc>
                  <a:txBody>
                    <a:bodyPr/>
                    <a:lstStyle/>
                    <a:p>
                      <a:pPr marL="0" marR="0" algn="just">
                        <a:lnSpc>
                          <a:spcPct val="115000"/>
                        </a:lnSpc>
                        <a:spcBef>
                          <a:spcPts val="0"/>
                        </a:spcBef>
                        <a:spcAft>
                          <a:spcPts val="0"/>
                        </a:spcAft>
                      </a:pPr>
                      <a:r>
                        <a:rPr lang="en-US" sz="1600" b="0" i="0" kern="1200" dirty="0">
                          <a:solidFill>
                            <a:schemeClr val="tx1"/>
                          </a:solidFill>
                          <a:effectLst/>
                          <a:latin typeface="Times New Roman" panose="02020603050405020304" pitchFamily="18" charset="0"/>
                          <a:ea typeface="+mn-ea"/>
                          <a:cs typeface="Times New Roman" panose="02020603050405020304" pitchFamily="18" charset="0"/>
                        </a:rPr>
                        <a:t>Showed practical QKD is highly feasible but fundamentally bounded by physical photon loss in cables</a:t>
                      </a:r>
                      <a:r>
                        <a:rPr lang="en-US" sz="2400" b="0" i="0" kern="1200" dirty="0">
                          <a:solidFill>
                            <a:schemeClr val="tx1"/>
                          </a:solidFill>
                          <a:effectLst/>
                          <a:latin typeface="Times New Roman" panose="02020603050405020304" pitchFamily="18" charset="0"/>
                          <a:ea typeface="+mn-ea"/>
                          <a:cs typeface="Times New Roman" panose="02020603050405020304" pitchFamily="18" charset="0"/>
                        </a:rPr>
                        <a:t>.</a:t>
                      </a:r>
                      <a:endParaRPr lang="en-US" sz="1800" dirty="0">
                        <a:effectLst/>
                        <a:latin typeface="Times New Roman" pitchFamily="18" charset="0"/>
                        <a:ea typeface="Calibri"/>
                        <a:cs typeface="Times New Roman" pitchFamily="18" charset="0"/>
                      </a:endParaRPr>
                    </a:p>
                  </a:txBody>
                  <a:tcPr marL="67838" marR="67838" marT="0" marB="0"/>
                </a:tc>
                <a:tc>
                  <a:txBody>
                    <a:bodyPr/>
                    <a:lstStyle/>
                    <a:p>
                      <a:pPr marL="0" marR="0" algn="just">
                        <a:lnSpc>
                          <a:spcPct val="115000"/>
                        </a:lnSpc>
                        <a:spcBef>
                          <a:spcPts val="0"/>
                        </a:spcBef>
                        <a:spcAft>
                          <a:spcPts val="0"/>
                        </a:spcAft>
                      </a:pPr>
                      <a:r>
                        <a:rPr lang="en-US" sz="1600" b="0" i="0" kern="1200" dirty="0">
                          <a:solidFill>
                            <a:schemeClr val="tx1"/>
                          </a:solidFill>
                          <a:effectLst/>
                          <a:latin typeface="Times New Roman" panose="02020603050405020304" pitchFamily="18" charset="0"/>
                          <a:ea typeface="+mn-ea"/>
                          <a:cs typeface="Times New Roman" panose="02020603050405020304" pitchFamily="18" charset="0"/>
                        </a:rPr>
                        <a:t>Hard physical distance constraints before the quantum signal degrades.</a:t>
                      </a:r>
                      <a:endParaRPr lang="en-US" sz="1100" dirty="0">
                        <a:effectLst/>
                        <a:latin typeface="Times New Roman" pitchFamily="18" charset="0"/>
                        <a:ea typeface="Calibri"/>
                        <a:cs typeface="Times New Roman" pitchFamily="18" charset="0"/>
                      </a:endParaRPr>
                    </a:p>
                  </a:txBody>
                  <a:tcPr marL="67838" marR="67838" marT="0" marB="0"/>
                </a:tc>
                <a:extLst>
                  <a:ext uri="{0D108BD9-81ED-4DB2-BD59-A6C34878D82A}">
                    <a16:rowId xmlns:a16="http://schemas.microsoft.com/office/drawing/2014/main" val="10004"/>
                  </a:ext>
                </a:extLst>
              </a:tr>
            </a:tbl>
          </a:graphicData>
        </a:graphic>
      </p:graphicFrame>
      <p:sp>
        <p:nvSpPr>
          <p:cNvPr id="4" name="Slide Number Placeholder 3"/>
          <p:cNvSpPr>
            <a:spLocks noGrp="1"/>
          </p:cNvSpPr>
          <p:nvPr>
            <p:ph type="sldNum" sz="quarter" idx="12"/>
          </p:nvPr>
        </p:nvSpPr>
        <p:spPr/>
        <p:txBody>
          <a:bodyPr/>
          <a:lstStyle/>
          <a:p>
            <a:fld id="{C02A2637-A5A3-49FA-B214-6E67543099EF}" type="slidenum">
              <a:rPr lang="en-US" smtClean="0"/>
              <a:t>5</a:t>
            </a:fld>
            <a:endParaRPr lang="en-US"/>
          </a:p>
        </p:txBody>
      </p:sp>
    </p:spTree>
    <p:extLst>
      <p:ext uri="{BB962C8B-B14F-4D97-AF65-F5344CB8AC3E}">
        <p14:creationId xmlns:p14="http://schemas.microsoft.com/office/powerpoint/2010/main" val="30954781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801600" cy="1512146"/>
          </a:xfrm>
          <a:solidFill>
            <a:schemeClr val="tx2">
              <a:lumMod val="60000"/>
              <a:lumOff val="40000"/>
            </a:schemeClr>
          </a:solidFill>
        </p:spPr>
        <p:txBody>
          <a:bodyPr>
            <a:normAutofit/>
          </a:bodyPr>
          <a:lstStyle/>
          <a:p>
            <a:r>
              <a:rPr lang="en-US" sz="3700" b="1" dirty="0">
                <a:solidFill>
                  <a:schemeClr val="bg1"/>
                </a:solidFill>
                <a:latin typeface="Times New Roman" pitchFamily="18" charset="0"/>
                <a:cs typeface="Times New Roman" pitchFamily="18" charset="0"/>
              </a:rPr>
              <a:t>LITERATURE SURVEY (CONTD..,)</a:t>
            </a:r>
          </a:p>
        </p:txBody>
      </p:sp>
      <p:sp>
        <p:nvSpPr>
          <p:cNvPr id="5" name="Slide Number Placeholder 4"/>
          <p:cNvSpPr>
            <a:spLocks noGrp="1"/>
          </p:cNvSpPr>
          <p:nvPr>
            <p:ph type="sldNum" sz="quarter" idx="12"/>
          </p:nvPr>
        </p:nvSpPr>
        <p:spPr/>
        <p:txBody>
          <a:bodyPr/>
          <a:lstStyle/>
          <a:p>
            <a:fld id="{C02A2637-A5A3-49FA-B214-6E67543099EF}" type="slidenum">
              <a:rPr lang="en-US" smtClean="0"/>
              <a:t>6</a:t>
            </a:fld>
            <a:endParaRPr lang="en-US"/>
          </a:p>
        </p:txBody>
      </p:sp>
      <p:graphicFrame>
        <p:nvGraphicFramePr>
          <p:cNvPr id="9" name="Content Placeholder 5"/>
          <p:cNvGraphicFramePr>
            <a:graphicFrameLocks/>
          </p:cNvGraphicFramePr>
          <p:nvPr>
            <p:extLst>
              <p:ext uri="{D42A27DB-BD31-4B8C-83A1-F6EECF244321}">
                <p14:modId xmlns:p14="http://schemas.microsoft.com/office/powerpoint/2010/main" val="94981059"/>
              </p:ext>
            </p:extLst>
          </p:nvPr>
        </p:nvGraphicFramePr>
        <p:xfrm>
          <a:off x="685799" y="1669892"/>
          <a:ext cx="11475720" cy="5096286"/>
        </p:xfrm>
        <a:graphic>
          <a:graphicData uri="http://schemas.openxmlformats.org/drawingml/2006/table">
            <a:tbl>
              <a:tblPr firstRow="1" firstCol="1" bandRow="1">
                <a:tableStyleId>{BC89EF96-8CEA-46FF-86C4-4CE0E7609802}</a:tableStyleId>
              </a:tblPr>
              <a:tblGrid>
                <a:gridCol w="685801">
                  <a:extLst>
                    <a:ext uri="{9D8B030D-6E8A-4147-A177-3AD203B41FA5}">
                      <a16:colId xmlns:a16="http://schemas.microsoft.com/office/drawing/2014/main" val="20000"/>
                    </a:ext>
                  </a:extLst>
                </a:gridCol>
                <a:gridCol w="2560094">
                  <a:extLst>
                    <a:ext uri="{9D8B030D-6E8A-4147-A177-3AD203B41FA5}">
                      <a16:colId xmlns:a16="http://schemas.microsoft.com/office/drawing/2014/main" val="20001"/>
                    </a:ext>
                  </a:extLst>
                </a:gridCol>
                <a:gridCol w="2917847">
                  <a:extLst>
                    <a:ext uri="{9D8B030D-6E8A-4147-A177-3AD203B41FA5}">
                      <a16:colId xmlns:a16="http://schemas.microsoft.com/office/drawing/2014/main" val="20002"/>
                    </a:ext>
                  </a:extLst>
                </a:gridCol>
                <a:gridCol w="2843030">
                  <a:extLst>
                    <a:ext uri="{9D8B030D-6E8A-4147-A177-3AD203B41FA5}">
                      <a16:colId xmlns:a16="http://schemas.microsoft.com/office/drawing/2014/main" val="1023101934"/>
                    </a:ext>
                  </a:extLst>
                </a:gridCol>
                <a:gridCol w="2468948">
                  <a:extLst>
                    <a:ext uri="{9D8B030D-6E8A-4147-A177-3AD203B41FA5}">
                      <a16:colId xmlns:a16="http://schemas.microsoft.com/office/drawing/2014/main" val="548304626"/>
                    </a:ext>
                  </a:extLst>
                </a:gridCol>
              </a:tblGrid>
              <a:tr h="396651">
                <a:tc>
                  <a:txBody>
                    <a:bodyPr/>
                    <a:lstStyle/>
                    <a:p>
                      <a:pPr marL="0" marR="0" algn="ctr">
                        <a:lnSpc>
                          <a:spcPct val="115000"/>
                        </a:lnSpc>
                        <a:spcBef>
                          <a:spcPts val="0"/>
                        </a:spcBef>
                        <a:spcAft>
                          <a:spcPts val="0"/>
                        </a:spcAft>
                      </a:pPr>
                      <a:r>
                        <a:rPr lang="en-US" sz="2000" dirty="0">
                          <a:effectLst/>
                          <a:latin typeface="Times New Roman" pitchFamily="18" charset="0"/>
                          <a:cs typeface="Times New Roman" pitchFamily="18" charset="0"/>
                        </a:rPr>
                        <a:t>S.No</a:t>
                      </a:r>
                      <a:endParaRPr lang="en-US" sz="2000" dirty="0">
                        <a:effectLst/>
                        <a:latin typeface="Times New Roman" pitchFamily="18" charset="0"/>
                        <a:ea typeface="Calibri"/>
                        <a:cs typeface="Times New Roman" pitchFamily="18" charset="0"/>
                      </a:endParaRPr>
                    </a:p>
                  </a:txBody>
                  <a:tcPr marL="67838" marR="67838" marT="0" marB="0"/>
                </a:tc>
                <a:tc>
                  <a:txBody>
                    <a:bodyPr/>
                    <a:lstStyle/>
                    <a:p>
                      <a:pPr marL="0" marR="0" algn="ctr">
                        <a:lnSpc>
                          <a:spcPct val="115000"/>
                        </a:lnSpc>
                        <a:spcBef>
                          <a:spcPts val="0"/>
                        </a:spcBef>
                        <a:spcAft>
                          <a:spcPts val="0"/>
                        </a:spcAft>
                      </a:pPr>
                      <a:r>
                        <a:rPr lang="en-US" sz="2000" dirty="0">
                          <a:effectLst/>
                          <a:latin typeface="Times New Roman" pitchFamily="18" charset="0"/>
                          <a:cs typeface="Times New Roman" pitchFamily="18" charset="0"/>
                        </a:rPr>
                        <a:t>Article  Title </a:t>
                      </a:r>
                      <a:endParaRPr lang="en-US" sz="2000" dirty="0">
                        <a:effectLst/>
                        <a:latin typeface="Times New Roman" pitchFamily="18" charset="0"/>
                        <a:ea typeface="Calibri"/>
                        <a:cs typeface="Times New Roman" pitchFamily="18" charset="0"/>
                      </a:endParaRPr>
                    </a:p>
                  </a:txBody>
                  <a:tcPr marL="67838" marR="67838" marT="0" marB="0"/>
                </a:tc>
                <a:tc>
                  <a:txBody>
                    <a:bodyPr/>
                    <a:lstStyle/>
                    <a:p>
                      <a:pPr marL="0" marR="0" algn="ctr">
                        <a:lnSpc>
                          <a:spcPct val="115000"/>
                        </a:lnSpc>
                        <a:spcBef>
                          <a:spcPts val="0"/>
                        </a:spcBef>
                        <a:spcAft>
                          <a:spcPts val="0"/>
                        </a:spcAft>
                      </a:pPr>
                      <a:r>
                        <a:rPr lang="en-US" sz="2000" dirty="0">
                          <a:effectLst/>
                          <a:latin typeface="Times New Roman" pitchFamily="18" charset="0"/>
                          <a:ea typeface="Calibri"/>
                          <a:cs typeface="Times New Roman" pitchFamily="18" charset="0"/>
                        </a:rPr>
                        <a:t>Techniques Used</a:t>
                      </a:r>
                    </a:p>
                  </a:txBody>
                  <a:tcPr marL="67838" marR="67838" marT="0" marB="0"/>
                </a:tc>
                <a:tc>
                  <a:txBody>
                    <a:bodyPr/>
                    <a:lstStyle/>
                    <a:p>
                      <a:pPr marL="0" marR="0" algn="ctr">
                        <a:lnSpc>
                          <a:spcPct val="115000"/>
                        </a:lnSpc>
                        <a:spcBef>
                          <a:spcPts val="0"/>
                        </a:spcBef>
                        <a:spcAft>
                          <a:spcPts val="0"/>
                        </a:spcAft>
                      </a:pPr>
                      <a:r>
                        <a:rPr lang="en-US" sz="2000" dirty="0">
                          <a:effectLst/>
                          <a:latin typeface="Times New Roman" pitchFamily="18" charset="0"/>
                          <a:ea typeface="Calibri"/>
                          <a:cs typeface="Times New Roman" pitchFamily="18" charset="0"/>
                        </a:rPr>
                        <a:t>Key Findings</a:t>
                      </a:r>
                    </a:p>
                  </a:txBody>
                  <a:tcPr marL="67838" marR="67838" marT="0" marB="0"/>
                </a:tc>
                <a:tc>
                  <a:txBody>
                    <a:bodyPr/>
                    <a:lstStyle/>
                    <a:p>
                      <a:pPr marL="0" marR="0" algn="ctr">
                        <a:lnSpc>
                          <a:spcPct val="115000"/>
                        </a:lnSpc>
                        <a:spcBef>
                          <a:spcPts val="0"/>
                        </a:spcBef>
                        <a:spcAft>
                          <a:spcPts val="0"/>
                        </a:spcAft>
                      </a:pPr>
                      <a:r>
                        <a:rPr lang="en-US" sz="2000" dirty="0">
                          <a:effectLst/>
                          <a:latin typeface="Times New Roman" pitchFamily="18" charset="0"/>
                          <a:ea typeface="Calibri"/>
                          <a:cs typeface="Times New Roman" pitchFamily="18" charset="0"/>
                        </a:rPr>
                        <a:t>Limitations</a:t>
                      </a:r>
                    </a:p>
                  </a:txBody>
                  <a:tcPr marL="67838" marR="67838" marT="0" marB="0"/>
                </a:tc>
                <a:extLst>
                  <a:ext uri="{0D108BD9-81ED-4DB2-BD59-A6C34878D82A}">
                    <a16:rowId xmlns:a16="http://schemas.microsoft.com/office/drawing/2014/main" val="10000"/>
                  </a:ext>
                </a:extLst>
              </a:tr>
              <a:tr h="1121664">
                <a:tc>
                  <a:txBody>
                    <a:bodyPr/>
                    <a:lstStyle/>
                    <a:p>
                      <a:pPr marL="0" marR="0" algn="ctr">
                        <a:lnSpc>
                          <a:spcPct val="115000"/>
                        </a:lnSpc>
                        <a:spcBef>
                          <a:spcPts val="0"/>
                        </a:spcBef>
                        <a:spcAft>
                          <a:spcPts val="0"/>
                        </a:spcAft>
                      </a:pPr>
                      <a:r>
                        <a:rPr lang="en-US" sz="1600" dirty="0">
                          <a:effectLst/>
                          <a:latin typeface="Times New Roman" pitchFamily="18" charset="0"/>
                          <a:ea typeface="+mn-ea"/>
                          <a:cs typeface="Times New Roman" pitchFamily="18" charset="0"/>
                        </a:rPr>
                        <a:t>5</a:t>
                      </a:r>
                      <a:endParaRPr lang="en-US" sz="1600" dirty="0">
                        <a:effectLst/>
                        <a:latin typeface="Times New Roman" pitchFamily="18" charset="0"/>
                        <a:ea typeface="Calibri"/>
                        <a:cs typeface="Times New Roman" pitchFamily="18" charset="0"/>
                      </a:endParaRPr>
                    </a:p>
                  </a:txBody>
                  <a:tcPr marL="67838" marR="67838" marT="0" marB="0">
                    <a:solidFill>
                      <a:srgbClr val="C4E1F2"/>
                    </a:solidFill>
                  </a:tcPr>
                </a:tc>
                <a:tc>
                  <a:txBody>
                    <a:bodyPr/>
                    <a:lstStyle/>
                    <a:p>
                      <a:pPr marL="0" marR="0" algn="just">
                        <a:lnSpc>
                          <a:spcPct val="115000"/>
                        </a:lnSpc>
                        <a:spcBef>
                          <a:spcPts val="0"/>
                        </a:spcBef>
                        <a:spcAft>
                          <a:spcPts val="0"/>
                        </a:spcAft>
                      </a:pPr>
                      <a:r>
                        <a:rPr lang="en-US" sz="1600" b="0" i="1" kern="1200" dirty="0">
                          <a:solidFill>
                            <a:schemeClr val="tx1"/>
                          </a:solidFill>
                          <a:effectLst/>
                          <a:latin typeface="Times New Roman" panose="02020603050405020304" pitchFamily="18" charset="0"/>
                          <a:ea typeface="+mn-ea"/>
                          <a:cs typeface="Times New Roman" panose="02020603050405020304" pitchFamily="18" charset="0"/>
                        </a:rPr>
                        <a:t>The Case for Quantum Key Distribution</a:t>
                      </a:r>
                      <a:r>
                        <a:rPr lang="en-US" sz="16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600" b="0" i="0" kern="1200" dirty="0" err="1">
                          <a:solidFill>
                            <a:schemeClr val="tx1"/>
                          </a:solidFill>
                          <a:effectLst/>
                          <a:latin typeface="Times New Roman" panose="02020603050405020304" pitchFamily="18" charset="0"/>
                          <a:ea typeface="+mn-ea"/>
                          <a:cs typeface="Times New Roman" panose="02020603050405020304" pitchFamily="18" charset="0"/>
                        </a:rPr>
                        <a:t>Stebila</a:t>
                      </a:r>
                      <a:r>
                        <a:rPr lang="en-US" sz="1600" b="0" i="0" kern="1200" dirty="0">
                          <a:solidFill>
                            <a:schemeClr val="tx1"/>
                          </a:solidFill>
                          <a:effectLst/>
                          <a:latin typeface="Times New Roman" panose="02020603050405020304" pitchFamily="18" charset="0"/>
                          <a:ea typeface="+mn-ea"/>
                          <a:cs typeface="Times New Roman" panose="02020603050405020304" pitchFamily="18" charset="0"/>
                        </a:rPr>
                        <a:t> et al.)</a:t>
                      </a:r>
                      <a:endParaRPr lang="en-US" sz="1100" dirty="0">
                        <a:effectLst/>
                        <a:latin typeface="Times New Roman" pitchFamily="18" charset="0"/>
                        <a:ea typeface="Calibri"/>
                        <a:cs typeface="Times New Roman" pitchFamily="18" charset="0"/>
                      </a:endParaRPr>
                    </a:p>
                  </a:txBody>
                  <a:tcPr marL="67838" marR="67838" marT="0" marB="0">
                    <a:solidFill>
                      <a:srgbClr val="C4E1F2"/>
                    </a:solidFill>
                  </a:tcPr>
                </a:tc>
                <a:tc>
                  <a:txBody>
                    <a:bodyPr/>
                    <a:lstStyle/>
                    <a:p>
                      <a:pPr marL="0" marR="0" algn="just">
                        <a:lnSpc>
                          <a:spcPct val="115000"/>
                        </a:lnSpc>
                        <a:spcBef>
                          <a:spcPts val="0"/>
                        </a:spcBef>
                        <a:spcAft>
                          <a:spcPts val="0"/>
                        </a:spcAft>
                      </a:pPr>
                      <a:r>
                        <a:rPr lang="en-US" sz="1600" b="0" i="0" kern="1200" dirty="0">
                          <a:solidFill>
                            <a:schemeClr val="tx1"/>
                          </a:solidFill>
                          <a:effectLst/>
                          <a:latin typeface="Times New Roman" panose="02020603050405020304" pitchFamily="18" charset="0"/>
                          <a:ea typeface="+mn-ea"/>
                          <a:cs typeface="Times New Roman" panose="02020603050405020304" pitchFamily="18" charset="0"/>
                        </a:rPr>
                        <a:t>Hybrid Cryptography, Authenticated Key Exchange</a:t>
                      </a:r>
                      <a:endParaRPr lang="en-US" sz="1100" dirty="0">
                        <a:effectLst/>
                        <a:latin typeface="Times New Roman" pitchFamily="18" charset="0"/>
                        <a:ea typeface="Calibri"/>
                        <a:cs typeface="Times New Roman" pitchFamily="18" charset="0"/>
                      </a:endParaRPr>
                    </a:p>
                  </a:txBody>
                  <a:tcPr marL="67838" marR="67838" marT="0" marB="0">
                    <a:solidFill>
                      <a:srgbClr val="C4E1F2"/>
                    </a:solidFill>
                  </a:tcPr>
                </a:tc>
                <a:tc>
                  <a:txBody>
                    <a:bodyPr/>
                    <a:lstStyle/>
                    <a:p>
                      <a:pPr marL="0" marR="0" algn="just">
                        <a:lnSpc>
                          <a:spcPct val="115000"/>
                        </a:lnSpc>
                        <a:spcBef>
                          <a:spcPts val="0"/>
                        </a:spcBef>
                        <a:spcAft>
                          <a:spcPts val="0"/>
                        </a:spcAft>
                      </a:pPr>
                      <a:r>
                        <a:rPr lang="en-US" sz="1600" b="0" i="0" kern="1200" dirty="0">
                          <a:solidFill>
                            <a:schemeClr val="tx1"/>
                          </a:solidFill>
                          <a:effectLst/>
                          <a:latin typeface="Times New Roman" panose="02020603050405020304" pitchFamily="18" charset="0"/>
                          <a:ea typeface="+mn-ea"/>
                          <a:cs typeface="Times New Roman" panose="02020603050405020304" pitchFamily="18" charset="0"/>
                        </a:rPr>
                        <a:t>Combining quantum physical layer and classical algorithmic layers ensures maximum transitional security.</a:t>
                      </a:r>
                      <a:endParaRPr lang="en-US" sz="1100" dirty="0">
                        <a:effectLst/>
                        <a:latin typeface="Times New Roman" pitchFamily="18" charset="0"/>
                        <a:ea typeface="Calibri"/>
                        <a:cs typeface="Times New Roman" pitchFamily="18" charset="0"/>
                      </a:endParaRPr>
                    </a:p>
                  </a:txBody>
                  <a:tcPr marL="67838" marR="67838" marT="0" marB="0">
                    <a:solidFill>
                      <a:srgbClr val="C4E1F2"/>
                    </a:solidFill>
                  </a:tcPr>
                </a:tc>
                <a:tc>
                  <a:txBody>
                    <a:bodyPr/>
                    <a:lstStyle/>
                    <a:p>
                      <a:pPr marL="0" marR="0" algn="just">
                        <a:lnSpc>
                          <a:spcPct val="115000"/>
                        </a:lnSpc>
                        <a:spcBef>
                          <a:spcPts val="0"/>
                        </a:spcBef>
                        <a:spcAft>
                          <a:spcPts val="0"/>
                        </a:spcAft>
                      </a:pPr>
                      <a:r>
                        <a:rPr lang="en-US" sz="1600" b="0" i="0" kern="1200" dirty="0">
                          <a:solidFill>
                            <a:schemeClr val="tx1"/>
                          </a:solidFill>
                          <a:effectLst/>
                          <a:latin typeface="Times New Roman" panose="02020603050405020304" pitchFamily="18" charset="0"/>
                          <a:ea typeface="+mn-ea"/>
                          <a:cs typeface="Times New Roman" panose="02020603050405020304" pitchFamily="18" charset="0"/>
                        </a:rPr>
                        <a:t>Significantly increases system implementation complexity and hardware costs.</a:t>
                      </a:r>
                      <a:endParaRPr lang="en-US" sz="1100" dirty="0">
                        <a:effectLst/>
                        <a:latin typeface="Times New Roman" pitchFamily="18" charset="0"/>
                        <a:ea typeface="Calibri"/>
                        <a:cs typeface="Times New Roman" pitchFamily="18" charset="0"/>
                      </a:endParaRPr>
                    </a:p>
                  </a:txBody>
                  <a:tcPr marL="67838" marR="67838" marT="0" marB="0">
                    <a:solidFill>
                      <a:srgbClr val="C4E1F2"/>
                    </a:solidFill>
                  </a:tcPr>
                </a:tc>
                <a:extLst>
                  <a:ext uri="{0D108BD9-81ED-4DB2-BD59-A6C34878D82A}">
                    <a16:rowId xmlns:a16="http://schemas.microsoft.com/office/drawing/2014/main" val="10001"/>
                  </a:ext>
                </a:extLst>
              </a:tr>
              <a:tr h="841249">
                <a:tc>
                  <a:txBody>
                    <a:bodyPr/>
                    <a:lstStyle/>
                    <a:p>
                      <a:pPr marL="0" marR="0" algn="ctr">
                        <a:lnSpc>
                          <a:spcPct val="115000"/>
                        </a:lnSpc>
                        <a:spcBef>
                          <a:spcPts val="0"/>
                        </a:spcBef>
                        <a:spcAft>
                          <a:spcPts val="0"/>
                        </a:spcAft>
                      </a:pPr>
                      <a:r>
                        <a:rPr lang="en-US" sz="1600" dirty="0">
                          <a:effectLst/>
                          <a:latin typeface="Times New Roman" pitchFamily="18" charset="0"/>
                          <a:ea typeface="+mn-ea"/>
                          <a:cs typeface="Times New Roman" pitchFamily="18" charset="0"/>
                        </a:rPr>
                        <a:t>6</a:t>
                      </a:r>
                      <a:endParaRPr lang="en-US" sz="1600" dirty="0">
                        <a:effectLst/>
                        <a:latin typeface="Times New Roman" pitchFamily="18" charset="0"/>
                        <a:ea typeface="Calibri"/>
                        <a:cs typeface="Times New Roman" pitchFamily="18" charset="0"/>
                      </a:endParaRPr>
                    </a:p>
                  </a:txBody>
                  <a:tcPr marL="67838" marR="67838" marT="0" marB="0"/>
                </a:tc>
                <a:tc>
                  <a:txBody>
                    <a:bodyPr/>
                    <a:lstStyle/>
                    <a:p>
                      <a:pPr marL="0" marR="0" algn="just">
                        <a:lnSpc>
                          <a:spcPct val="115000"/>
                        </a:lnSpc>
                        <a:spcBef>
                          <a:spcPts val="0"/>
                        </a:spcBef>
                        <a:spcAft>
                          <a:spcPts val="0"/>
                        </a:spcAft>
                      </a:pPr>
                      <a:r>
                        <a:rPr lang="en-IN" sz="1600" b="0" i="1" kern="1200" dirty="0">
                          <a:solidFill>
                            <a:schemeClr val="tx1"/>
                          </a:solidFill>
                          <a:effectLst/>
                          <a:latin typeface="Times New Roman" panose="02020603050405020304" pitchFamily="18" charset="0"/>
                          <a:ea typeface="+mn-ea"/>
                          <a:cs typeface="Times New Roman" panose="02020603050405020304" pitchFamily="18" charset="0"/>
                        </a:rPr>
                        <a:t>Lattice-based cryptography</a:t>
                      </a:r>
                      <a:r>
                        <a:rPr lang="en-IN" sz="16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IN" sz="1600" b="0" i="0" kern="1200" dirty="0" err="1">
                          <a:solidFill>
                            <a:schemeClr val="tx1"/>
                          </a:solidFill>
                          <a:effectLst/>
                          <a:latin typeface="Times New Roman" panose="02020603050405020304" pitchFamily="18" charset="0"/>
                          <a:ea typeface="+mn-ea"/>
                          <a:cs typeface="Times New Roman" panose="02020603050405020304" pitchFamily="18" charset="0"/>
                        </a:rPr>
                        <a:t>Micciancio</a:t>
                      </a:r>
                      <a:r>
                        <a:rPr lang="en-IN" sz="1600" b="0" i="0" kern="1200" dirty="0">
                          <a:solidFill>
                            <a:schemeClr val="tx1"/>
                          </a:solidFill>
                          <a:effectLst/>
                          <a:latin typeface="Times New Roman" panose="02020603050405020304" pitchFamily="18" charset="0"/>
                          <a:ea typeface="+mn-ea"/>
                          <a:cs typeface="Times New Roman" panose="02020603050405020304" pitchFamily="18" charset="0"/>
                        </a:rPr>
                        <a:t> &amp; Regev)</a:t>
                      </a:r>
                      <a:endParaRPr lang="en-US" sz="1100" dirty="0">
                        <a:effectLst/>
                        <a:latin typeface="Times New Roman" pitchFamily="18" charset="0"/>
                        <a:ea typeface="Calibri"/>
                        <a:cs typeface="Times New Roman" pitchFamily="18" charset="0"/>
                      </a:endParaRPr>
                    </a:p>
                  </a:txBody>
                  <a:tcPr marL="67838" marR="67838" marT="0" marB="0"/>
                </a:tc>
                <a:tc>
                  <a:txBody>
                    <a:bodyPr/>
                    <a:lstStyle/>
                    <a:p>
                      <a:pPr marL="0" marR="0" algn="just">
                        <a:lnSpc>
                          <a:spcPct val="115000"/>
                        </a:lnSpc>
                        <a:spcBef>
                          <a:spcPts val="0"/>
                        </a:spcBef>
                        <a:spcAft>
                          <a:spcPts val="0"/>
                        </a:spcAft>
                      </a:pPr>
                      <a:r>
                        <a:rPr lang="en-US" sz="1600" b="0" i="0" kern="1200" dirty="0">
                          <a:solidFill>
                            <a:schemeClr val="tx1"/>
                          </a:solidFill>
                          <a:effectLst/>
                          <a:latin typeface="Times New Roman" panose="02020603050405020304" pitchFamily="18" charset="0"/>
                          <a:ea typeface="+mn-ea"/>
                          <a:cs typeface="Times New Roman" panose="02020603050405020304" pitchFamily="18" charset="0"/>
                        </a:rPr>
                        <a:t>Shortest Vector Problem (SVP), Geometric Hardness</a:t>
                      </a:r>
                      <a:endParaRPr lang="en-US" sz="1100" dirty="0">
                        <a:effectLst/>
                        <a:latin typeface="Times New Roman" pitchFamily="18" charset="0"/>
                        <a:ea typeface="Calibri"/>
                        <a:cs typeface="Times New Roman" pitchFamily="18" charset="0"/>
                      </a:endParaRPr>
                    </a:p>
                  </a:txBody>
                  <a:tcPr marL="67838" marR="67838" marT="0" marB="0"/>
                </a:tc>
                <a:tc>
                  <a:txBody>
                    <a:bodyPr/>
                    <a:lstStyle/>
                    <a:p>
                      <a:pPr marL="0" marR="0" algn="just">
                        <a:lnSpc>
                          <a:spcPct val="115000"/>
                        </a:lnSpc>
                        <a:spcBef>
                          <a:spcPts val="0"/>
                        </a:spcBef>
                        <a:spcAft>
                          <a:spcPts val="0"/>
                        </a:spcAft>
                      </a:pPr>
                      <a:r>
                        <a:rPr lang="en-US" sz="1600" b="0" i="0" kern="1200" dirty="0">
                          <a:solidFill>
                            <a:schemeClr val="tx1"/>
                          </a:solidFill>
                          <a:effectLst/>
                          <a:latin typeface="Times New Roman" panose="02020603050405020304" pitchFamily="18" charset="0"/>
                          <a:ea typeface="+mn-ea"/>
                          <a:cs typeface="Times New Roman" panose="02020603050405020304" pitchFamily="18" charset="0"/>
                        </a:rPr>
                        <a:t>Found that geometric mapping and hyper-grid complexities cannot be solved faster by quantum algorithms.</a:t>
                      </a:r>
                      <a:endParaRPr lang="en-US" sz="1100" dirty="0">
                        <a:effectLst/>
                        <a:latin typeface="Times New Roman" pitchFamily="18" charset="0"/>
                        <a:ea typeface="Calibri"/>
                        <a:cs typeface="Times New Roman" pitchFamily="18" charset="0"/>
                      </a:endParaRPr>
                    </a:p>
                  </a:txBody>
                  <a:tcPr marL="67838" marR="67838" marT="0" marB="0"/>
                </a:tc>
                <a:tc>
                  <a:txBody>
                    <a:bodyPr/>
                    <a:lstStyle/>
                    <a:p>
                      <a:pPr marL="0" marR="0" algn="just">
                        <a:lnSpc>
                          <a:spcPct val="115000"/>
                        </a:lnSpc>
                        <a:spcBef>
                          <a:spcPts val="0"/>
                        </a:spcBef>
                        <a:spcAft>
                          <a:spcPts val="0"/>
                        </a:spcAft>
                      </a:pPr>
                      <a:r>
                        <a:rPr lang="en-US" sz="1600" b="0" i="0" kern="1200" dirty="0">
                          <a:solidFill>
                            <a:schemeClr val="tx1"/>
                          </a:solidFill>
                          <a:effectLst/>
                          <a:latin typeface="Times New Roman" panose="02020603050405020304" pitchFamily="18" charset="0"/>
                          <a:ea typeface="+mn-ea"/>
                          <a:cs typeface="Times New Roman" panose="02020603050405020304" pitchFamily="18" charset="0"/>
                        </a:rPr>
                        <a:t>Specialized mathematical structures can be difficult to optimize for low-power devices.</a:t>
                      </a:r>
                      <a:endParaRPr lang="en-US" sz="1100" dirty="0">
                        <a:effectLst/>
                        <a:latin typeface="Times New Roman" pitchFamily="18" charset="0"/>
                        <a:ea typeface="Calibri"/>
                        <a:cs typeface="Times New Roman" pitchFamily="18" charset="0"/>
                      </a:endParaRPr>
                    </a:p>
                  </a:txBody>
                  <a:tcPr marL="67838" marR="67838" marT="0" marB="0"/>
                </a:tc>
                <a:extLst>
                  <a:ext uri="{0D108BD9-81ED-4DB2-BD59-A6C34878D82A}">
                    <a16:rowId xmlns:a16="http://schemas.microsoft.com/office/drawing/2014/main" val="10002"/>
                  </a:ext>
                </a:extLst>
              </a:tr>
              <a:tr h="841249">
                <a:tc>
                  <a:txBody>
                    <a:bodyPr/>
                    <a:lstStyle/>
                    <a:p>
                      <a:pPr marL="0" marR="0" algn="ctr">
                        <a:lnSpc>
                          <a:spcPct val="115000"/>
                        </a:lnSpc>
                        <a:spcBef>
                          <a:spcPts val="0"/>
                        </a:spcBef>
                        <a:spcAft>
                          <a:spcPts val="0"/>
                        </a:spcAft>
                      </a:pPr>
                      <a:r>
                        <a:rPr lang="en-US" sz="1600" dirty="0">
                          <a:effectLst/>
                          <a:latin typeface="Times New Roman" pitchFamily="18" charset="0"/>
                          <a:ea typeface="+mn-ea"/>
                          <a:cs typeface="Times New Roman" pitchFamily="18" charset="0"/>
                        </a:rPr>
                        <a:t>7</a:t>
                      </a:r>
                      <a:endParaRPr lang="en-US" sz="1600" dirty="0">
                        <a:effectLst/>
                        <a:latin typeface="Times New Roman" pitchFamily="18" charset="0"/>
                        <a:ea typeface="Calibri"/>
                        <a:cs typeface="Times New Roman" pitchFamily="18" charset="0"/>
                      </a:endParaRPr>
                    </a:p>
                  </a:txBody>
                  <a:tcPr marL="67838" marR="67838" marT="0" marB="0">
                    <a:solidFill>
                      <a:srgbClr val="C4E1F2"/>
                    </a:solidFill>
                  </a:tcPr>
                </a:tc>
                <a:tc>
                  <a:txBody>
                    <a:bodyPr/>
                    <a:lstStyle/>
                    <a:p>
                      <a:pPr marL="0" marR="0" indent="0" algn="just" defTabSz="914400" rtl="0" eaLnBrk="1" fontAlgn="auto" latinLnBrk="0" hangingPunct="1">
                        <a:lnSpc>
                          <a:spcPct val="115000"/>
                        </a:lnSpc>
                        <a:spcBef>
                          <a:spcPts val="0"/>
                        </a:spcBef>
                        <a:spcAft>
                          <a:spcPts val="0"/>
                        </a:spcAft>
                        <a:buClrTx/>
                        <a:buSzTx/>
                        <a:buFontTx/>
                        <a:buNone/>
                        <a:tabLst/>
                        <a:defRPr/>
                      </a:pPr>
                      <a:r>
                        <a:rPr lang="en-US" sz="1600" b="0" i="1" kern="1200" dirty="0">
                          <a:solidFill>
                            <a:schemeClr val="tx1"/>
                          </a:solidFill>
                          <a:effectLst/>
                          <a:latin typeface="Times New Roman" panose="02020603050405020304" pitchFamily="18" charset="0"/>
                          <a:ea typeface="+mn-ea"/>
                          <a:cs typeface="Times New Roman" panose="02020603050405020304" pitchFamily="18" charset="0"/>
                        </a:rPr>
                        <a:t>Cryptographic extraction and key derivation</a:t>
                      </a:r>
                      <a:r>
                        <a:rPr lang="en-US" sz="1600" b="0" i="0" kern="1200" dirty="0">
                          <a:solidFill>
                            <a:schemeClr val="tx1"/>
                          </a:solidFill>
                          <a:effectLst/>
                          <a:latin typeface="Times New Roman" panose="02020603050405020304" pitchFamily="18" charset="0"/>
                          <a:ea typeface="+mn-ea"/>
                          <a:cs typeface="Times New Roman" panose="02020603050405020304" pitchFamily="18" charset="0"/>
                        </a:rPr>
                        <a:t> (Krawczyk)</a:t>
                      </a:r>
                      <a:endParaRPr lang="en-US" sz="1100" dirty="0">
                        <a:effectLst/>
                        <a:latin typeface="Times New Roman" pitchFamily="18" charset="0"/>
                        <a:ea typeface="Calibri"/>
                        <a:cs typeface="Times New Roman" pitchFamily="18" charset="0"/>
                      </a:endParaRPr>
                    </a:p>
                  </a:txBody>
                  <a:tcPr marL="67838" marR="67838" marT="0" marB="0">
                    <a:solidFill>
                      <a:srgbClr val="C4E1F2"/>
                    </a:solidFill>
                  </a:tcPr>
                </a:tc>
                <a:tc>
                  <a:txBody>
                    <a:bodyPr/>
                    <a:lstStyle/>
                    <a:p>
                      <a:pPr marL="0" marR="0" algn="just">
                        <a:lnSpc>
                          <a:spcPct val="115000"/>
                        </a:lnSpc>
                        <a:spcBef>
                          <a:spcPts val="0"/>
                        </a:spcBef>
                        <a:spcAft>
                          <a:spcPts val="0"/>
                        </a:spcAft>
                      </a:pPr>
                      <a:r>
                        <a:rPr lang="en-US" sz="1600" b="0" i="0" kern="1200" dirty="0">
                          <a:solidFill>
                            <a:schemeClr val="tx1"/>
                          </a:solidFill>
                          <a:effectLst/>
                          <a:latin typeface="Times New Roman" panose="02020603050405020304" pitchFamily="18" charset="0"/>
                          <a:ea typeface="+mn-ea"/>
                          <a:cs typeface="Times New Roman" panose="02020603050405020304" pitchFamily="18" charset="0"/>
                        </a:rPr>
                        <a:t>Hash-based Privacy Amplification, SHA function</a:t>
                      </a:r>
                      <a:endParaRPr lang="en-US" sz="1100" dirty="0">
                        <a:effectLst/>
                        <a:latin typeface="Times New Roman" pitchFamily="18" charset="0"/>
                        <a:ea typeface="Calibri"/>
                        <a:cs typeface="Times New Roman" pitchFamily="18" charset="0"/>
                      </a:endParaRPr>
                    </a:p>
                  </a:txBody>
                  <a:tcPr marL="67838" marR="67838" marT="0" marB="0">
                    <a:solidFill>
                      <a:srgbClr val="C4E1F2"/>
                    </a:solidFill>
                  </a:tcPr>
                </a:tc>
                <a:tc>
                  <a:txBody>
                    <a:bodyPr/>
                    <a:lstStyle/>
                    <a:p>
                      <a:pPr marL="0" marR="0" algn="just">
                        <a:lnSpc>
                          <a:spcPct val="115000"/>
                        </a:lnSpc>
                        <a:spcBef>
                          <a:spcPts val="0"/>
                        </a:spcBef>
                        <a:spcAft>
                          <a:spcPts val="0"/>
                        </a:spcAft>
                      </a:pPr>
                      <a:r>
                        <a:rPr lang="en-US" sz="1600" b="0" i="0" kern="1200" dirty="0">
                          <a:solidFill>
                            <a:schemeClr val="tx1"/>
                          </a:solidFill>
                          <a:effectLst/>
                          <a:latin typeface="Times New Roman" panose="02020603050405020304" pitchFamily="18" charset="0"/>
                          <a:ea typeface="+mn-ea"/>
                          <a:cs typeface="Times New Roman" panose="02020603050405020304" pitchFamily="18" charset="0"/>
                        </a:rPr>
                        <a:t>Proven that noisy, imperfect quantum bitstrings can be deterministically converted into perfect AES keys.</a:t>
                      </a:r>
                      <a:endParaRPr lang="en-US" sz="1100" dirty="0">
                        <a:effectLst/>
                        <a:latin typeface="Times New Roman" pitchFamily="18" charset="0"/>
                        <a:ea typeface="Calibri"/>
                        <a:cs typeface="Times New Roman" pitchFamily="18" charset="0"/>
                      </a:endParaRPr>
                    </a:p>
                  </a:txBody>
                  <a:tcPr marL="67838" marR="67838" marT="0" marB="0">
                    <a:solidFill>
                      <a:srgbClr val="C4E1F2"/>
                    </a:solidFill>
                  </a:tcPr>
                </a:tc>
                <a:tc>
                  <a:txBody>
                    <a:bodyPr/>
                    <a:lstStyle/>
                    <a:p>
                      <a:pPr marL="0" marR="0" algn="just">
                        <a:lnSpc>
                          <a:spcPct val="115000"/>
                        </a:lnSpc>
                        <a:spcBef>
                          <a:spcPts val="0"/>
                        </a:spcBef>
                        <a:spcAft>
                          <a:spcPts val="0"/>
                        </a:spcAft>
                      </a:pPr>
                      <a:r>
                        <a:rPr lang="en-US" sz="1600" b="0" i="0" kern="1200" dirty="0">
                          <a:solidFill>
                            <a:schemeClr val="tx1"/>
                          </a:solidFill>
                          <a:effectLst/>
                          <a:latin typeface="Times New Roman" panose="02020603050405020304" pitchFamily="18" charset="0"/>
                          <a:ea typeface="+mn-ea"/>
                          <a:cs typeface="Times New Roman" panose="02020603050405020304" pitchFamily="18" charset="0"/>
                        </a:rPr>
                        <a:t>May introduce slight computational overhead if extracting massively large key streams.</a:t>
                      </a:r>
                      <a:endParaRPr lang="en-US" sz="1100" dirty="0">
                        <a:effectLst/>
                        <a:latin typeface="Times New Roman" pitchFamily="18" charset="0"/>
                        <a:ea typeface="Calibri"/>
                        <a:cs typeface="Times New Roman" pitchFamily="18" charset="0"/>
                      </a:endParaRPr>
                    </a:p>
                  </a:txBody>
                  <a:tcPr marL="67838" marR="67838" marT="0" marB="0">
                    <a:solidFill>
                      <a:srgbClr val="C4E1F2"/>
                    </a:solidFill>
                  </a:tcPr>
                </a:tc>
                <a:extLst>
                  <a:ext uri="{0D108BD9-81ED-4DB2-BD59-A6C34878D82A}">
                    <a16:rowId xmlns:a16="http://schemas.microsoft.com/office/drawing/2014/main" val="10003"/>
                  </a:ext>
                </a:extLst>
              </a:tr>
              <a:tr h="1121664">
                <a:tc>
                  <a:txBody>
                    <a:bodyPr/>
                    <a:lstStyle/>
                    <a:p>
                      <a:pPr marL="0" marR="0" algn="ctr">
                        <a:lnSpc>
                          <a:spcPct val="115000"/>
                        </a:lnSpc>
                        <a:spcBef>
                          <a:spcPts val="0"/>
                        </a:spcBef>
                        <a:spcAft>
                          <a:spcPts val="0"/>
                        </a:spcAft>
                      </a:pPr>
                      <a:r>
                        <a:rPr lang="en-US" sz="1600" dirty="0">
                          <a:effectLst/>
                          <a:latin typeface="Times New Roman" pitchFamily="18" charset="0"/>
                          <a:ea typeface="+mn-ea"/>
                          <a:cs typeface="Times New Roman" pitchFamily="18" charset="0"/>
                        </a:rPr>
                        <a:t>8</a:t>
                      </a:r>
                      <a:endParaRPr lang="en-US" sz="1600" dirty="0">
                        <a:effectLst/>
                        <a:latin typeface="Times New Roman" pitchFamily="18" charset="0"/>
                        <a:ea typeface="Calibri"/>
                        <a:cs typeface="Times New Roman" pitchFamily="18" charset="0"/>
                      </a:endParaRPr>
                    </a:p>
                  </a:txBody>
                  <a:tcPr marL="67838" marR="67838" marT="0" marB="0"/>
                </a:tc>
                <a:tc>
                  <a:txBody>
                    <a:bodyPr/>
                    <a:lstStyle/>
                    <a:p>
                      <a:pPr marL="0" marR="0" indent="0" algn="just" defTabSz="914400" rtl="0" eaLnBrk="1" fontAlgn="auto" latinLnBrk="0" hangingPunct="1">
                        <a:lnSpc>
                          <a:spcPct val="115000"/>
                        </a:lnSpc>
                        <a:spcBef>
                          <a:spcPts val="0"/>
                        </a:spcBef>
                        <a:spcAft>
                          <a:spcPts val="0"/>
                        </a:spcAft>
                        <a:buClrTx/>
                        <a:buSzTx/>
                        <a:buFontTx/>
                        <a:buNone/>
                        <a:tabLst/>
                        <a:defRPr/>
                      </a:pPr>
                      <a:r>
                        <a:rPr lang="fr-FR" sz="1600" b="0" i="1" kern="1200" dirty="0">
                          <a:solidFill>
                            <a:schemeClr val="tx1"/>
                          </a:solidFill>
                          <a:effectLst/>
                          <a:latin typeface="Times New Roman" panose="02020603050405020304" pitchFamily="18" charset="0"/>
                          <a:ea typeface="+mn-ea"/>
                          <a:cs typeface="Times New Roman" panose="02020603050405020304" pitchFamily="18" charset="0"/>
                        </a:rPr>
                        <a:t>NIST Post-Quantum </a:t>
                      </a:r>
                      <a:r>
                        <a:rPr lang="fr-FR" sz="1600" b="0" i="1" kern="1200" dirty="0" err="1">
                          <a:solidFill>
                            <a:schemeClr val="tx1"/>
                          </a:solidFill>
                          <a:effectLst/>
                          <a:latin typeface="Times New Roman" panose="02020603050405020304" pitchFamily="18" charset="0"/>
                          <a:ea typeface="+mn-ea"/>
                          <a:cs typeface="Times New Roman" panose="02020603050405020304" pitchFamily="18" charset="0"/>
                        </a:rPr>
                        <a:t>Cryptography</a:t>
                      </a:r>
                      <a:r>
                        <a:rPr lang="fr-FR" sz="1600" b="0" i="1" kern="1200" dirty="0">
                          <a:solidFill>
                            <a:schemeClr val="tx1"/>
                          </a:solidFill>
                          <a:effectLst/>
                          <a:latin typeface="Times New Roman" panose="02020603050405020304" pitchFamily="18" charset="0"/>
                          <a:ea typeface="+mn-ea"/>
                          <a:cs typeface="Times New Roman" panose="02020603050405020304" pitchFamily="18" charset="0"/>
                        </a:rPr>
                        <a:t> </a:t>
                      </a:r>
                      <a:r>
                        <a:rPr lang="fr-FR" sz="1600" b="0" i="1" kern="1200" dirty="0" err="1">
                          <a:solidFill>
                            <a:schemeClr val="tx1"/>
                          </a:solidFill>
                          <a:effectLst/>
                          <a:latin typeface="Times New Roman" panose="02020603050405020304" pitchFamily="18" charset="0"/>
                          <a:ea typeface="+mn-ea"/>
                          <a:cs typeface="Times New Roman" panose="02020603050405020304" pitchFamily="18" charset="0"/>
                        </a:rPr>
                        <a:t>Standardization</a:t>
                      </a:r>
                      <a:r>
                        <a:rPr lang="fr-FR" sz="1600" b="0" i="0" kern="1200" dirty="0">
                          <a:solidFill>
                            <a:schemeClr val="tx1"/>
                          </a:solidFill>
                          <a:effectLst/>
                          <a:latin typeface="Times New Roman" panose="02020603050405020304" pitchFamily="18" charset="0"/>
                          <a:ea typeface="+mn-ea"/>
                          <a:cs typeface="Times New Roman" panose="02020603050405020304" pitchFamily="18" charset="0"/>
                        </a:rPr>
                        <a:t> (</a:t>
                      </a:r>
                      <a:r>
                        <a:rPr lang="fr-FR" sz="1600" b="0" i="0" kern="1200" dirty="0" err="1">
                          <a:solidFill>
                            <a:schemeClr val="tx1"/>
                          </a:solidFill>
                          <a:effectLst/>
                          <a:latin typeface="Times New Roman" panose="02020603050405020304" pitchFamily="18" charset="0"/>
                          <a:ea typeface="+mn-ea"/>
                          <a:cs typeface="Times New Roman" panose="02020603050405020304" pitchFamily="18" charset="0"/>
                        </a:rPr>
                        <a:t>Alagic</a:t>
                      </a:r>
                      <a:r>
                        <a:rPr lang="fr-FR" sz="1600" b="0" i="0" kern="1200" dirty="0">
                          <a:solidFill>
                            <a:schemeClr val="tx1"/>
                          </a:solidFill>
                          <a:effectLst/>
                          <a:latin typeface="Times New Roman" panose="02020603050405020304" pitchFamily="18" charset="0"/>
                          <a:ea typeface="+mn-ea"/>
                          <a:cs typeface="Times New Roman" panose="02020603050405020304" pitchFamily="18" charset="0"/>
                        </a:rPr>
                        <a:t> et al.)</a:t>
                      </a:r>
                      <a:endParaRPr lang="en-US" sz="1100" dirty="0">
                        <a:effectLst/>
                        <a:latin typeface="Times New Roman" pitchFamily="18" charset="0"/>
                        <a:ea typeface="Calibri"/>
                        <a:cs typeface="Times New Roman" pitchFamily="18" charset="0"/>
                      </a:endParaRPr>
                    </a:p>
                  </a:txBody>
                  <a:tcPr marL="67838" marR="67838" marT="0" marB="0"/>
                </a:tc>
                <a:tc>
                  <a:txBody>
                    <a:bodyPr/>
                    <a:lstStyle/>
                    <a:p>
                      <a:pPr marL="0" marR="0" algn="just">
                        <a:lnSpc>
                          <a:spcPct val="115000"/>
                        </a:lnSpc>
                        <a:spcBef>
                          <a:spcPts val="0"/>
                        </a:spcBef>
                        <a:spcAft>
                          <a:spcPts val="0"/>
                        </a:spcAft>
                      </a:pPr>
                      <a:r>
                        <a:rPr lang="en-IN" sz="1600" b="0" i="0" kern="1200" dirty="0">
                          <a:solidFill>
                            <a:schemeClr val="tx1"/>
                          </a:solidFill>
                          <a:effectLst/>
                          <a:latin typeface="Times New Roman" panose="02020603050405020304" pitchFamily="18" charset="0"/>
                          <a:ea typeface="+mn-ea"/>
                          <a:cs typeface="Times New Roman" panose="02020603050405020304" pitchFamily="18" charset="0"/>
                        </a:rPr>
                        <a:t>Algorithmic Benchmarking, Standardization Evaluations</a:t>
                      </a:r>
                      <a:endParaRPr lang="en-US" sz="1100" dirty="0">
                        <a:effectLst/>
                        <a:latin typeface="Times New Roman" pitchFamily="18" charset="0"/>
                        <a:ea typeface="Calibri"/>
                        <a:cs typeface="Times New Roman" pitchFamily="18" charset="0"/>
                      </a:endParaRPr>
                    </a:p>
                  </a:txBody>
                  <a:tcPr marL="67838" marR="67838" marT="0" marB="0"/>
                </a:tc>
                <a:tc>
                  <a:txBody>
                    <a:bodyPr/>
                    <a:lstStyle/>
                    <a:p>
                      <a:pPr marL="0" marR="0" algn="just">
                        <a:lnSpc>
                          <a:spcPct val="115000"/>
                        </a:lnSpc>
                        <a:spcBef>
                          <a:spcPts val="0"/>
                        </a:spcBef>
                        <a:spcAft>
                          <a:spcPts val="0"/>
                        </a:spcAft>
                      </a:pPr>
                      <a:r>
                        <a:rPr lang="en-US" sz="1600" b="0" i="0" kern="1200" dirty="0">
                          <a:solidFill>
                            <a:schemeClr val="tx1"/>
                          </a:solidFill>
                          <a:effectLst/>
                          <a:latin typeface="Times New Roman" panose="02020603050405020304" pitchFamily="18" charset="0"/>
                          <a:ea typeface="+mn-ea"/>
                          <a:cs typeface="Times New Roman" panose="02020603050405020304" pitchFamily="18" charset="0"/>
                        </a:rPr>
                        <a:t>Identified lattice-based cryptography as the globally dominant and most viable standard for post-quantum defense.</a:t>
                      </a:r>
                      <a:endParaRPr lang="en-US" sz="1100" dirty="0">
                        <a:effectLst/>
                        <a:latin typeface="Times New Roman" pitchFamily="18" charset="0"/>
                        <a:ea typeface="Calibri"/>
                        <a:cs typeface="Times New Roman" pitchFamily="18" charset="0"/>
                      </a:endParaRPr>
                    </a:p>
                  </a:txBody>
                  <a:tcPr marL="67838" marR="67838" marT="0" marB="0"/>
                </a:tc>
                <a:tc>
                  <a:txBody>
                    <a:bodyPr/>
                    <a:lstStyle/>
                    <a:p>
                      <a:pPr marL="0" marR="0" algn="just">
                        <a:lnSpc>
                          <a:spcPct val="115000"/>
                        </a:lnSpc>
                        <a:spcBef>
                          <a:spcPts val="0"/>
                        </a:spcBef>
                        <a:spcAft>
                          <a:spcPts val="0"/>
                        </a:spcAft>
                      </a:pPr>
                      <a:r>
                        <a:rPr lang="en-US" sz="1600" b="0" i="0" kern="1200" dirty="0">
                          <a:solidFill>
                            <a:schemeClr val="tx1"/>
                          </a:solidFill>
                          <a:effectLst/>
                          <a:latin typeface="Times New Roman" panose="02020603050405020304" pitchFamily="18" charset="0"/>
                          <a:ea typeface="+mn-ea"/>
                          <a:cs typeface="Times New Roman" panose="02020603050405020304" pitchFamily="18" charset="0"/>
                        </a:rPr>
                        <a:t>As it is still evolving, the standard is subject to minor algorithmic tweaks.</a:t>
                      </a:r>
                      <a:endParaRPr lang="en-US" sz="1100" dirty="0">
                        <a:effectLst/>
                        <a:latin typeface="Times New Roman" pitchFamily="18" charset="0"/>
                        <a:ea typeface="Calibri"/>
                        <a:cs typeface="Times New Roman" pitchFamily="18" charset="0"/>
                      </a:endParaRPr>
                    </a:p>
                  </a:txBody>
                  <a:tcPr marL="67838" marR="67838" marT="0" marB="0"/>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4516665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801600" cy="1512146"/>
          </a:xfrm>
          <a:solidFill>
            <a:schemeClr val="tx2">
              <a:lumMod val="60000"/>
              <a:lumOff val="40000"/>
            </a:schemeClr>
          </a:solidFill>
        </p:spPr>
        <p:txBody>
          <a:bodyPr vert="horz" lIns="114945" tIns="57473" rIns="114945" bIns="57473" rtlCol="0" anchor="ctr">
            <a:normAutofit/>
          </a:bodyPr>
          <a:lstStyle/>
          <a:p>
            <a:r>
              <a:rPr lang="en-US" sz="3700" b="1" dirty="0">
                <a:solidFill>
                  <a:schemeClr val="bg1"/>
                </a:solidFill>
                <a:latin typeface="Times New Roman" pitchFamily="18" charset="0"/>
                <a:cs typeface="Times New Roman" pitchFamily="18" charset="0"/>
              </a:rPr>
              <a:t>LITERATURE SURVEY (CONTD..,)</a:t>
            </a:r>
            <a:endParaRPr lang="en-GB" sz="3700" b="1" dirty="0">
              <a:solidFill>
                <a:schemeClr val="bg1"/>
              </a:solidFill>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C02A2637-A5A3-49FA-B214-6E67543099EF}" type="slidenum">
              <a:rPr lang="en-US" smtClean="0"/>
              <a:t>7</a:t>
            </a:fld>
            <a:endParaRPr lang="en-US"/>
          </a:p>
        </p:txBody>
      </p:sp>
      <p:graphicFrame>
        <p:nvGraphicFramePr>
          <p:cNvPr id="5" name="Content Placeholder 5"/>
          <p:cNvGraphicFramePr>
            <a:graphicFrameLocks/>
          </p:cNvGraphicFramePr>
          <p:nvPr>
            <p:extLst>
              <p:ext uri="{D42A27DB-BD31-4B8C-83A1-F6EECF244321}">
                <p14:modId xmlns:p14="http://schemas.microsoft.com/office/powerpoint/2010/main" val="3401894579"/>
              </p:ext>
            </p:extLst>
          </p:nvPr>
        </p:nvGraphicFramePr>
        <p:xfrm>
          <a:off x="685799" y="1669892"/>
          <a:ext cx="11475720" cy="2617500"/>
        </p:xfrm>
        <a:graphic>
          <a:graphicData uri="http://schemas.openxmlformats.org/drawingml/2006/table">
            <a:tbl>
              <a:tblPr firstRow="1" firstCol="1" bandRow="1">
                <a:tableStyleId>{BC89EF96-8CEA-46FF-86C4-4CE0E7609802}</a:tableStyleId>
              </a:tblPr>
              <a:tblGrid>
                <a:gridCol w="702131">
                  <a:extLst>
                    <a:ext uri="{9D8B030D-6E8A-4147-A177-3AD203B41FA5}">
                      <a16:colId xmlns:a16="http://schemas.microsoft.com/office/drawing/2014/main" val="20000"/>
                    </a:ext>
                  </a:extLst>
                </a:gridCol>
                <a:gridCol w="2543764">
                  <a:extLst>
                    <a:ext uri="{9D8B030D-6E8A-4147-A177-3AD203B41FA5}">
                      <a16:colId xmlns:a16="http://schemas.microsoft.com/office/drawing/2014/main" val="20001"/>
                    </a:ext>
                  </a:extLst>
                </a:gridCol>
                <a:gridCol w="2917847">
                  <a:extLst>
                    <a:ext uri="{9D8B030D-6E8A-4147-A177-3AD203B41FA5}">
                      <a16:colId xmlns:a16="http://schemas.microsoft.com/office/drawing/2014/main" val="20002"/>
                    </a:ext>
                  </a:extLst>
                </a:gridCol>
                <a:gridCol w="2827859">
                  <a:extLst>
                    <a:ext uri="{9D8B030D-6E8A-4147-A177-3AD203B41FA5}">
                      <a16:colId xmlns:a16="http://schemas.microsoft.com/office/drawing/2014/main" val="1023101934"/>
                    </a:ext>
                  </a:extLst>
                </a:gridCol>
                <a:gridCol w="2484119">
                  <a:extLst>
                    <a:ext uri="{9D8B030D-6E8A-4147-A177-3AD203B41FA5}">
                      <a16:colId xmlns:a16="http://schemas.microsoft.com/office/drawing/2014/main" val="548304626"/>
                    </a:ext>
                  </a:extLst>
                </a:gridCol>
              </a:tblGrid>
              <a:tr h="396651">
                <a:tc>
                  <a:txBody>
                    <a:bodyPr/>
                    <a:lstStyle/>
                    <a:p>
                      <a:pPr marL="0" marR="0" algn="ctr">
                        <a:lnSpc>
                          <a:spcPct val="115000"/>
                        </a:lnSpc>
                        <a:spcBef>
                          <a:spcPts val="0"/>
                        </a:spcBef>
                        <a:spcAft>
                          <a:spcPts val="0"/>
                        </a:spcAft>
                      </a:pPr>
                      <a:r>
                        <a:rPr lang="en-US" sz="2000" dirty="0">
                          <a:effectLst/>
                          <a:latin typeface="Times New Roman" pitchFamily="18" charset="0"/>
                          <a:cs typeface="Times New Roman" pitchFamily="18" charset="0"/>
                        </a:rPr>
                        <a:t>S.No</a:t>
                      </a:r>
                      <a:endParaRPr lang="en-US" sz="2000" dirty="0">
                        <a:effectLst/>
                        <a:latin typeface="Times New Roman" pitchFamily="18" charset="0"/>
                        <a:ea typeface="Calibri"/>
                        <a:cs typeface="Times New Roman" pitchFamily="18" charset="0"/>
                      </a:endParaRPr>
                    </a:p>
                  </a:txBody>
                  <a:tcPr marL="67838" marR="67838" marT="0" marB="0"/>
                </a:tc>
                <a:tc>
                  <a:txBody>
                    <a:bodyPr/>
                    <a:lstStyle/>
                    <a:p>
                      <a:pPr marL="0" marR="0" algn="ctr">
                        <a:lnSpc>
                          <a:spcPct val="115000"/>
                        </a:lnSpc>
                        <a:spcBef>
                          <a:spcPts val="0"/>
                        </a:spcBef>
                        <a:spcAft>
                          <a:spcPts val="0"/>
                        </a:spcAft>
                      </a:pPr>
                      <a:r>
                        <a:rPr lang="en-US" sz="2000" dirty="0">
                          <a:effectLst/>
                          <a:latin typeface="Times New Roman" pitchFamily="18" charset="0"/>
                          <a:cs typeface="Times New Roman" pitchFamily="18" charset="0"/>
                        </a:rPr>
                        <a:t>Article  Title </a:t>
                      </a:r>
                      <a:endParaRPr lang="en-US" sz="2000" dirty="0">
                        <a:effectLst/>
                        <a:latin typeface="Times New Roman" pitchFamily="18" charset="0"/>
                        <a:ea typeface="Calibri"/>
                        <a:cs typeface="Times New Roman" pitchFamily="18" charset="0"/>
                      </a:endParaRPr>
                    </a:p>
                  </a:txBody>
                  <a:tcPr marL="67838" marR="67838" marT="0" marB="0"/>
                </a:tc>
                <a:tc>
                  <a:txBody>
                    <a:bodyPr/>
                    <a:lstStyle/>
                    <a:p>
                      <a:pPr marL="0" marR="0" algn="ctr">
                        <a:lnSpc>
                          <a:spcPct val="115000"/>
                        </a:lnSpc>
                        <a:spcBef>
                          <a:spcPts val="0"/>
                        </a:spcBef>
                        <a:spcAft>
                          <a:spcPts val="0"/>
                        </a:spcAft>
                      </a:pPr>
                      <a:r>
                        <a:rPr lang="en-US" sz="2000" dirty="0">
                          <a:effectLst/>
                          <a:latin typeface="Times New Roman" pitchFamily="18" charset="0"/>
                          <a:ea typeface="Calibri"/>
                          <a:cs typeface="Times New Roman" pitchFamily="18" charset="0"/>
                        </a:rPr>
                        <a:t>Techniques Used</a:t>
                      </a:r>
                    </a:p>
                  </a:txBody>
                  <a:tcPr marL="67838" marR="67838" marT="0" marB="0"/>
                </a:tc>
                <a:tc>
                  <a:txBody>
                    <a:bodyPr/>
                    <a:lstStyle/>
                    <a:p>
                      <a:pPr marL="0" marR="0" algn="ctr">
                        <a:lnSpc>
                          <a:spcPct val="115000"/>
                        </a:lnSpc>
                        <a:spcBef>
                          <a:spcPts val="0"/>
                        </a:spcBef>
                        <a:spcAft>
                          <a:spcPts val="0"/>
                        </a:spcAft>
                      </a:pPr>
                      <a:r>
                        <a:rPr lang="en-US" sz="2000" dirty="0">
                          <a:effectLst/>
                          <a:latin typeface="Times New Roman" pitchFamily="18" charset="0"/>
                          <a:ea typeface="Calibri"/>
                          <a:cs typeface="Times New Roman" pitchFamily="18" charset="0"/>
                        </a:rPr>
                        <a:t>Key Findings</a:t>
                      </a:r>
                    </a:p>
                  </a:txBody>
                  <a:tcPr marL="67838" marR="67838" marT="0" marB="0"/>
                </a:tc>
                <a:tc>
                  <a:txBody>
                    <a:bodyPr/>
                    <a:lstStyle/>
                    <a:p>
                      <a:pPr marL="0" marR="0" algn="ctr">
                        <a:lnSpc>
                          <a:spcPct val="115000"/>
                        </a:lnSpc>
                        <a:spcBef>
                          <a:spcPts val="0"/>
                        </a:spcBef>
                        <a:spcAft>
                          <a:spcPts val="0"/>
                        </a:spcAft>
                      </a:pPr>
                      <a:r>
                        <a:rPr lang="en-US" sz="2000" dirty="0">
                          <a:effectLst/>
                          <a:latin typeface="Times New Roman" pitchFamily="18" charset="0"/>
                          <a:ea typeface="Calibri"/>
                          <a:cs typeface="Times New Roman" pitchFamily="18" charset="0"/>
                        </a:rPr>
                        <a:t>Limitations</a:t>
                      </a:r>
                    </a:p>
                  </a:txBody>
                  <a:tcPr marL="67838" marR="67838" marT="0" marB="0"/>
                </a:tc>
                <a:extLst>
                  <a:ext uri="{0D108BD9-81ED-4DB2-BD59-A6C34878D82A}">
                    <a16:rowId xmlns:a16="http://schemas.microsoft.com/office/drawing/2014/main" val="10000"/>
                  </a:ext>
                </a:extLst>
              </a:tr>
              <a:tr h="1121664">
                <a:tc>
                  <a:txBody>
                    <a:bodyPr/>
                    <a:lstStyle/>
                    <a:p>
                      <a:pPr marL="0" marR="0" algn="ctr">
                        <a:lnSpc>
                          <a:spcPct val="115000"/>
                        </a:lnSpc>
                        <a:spcBef>
                          <a:spcPts val="0"/>
                        </a:spcBef>
                        <a:spcAft>
                          <a:spcPts val="0"/>
                        </a:spcAft>
                      </a:pPr>
                      <a:r>
                        <a:rPr lang="en-US" sz="1600" dirty="0">
                          <a:effectLst/>
                          <a:latin typeface="Times New Roman" pitchFamily="18" charset="0"/>
                          <a:ea typeface="+mn-ea"/>
                          <a:cs typeface="Times New Roman" pitchFamily="18" charset="0"/>
                        </a:rPr>
                        <a:t>9</a:t>
                      </a:r>
                      <a:endParaRPr lang="en-US" sz="1600" dirty="0">
                        <a:effectLst/>
                        <a:latin typeface="Times New Roman" pitchFamily="18" charset="0"/>
                        <a:ea typeface="Calibri"/>
                        <a:cs typeface="Times New Roman" pitchFamily="18" charset="0"/>
                      </a:endParaRPr>
                    </a:p>
                  </a:txBody>
                  <a:tcPr marL="67838" marR="67838" marT="0" marB="0">
                    <a:solidFill>
                      <a:srgbClr val="C4E1F2"/>
                    </a:solidFill>
                  </a:tcPr>
                </a:tc>
                <a:tc>
                  <a:txBody>
                    <a:bodyPr/>
                    <a:lstStyle/>
                    <a:p>
                      <a:pPr marL="0" marR="0" algn="just">
                        <a:lnSpc>
                          <a:spcPct val="115000"/>
                        </a:lnSpc>
                        <a:spcBef>
                          <a:spcPts val="0"/>
                        </a:spcBef>
                        <a:spcAft>
                          <a:spcPts val="0"/>
                        </a:spcAft>
                      </a:pPr>
                      <a:r>
                        <a:rPr lang="en-IN" sz="1600" b="0" i="1" kern="1200" dirty="0">
                          <a:solidFill>
                            <a:schemeClr val="tx1"/>
                          </a:solidFill>
                          <a:effectLst/>
                          <a:latin typeface="Times New Roman" panose="02020603050405020304" pitchFamily="18" charset="0"/>
                          <a:ea typeface="+mn-ea"/>
                          <a:cs typeface="Times New Roman" panose="02020603050405020304" pitchFamily="18" charset="0"/>
                        </a:rPr>
                        <a:t>Post-quantum cryptography</a:t>
                      </a:r>
                      <a:r>
                        <a:rPr lang="en-IN" sz="1600" b="0" i="0" kern="1200" dirty="0">
                          <a:solidFill>
                            <a:schemeClr val="tx1"/>
                          </a:solidFill>
                          <a:effectLst/>
                          <a:latin typeface="Times New Roman" panose="02020603050405020304" pitchFamily="18" charset="0"/>
                          <a:ea typeface="+mn-ea"/>
                          <a:cs typeface="Times New Roman" panose="02020603050405020304" pitchFamily="18" charset="0"/>
                        </a:rPr>
                        <a:t> (Bernstein &amp; Lange)</a:t>
                      </a:r>
                      <a:endParaRPr lang="en-US" sz="1100" dirty="0">
                        <a:effectLst/>
                        <a:latin typeface="Times New Roman" pitchFamily="18" charset="0"/>
                        <a:ea typeface="Calibri"/>
                        <a:cs typeface="Times New Roman" pitchFamily="18" charset="0"/>
                      </a:endParaRPr>
                    </a:p>
                  </a:txBody>
                  <a:tcPr marL="67838" marR="67838" marT="0" marB="0">
                    <a:solidFill>
                      <a:srgbClr val="C4E1F2"/>
                    </a:solidFill>
                  </a:tcPr>
                </a:tc>
                <a:tc>
                  <a:txBody>
                    <a:bodyPr/>
                    <a:lstStyle/>
                    <a:p>
                      <a:pPr marL="0" marR="0" algn="just">
                        <a:lnSpc>
                          <a:spcPct val="115000"/>
                        </a:lnSpc>
                        <a:spcBef>
                          <a:spcPts val="0"/>
                        </a:spcBef>
                        <a:spcAft>
                          <a:spcPts val="0"/>
                        </a:spcAft>
                      </a:pPr>
                      <a:r>
                        <a:rPr lang="en-IN" sz="1600" b="0" i="0" kern="1200" dirty="0">
                          <a:solidFill>
                            <a:schemeClr val="tx1"/>
                          </a:solidFill>
                          <a:effectLst/>
                          <a:latin typeface="Times New Roman" panose="02020603050405020304" pitchFamily="18" charset="0"/>
                          <a:ea typeface="+mn-ea"/>
                          <a:cs typeface="Times New Roman" panose="02020603050405020304" pitchFamily="18" charset="0"/>
                        </a:rPr>
                        <a:t>Complexity Analysis, Performance  Benchmarking</a:t>
                      </a:r>
                      <a:endParaRPr lang="en-US" sz="1100" dirty="0">
                        <a:effectLst/>
                        <a:latin typeface="Times New Roman" pitchFamily="18" charset="0"/>
                        <a:ea typeface="Calibri"/>
                        <a:cs typeface="Times New Roman" pitchFamily="18" charset="0"/>
                      </a:endParaRPr>
                    </a:p>
                  </a:txBody>
                  <a:tcPr marL="67838" marR="67838" marT="0" marB="0">
                    <a:solidFill>
                      <a:srgbClr val="C4E1F2"/>
                    </a:solidFill>
                  </a:tcPr>
                </a:tc>
                <a:tc>
                  <a:txBody>
                    <a:bodyPr/>
                    <a:lstStyle/>
                    <a:p>
                      <a:pPr marL="0" marR="0" algn="just">
                        <a:lnSpc>
                          <a:spcPct val="115000"/>
                        </a:lnSpc>
                        <a:spcBef>
                          <a:spcPts val="0"/>
                        </a:spcBef>
                        <a:spcAft>
                          <a:spcPts val="0"/>
                        </a:spcAft>
                      </a:pPr>
                      <a:r>
                        <a:rPr lang="en-US" sz="1600" b="0" i="0" kern="1200" dirty="0">
                          <a:solidFill>
                            <a:schemeClr val="tx1"/>
                          </a:solidFill>
                          <a:effectLst/>
                          <a:latin typeface="Times New Roman" panose="02020603050405020304" pitchFamily="18" charset="0"/>
                          <a:ea typeface="+mn-ea"/>
                          <a:cs typeface="Times New Roman" panose="02020603050405020304" pitchFamily="18" charset="0"/>
                        </a:rPr>
                        <a:t>Indicated that geometric and spatial post-quantum operations often logically outperform classical algebraic methods.</a:t>
                      </a:r>
                      <a:endParaRPr lang="en-US" sz="1100" dirty="0">
                        <a:effectLst/>
                        <a:latin typeface="Times New Roman" pitchFamily="18" charset="0"/>
                        <a:ea typeface="Calibri"/>
                        <a:cs typeface="Times New Roman" pitchFamily="18" charset="0"/>
                      </a:endParaRPr>
                    </a:p>
                  </a:txBody>
                  <a:tcPr marL="67838" marR="67838" marT="0" marB="0">
                    <a:solidFill>
                      <a:srgbClr val="C4E1F2"/>
                    </a:solidFill>
                  </a:tcPr>
                </a:tc>
                <a:tc>
                  <a:txBody>
                    <a:bodyPr/>
                    <a:lstStyle/>
                    <a:p>
                      <a:pPr marL="0" marR="0" algn="just">
                        <a:lnSpc>
                          <a:spcPct val="115000"/>
                        </a:lnSpc>
                        <a:spcBef>
                          <a:spcPts val="0"/>
                        </a:spcBef>
                        <a:spcAft>
                          <a:spcPts val="0"/>
                        </a:spcAft>
                      </a:pPr>
                      <a:r>
                        <a:rPr lang="en-US" sz="1600" b="0" i="0" kern="1200" dirty="0">
                          <a:solidFill>
                            <a:schemeClr val="tx1"/>
                          </a:solidFill>
                          <a:effectLst/>
                          <a:latin typeface="Times New Roman" panose="02020603050405020304" pitchFamily="18" charset="0"/>
                          <a:ea typeface="+mn-ea"/>
                          <a:cs typeface="Times New Roman" panose="02020603050405020304" pitchFamily="18" charset="0"/>
                        </a:rPr>
                        <a:t>Heavy reliance on server architecture efficiency and high memory bandwidth.</a:t>
                      </a:r>
                      <a:endParaRPr lang="en-US" sz="1100" dirty="0">
                        <a:effectLst/>
                        <a:latin typeface="Times New Roman" pitchFamily="18" charset="0"/>
                        <a:ea typeface="Calibri"/>
                        <a:cs typeface="Times New Roman" pitchFamily="18" charset="0"/>
                      </a:endParaRPr>
                    </a:p>
                  </a:txBody>
                  <a:tcPr marL="67838" marR="67838" marT="0" marB="0">
                    <a:solidFill>
                      <a:srgbClr val="C4E1F2"/>
                    </a:solidFill>
                  </a:tcPr>
                </a:tc>
                <a:extLst>
                  <a:ext uri="{0D108BD9-81ED-4DB2-BD59-A6C34878D82A}">
                    <a16:rowId xmlns:a16="http://schemas.microsoft.com/office/drawing/2014/main" val="10001"/>
                  </a:ext>
                </a:extLst>
              </a:tr>
              <a:tr h="816358">
                <a:tc>
                  <a:txBody>
                    <a:bodyPr/>
                    <a:lstStyle/>
                    <a:p>
                      <a:pPr marL="0" marR="0" algn="ctr">
                        <a:lnSpc>
                          <a:spcPct val="115000"/>
                        </a:lnSpc>
                        <a:spcBef>
                          <a:spcPts val="0"/>
                        </a:spcBef>
                        <a:spcAft>
                          <a:spcPts val="0"/>
                        </a:spcAft>
                      </a:pPr>
                      <a:r>
                        <a:rPr lang="en-US" sz="1600" dirty="0">
                          <a:effectLst/>
                          <a:latin typeface="Times New Roman" pitchFamily="18" charset="0"/>
                          <a:ea typeface="+mn-ea"/>
                          <a:cs typeface="Times New Roman" pitchFamily="18" charset="0"/>
                        </a:rPr>
                        <a:t>10</a:t>
                      </a:r>
                      <a:endParaRPr lang="en-US" sz="1600" dirty="0">
                        <a:effectLst/>
                        <a:latin typeface="Times New Roman" pitchFamily="18" charset="0"/>
                        <a:ea typeface="Calibri"/>
                        <a:cs typeface="Times New Roman" pitchFamily="18" charset="0"/>
                      </a:endParaRPr>
                    </a:p>
                  </a:txBody>
                  <a:tcPr marL="67838" marR="67838" marT="0" marB="0"/>
                </a:tc>
                <a:tc>
                  <a:txBody>
                    <a:bodyPr/>
                    <a:lstStyle/>
                    <a:p>
                      <a:pPr marL="0" marR="0" algn="just">
                        <a:lnSpc>
                          <a:spcPct val="115000"/>
                        </a:lnSpc>
                        <a:spcBef>
                          <a:spcPts val="0"/>
                        </a:spcBef>
                        <a:spcAft>
                          <a:spcPts val="0"/>
                        </a:spcAft>
                      </a:pPr>
                      <a:r>
                        <a:rPr lang="en-US" sz="1600" b="0" i="1" kern="1200" dirty="0">
                          <a:solidFill>
                            <a:schemeClr val="tx1"/>
                          </a:solidFill>
                          <a:effectLst/>
                          <a:latin typeface="Times New Roman" panose="02020603050405020304" pitchFamily="18" charset="0"/>
                          <a:ea typeface="+mn-ea"/>
                          <a:cs typeface="Times New Roman" panose="02020603050405020304" pitchFamily="18" charset="0"/>
                        </a:rPr>
                        <a:t>Spatial Data Security based on Geometric Mapping</a:t>
                      </a:r>
                      <a:r>
                        <a:rPr lang="en-US" sz="1600" b="0" i="0" kern="1200" dirty="0">
                          <a:solidFill>
                            <a:schemeClr val="tx1"/>
                          </a:solidFill>
                          <a:effectLst/>
                          <a:latin typeface="Times New Roman" panose="02020603050405020304" pitchFamily="18" charset="0"/>
                          <a:ea typeface="+mn-ea"/>
                          <a:cs typeface="Times New Roman" panose="02020603050405020304" pitchFamily="18" charset="0"/>
                        </a:rPr>
                        <a:t> (Zhang et al.)</a:t>
                      </a:r>
                      <a:endParaRPr lang="en-US" sz="1100" dirty="0">
                        <a:effectLst/>
                        <a:latin typeface="Times New Roman" pitchFamily="18" charset="0"/>
                        <a:ea typeface="Calibri"/>
                        <a:cs typeface="Times New Roman" pitchFamily="18" charset="0"/>
                      </a:endParaRPr>
                    </a:p>
                  </a:txBody>
                  <a:tcPr marL="67838" marR="67838" marT="0" marB="0"/>
                </a:tc>
                <a:tc>
                  <a:txBody>
                    <a:bodyPr/>
                    <a:lstStyle/>
                    <a:p>
                      <a:pPr marL="0" marR="0" algn="just">
                        <a:lnSpc>
                          <a:spcPct val="115000"/>
                        </a:lnSpc>
                        <a:spcBef>
                          <a:spcPts val="0"/>
                        </a:spcBef>
                        <a:spcAft>
                          <a:spcPts val="0"/>
                        </a:spcAft>
                      </a:pPr>
                      <a:r>
                        <a:rPr lang="en-IN" sz="1600" b="0" i="0" kern="1200" dirty="0">
                          <a:solidFill>
                            <a:schemeClr val="tx1"/>
                          </a:solidFill>
                          <a:effectLst/>
                          <a:latin typeface="Times New Roman" panose="02020603050405020304" pitchFamily="18" charset="0"/>
                          <a:ea typeface="+mn-ea"/>
                          <a:cs typeface="Times New Roman" panose="02020603050405020304" pitchFamily="18" charset="0"/>
                        </a:rPr>
                        <a:t>Spatial Encryption, Bucket-Mapping Algorithms</a:t>
                      </a:r>
                      <a:endParaRPr lang="en-US" sz="1100" dirty="0">
                        <a:effectLst/>
                        <a:latin typeface="Times New Roman" pitchFamily="18" charset="0"/>
                        <a:ea typeface="Calibri"/>
                        <a:cs typeface="Times New Roman" pitchFamily="18" charset="0"/>
                      </a:endParaRPr>
                    </a:p>
                  </a:txBody>
                  <a:tcPr marL="67838" marR="67838" marT="0" marB="0"/>
                </a:tc>
                <a:tc>
                  <a:txBody>
                    <a:bodyPr/>
                    <a:lstStyle/>
                    <a:p>
                      <a:pPr marL="0" marR="0" algn="just">
                        <a:lnSpc>
                          <a:spcPct val="115000"/>
                        </a:lnSpc>
                        <a:spcBef>
                          <a:spcPts val="0"/>
                        </a:spcBef>
                        <a:spcAft>
                          <a:spcPts val="0"/>
                        </a:spcAft>
                      </a:pPr>
                      <a:r>
                        <a:rPr lang="en-US" sz="1600" b="0" i="0" kern="1200" dirty="0">
                          <a:solidFill>
                            <a:schemeClr val="tx1"/>
                          </a:solidFill>
                          <a:effectLst/>
                          <a:latin typeface="Times New Roman" panose="02020603050405020304" pitchFamily="18" charset="0"/>
                          <a:ea typeface="+mn-ea"/>
                          <a:cs typeface="Times New Roman" panose="02020603050405020304" pitchFamily="18" charset="0"/>
                        </a:rPr>
                        <a:t>Assigning data to specific angular or spatial coordinates flawlessly hides internal database structures.</a:t>
                      </a:r>
                      <a:endParaRPr lang="en-US" sz="1100" dirty="0">
                        <a:effectLst/>
                        <a:latin typeface="Times New Roman" pitchFamily="18" charset="0"/>
                        <a:ea typeface="Calibri"/>
                        <a:cs typeface="Times New Roman" pitchFamily="18" charset="0"/>
                      </a:endParaRPr>
                    </a:p>
                  </a:txBody>
                  <a:tcPr marL="67838" marR="67838" marT="0" marB="0"/>
                </a:tc>
                <a:tc>
                  <a:txBody>
                    <a:bodyPr/>
                    <a:lstStyle/>
                    <a:p>
                      <a:pPr marL="0" marR="0" algn="just">
                        <a:lnSpc>
                          <a:spcPct val="115000"/>
                        </a:lnSpc>
                        <a:spcBef>
                          <a:spcPts val="0"/>
                        </a:spcBef>
                        <a:spcAft>
                          <a:spcPts val="0"/>
                        </a:spcAft>
                      </a:pPr>
                      <a:r>
                        <a:rPr lang="en-US" sz="1600" b="0" i="0" kern="1200" dirty="0">
                          <a:solidFill>
                            <a:schemeClr val="tx1"/>
                          </a:solidFill>
                          <a:effectLst/>
                          <a:latin typeface="Times New Roman" panose="02020603050405020304" pitchFamily="18" charset="0"/>
                          <a:ea typeface="+mn-ea"/>
                          <a:cs typeface="Times New Roman" panose="02020603050405020304" pitchFamily="18" charset="0"/>
                        </a:rPr>
                        <a:t>Requires advanced modulo/angular calculations, adding a slight computational latency.</a:t>
                      </a:r>
                      <a:endParaRPr lang="en-US" sz="1100" dirty="0">
                        <a:effectLst/>
                        <a:latin typeface="Times New Roman" pitchFamily="18" charset="0"/>
                        <a:ea typeface="Calibri"/>
                        <a:cs typeface="Times New Roman" pitchFamily="18" charset="0"/>
                      </a:endParaRPr>
                    </a:p>
                  </a:txBody>
                  <a:tcPr marL="67838" marR="67838" marT="0" marB="0"/>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1452434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24EBC-07D1-5582-ECAD-FB015F64BD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93089C-2484-51E9-0A89-B13831434514}"/>
              </a:ext>
            </a:extLst>
          </p:cNvPr>
          <p:cNvSpPr>
            <a:spLocks noGrp="1"/>
          </p:cNvSpPr>
          <p:nvPr>
            <p:ph type="title"/>
          </p:nvPr>
        </p:nvSpPr>
        <p:spPr>
          <a:xfrm>
            <a:off x="0" y="0"/>
            <a:ext cx="12801600" cy="1512146"/>
          </a:xfrm>
          <a:solidFill>
            <a:schemeClr val="tx2">
              <a:lumMod val="60000"/>
              <a:lumOff val="40000"/>
            </a:schemeClr>
          </a:solidFill>
        </p:spPr>
        <p:txBody>
          <a:bodyPr vert="horz" lIns="114945" tIns="57473" rIns="114945" bIns="57473" rtlCol="0" anchor="ctr">
            <a:normAutofit/>
          </a:bodyPr>
          <a:lstStyle/>
          <a:p>
            <a:r>
              <a:rPr lang="en-US" sz="3700" b="1" dirty="0">
                <a:solidFill>
                  <a:schemeClr val="bg1"/>
                </a:solidFill>
                <a:latin typeface="Times New Roman" pitchFamily="18" charset="0"/>
                <a:cs typeface="Times New Roman" pitchFamily="18" charset="0"/>
              </a:rPr>
              <a:t>4. RESEARCH GAPS</a:t>
            </a:r>
            <a:endParaRPr lang="en-GB" sz="3700" b="1" dirty="0">
              <a:solidFill>
                <a:schemeClr val="bg1"/>
              </a:solidFill>
              <a:latin typeface="Times New Roman" pitchFamily="18" charset="0"/>
              <a:cs typeface="Times New Roman" pitchFamily="18" charset="0"/>
            </a:endParaRPr>
          </a:p>
        </p:txBody>
      </p:sp>
      <p:sp>
        <p:nvSpPr>
          <p:cNvPr id="6" name="TextBox 5">
            <a:extLst>
              <a:ext uri="{FF2B5EF4-FFF2-40B4-BE49-F238E27FC236}">
                <a16:creationId xmlns:a16="http://schemas.microsoft.com/office/drawing/2014/main" id="{DEEF50CB-35F1-17BE-3203-78D36F141E54}"/>
              </a:ext>
            </a:extLst>
          </p:cNvPr>
          <p:cNvSpPr txBox="1"/>
          <p:nvPr/>
        </p:nvSpPr>
        <p:spPr>
          <a:xfrm>
            <a:off x="152400" y="1676400"/>
            <a:ext cx="12420600" cy="5632311"/>
          </a:xfrm>
          <a:prstGeom prst="rect">
            <a:avLst/>
          </a:prstGeom>
          <a:noFill/>
        </p:spPr>
        <p:txBody>
          <a:bodyPr wrap="square" rtlCol="0">
            <a:spAutoFit/>
          </a:bodyPr>
          <a:lstStyle/>
          <a:p>
            <a:pPr marL="342900" indent="-34290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Transit vs. Storage Disconnect:</a:t>
            </a:r>
            <a:r>
              <a:rPr lang="en-US" sz="2400" dirty="0">
                <a:latin typeface="Times New Roman" panose="02020603050405020304" pitchFamily="18" charset="0"/>
                <a:cs typeface="Times New Roman" panose="02020603050405020304" pitchFamily="18" charset="0"/>
              </a:rPr>
              <a:t> QKD perfectly secures data in transit, but leaves centralized server data at rest highly vulnerable to "Harvest Now, Decrypt Later" breaches.</a:t>
            </a:r>
          </a:p>
          <a:p>
            <a:pPr marL="342900" indent="-34290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Architectural Flaws in PQC:</a:t>
            </a:r>
            <a:r>
              <a:rPr lang="en-US" sz="2400" dirty="0">
                <a:latin typeface="Times New Roman" panose="02020603050405020304" pitchFamily="18" charset="0"/>
                <a:cs typeface="Times New Roman" panose="02020603050405020304" pitchFamily="18" charset="0"/>
              </a:rPr>
              <a:t> Modern Post-Quantum algorithms upgrade encryption math but still blindly rely on highly vulnerable, linearly structured databases.</a:t>
            </a:r>
          </a:p>
          <a:p>
            <a:pPr marL="342900" indent="-34290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Computational Bottlenecks:</a:t>
            </a:r>
            <a:r>
              <a:rPr lang="en-US" sz="2400" dirty="0">
                <a:latin typeface="Times New Roman" panose="02020603050405020304" pitchFamily="18" charset="0"/>
                <a:cs typeface="Times New Roman" panose="02020603050405020304" pitchFamily="18" charset="0"/>
              </a:rPr>
              <a:t> Existing post-quantum models use massive cryptographic keys and heavy polynomial math, severely bottlenecking server memory and retrieval latency.</a:t>
            </a:r>
          </a:p>
          <a:p>
            <a:pPr marL="342900" indent="-34290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Unmitigated Insider Threats:</a:t>
            </a:r>
            <a:r>
              <a:rPr lang="en-US" sz="2400" dirty="0">
                <a:latin typeface="Times New Roman" panose="02020603050405020304" pitchFamily="18" charset="0"/>
                <a:cs typeface="Times New Roman" panose="02020603050405020304" pitchFamily="18" charset="0"/>
              </a:rPr>
              <a:t> Current systems authenticate primarily at the perimeter; laterally stored data remains entirely visibly exposed if an internal administrator account is breached.</a:t>
            </a:r>
          </a:p>
          <a:p>
            <a:pPr marL="342900" indent="-34290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The Integration Void:</a:t>
            </a:r>
            <a:r>
              <a:rPr lang="en-US" sz="2400" dirty="0">
                <a:latin typeface="Times New Roman" panose="02020603050405020304" pitchFamily="18" charset="0"/>
                <a:cs typeface="Times New Roman" panose="02020603050405020304" pitchFamily="18" charset="0"/>
              </a:rPr>
              <a:t> There is an ongoing lack of frameworks integrating quantum physics with spatial database geometry to dynamically </a:t>
            </a:r>
            <a:r>
              <a:rPr lang="en-US" sz="2400" i="1" dirty="0">
                <a:latin typeface="Times New Roman" panose="02020603050405020304" pitchFamily="18" charset="0"/>
                <a:cs typeface="Times New Roman" panose="02020603050405020304" pitchFamily="18" charset="0"/>
              </a:rPr>
              <a:t>hide</a:t>
            </a:r>
            <a:r>
              <a:rPr lang="en-US" sz="2400" dirty="0">
                <a:latin typeface="Times New Roman" panose="02020603050405020304" pitchFamily="18" charset="0"/>
                <a:cs typeface="Times New Roman" panose="02020603050405020304" pitchFamily="18" charset="0"/>
              </a:rPr>
              <a:t> data locations rather than just encrypting them.</a:t>
            </a:r>
          </a:p>
        </p:txBody>
      </p:sp>
      <p:sp>
        <p:nvSpPr>
          <p:cNvPr id="8" name="TextBox 7">
            <a:extLst>
              <a:ext uri="{FF2B5EF4-FFF2-40B4-BE49-F238E27FC236}">
                <a16:creationId xmlns:a16="http://schemas.microsoft.com/office/drawing/2014/main" id="{24A66CA4-98CF-D6AB-49FE-0AF7D6902F44}"/>
              </a:ext>
            </a:extLst>
          </p:cNvPr>
          <p:cNvSpPr txBox="1"/>
          <p:nvPr/>
        </p:nvSpPr>
        <p:spPr>
          <a:xfrm>
            <a:off x="10668000" y="6907848"/>
            <a:ext cx="2895600" cy="369332"/>
          </a:xfrm>
          <a:prstGeom prst="rect">
            <a:avLst/>
          </a:prstGeom>
          <a:noFill/>
        </p:spPr>
        <p:txBody>
          <a:bodyPr wrap="square" rtlCol="0">
            <a:spAutoFit/>
          </a:bodyPr>
          <a:lstStyle/>
          <a:p>
            <a:pPr algn="ctr"/>
            <a:r>
              <a:rPr lang="en-US" sz="1800" dirty="0">
                <a:solidFill>
                  <a:schemeClr val="tx1">
                    <a:lumMod val="50000"/>
                    <a:lumOff val="50000"/>
                  </a:schemeClr>
                </a:solidFill>
              </a:rPr>
              <a:t>8</a:t>
            </a:r>
            <a:endParaRPr lang="en-IN" sz="1800" dirty="0">
              <a:solidFill>
                <a:schemeClr val="tx1">
                  <a:lumMod val="50000"/>
                  <a:lumOff val="50000"/>
                </a:schemeClr>
              </a:solidFill>
            </a:endParaRPr>
          </a:p>
        </p:txBody>
      </p:sp>
    </p:spTree>
    <p:extLst>
      <p:ext uri="{BB962C8B-B14F-4D97-AF65-F5344CB8AC3E}">
        <p14:creationId xmlns:p14="http://schemas.microsoft.com/office/powerpoint/2010/main" val="42415402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7266A5-DEC6-423E-4642-6DAA46905B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FC9D02-AB68-99CB-182A-0A2671D6BD83}"/>
              </a:ext>
            </a:extLst>
          </p:cNvPr>
          <p:cNvSpPr>
            <a:spLocks noGrp="1"/>
          </p:cNvSpPr>
          <p:nvPr>
            <p:ph type="title"/>
          </p:nvPr>
        </p:nvSpPr>
        <p:spPr>
          <a:xfrm>
            <a:off x="0" y="0"/>
            <a:ext cx="12801600" cy="1512146"/>
          </a:xfrm>
          <a:solidFill>
            <a:schemeClr val="tx2">
              <a:lumMod val="60000"/>
              <a:lumOff val="40000"/>
            </a:schemeClr>
          </a:solidFill>
        </p:spPr>
        <p:txBody>
          <a:bodyPr vert="horz" lIns="114945" tIns="57473" rIns="114945" bIns="57473" rtlCol="0" anchor="ctr">
            <a:normAutofit/>
          </a:bodyPr>
          <a:lstStyle/>
          <a:p>
            <a:r>
              <a:rPr lang="en-GB" sz="3700" b="1" dirty="0">
                <a:solidFill>
                  <a:schemeClr val="bg1"/>
                </a:solidFill>
                <a:latin typeface="Times New Roman" pitchFamily="18" charset="0"/>
                <a:cs typeface="Times New Roman" pitchFamily="18" charset="0"/>
              </a:rPr>
              <a:t>5. OBJECTIVES</a:t>
            </a:r>
          </a:p>
        </p:txBody>
      </p:sp>
      <p:sp>
        <p:nvSpPr>
          <p:cNvPr id="4" name="Slide Number Placeholder 3">
            <a:extLst>
              <a:ext uri="{FF2B5EF4-FFF2-40B4-BE49-F238E27FC236}">
                <a16:creationId xmlns:a16="http://schemas.microsoft.com/office/drawing/2014/main" id="{0EDA4E0E-51B9-057E-EB16-03F0967919ED}"/>
              </a:ext>
            </a:extLst>
          </p:cNvPr>
          <p:cNvSpPr>
            <a:spLocks noGrp="1"/>
          </p:cNvSpPr>
          <p:nvPr>
            <p:ph type="sldNum" sz="quarter" idx="12"/>
          </p:nvPr>
        </p:nvSpPr>
        <p:spPr/>
        <p:txBody>
          <a:bodyPr/>
          <a:lstStyle/>
          <a:p>
            <a:fld id="{C02A2637-A5A3-49FA-B214-6E67543099EF}" type="slidenum">
              <a:rPr lang="en-US" smtClean="0"/>
              <a:t>9</a:t>
            </a:fld>
            <a:endParaRPr lang="en-US"/>
          </a:p>
        </p:txBody>
      </p:sp>
      <p:sp>
        <p:nvSpPr>
          <p:cNvPr id="5" name="TextBox 4">
            <a:extLst>
              <a:ext uri="{FF2B5EF4-FFF2-40B4-BE49-F238E27FC236}">
                <a16:creationId xmlns:a16="http://schemas.microsoft.com/office/drawing/2014/main" id="{4C9B0A29-AC80-0CD8-6B9B-BEDE4E0A5424}"/>
              </a:ext>
            </a:extLst>
          </p:cNvPr>
          <p:cNvSpPr txBox="1"/>
          <p:nvPr/>
        </p:nvSpPr>
        <p:spPr>
          <a:xfrm>
            <a:off x="228600" y="1688253"/>
            <a:ext cx="12115800" cy="5986254"/>
          </a:xfrm>
          <a:prstGeom prst="rect">
            <a:avLst/>
          </a:prstGeom>
          <a:noFill/>
        </p:spPr>
        <p:txBody>
          <a:bodyPr wrap="square" rtlCol="0">
            <a:spAutoFit/>
          </a:bodyPr>
          <a:lstStyle/>
          <a:p>
            <a:pPr marL="34290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Integrate QKD with Data Storage:</a:t>
            </a:r>
            <a:r>
              <a:rPr lang="en-IN" sz="2400" dirty="0">
                <a:latin typeface="Times New Roman" panose="02020603050405020304" pitchFamily="18" charset="0"/>
                <a:cs typeface="Times New Roman" panose="02020603050405020304" pitchFamily="18" charset="0"/>
              </a:rPr>
              <a:t> Design a Hybrid Framework that seamlessly bridges the gap between secure quantum data transit (BB84 protocol) and localized data-at-rest server storage.</a:t>
            </a:r>
          </a:p>
          <a:p>
            <a:pPr marL="34290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Develop Geometric Mapping (ABLKM):</a:t>
            </a:r>
            <a:r>
              <a:rPr lang="en-IN" sz="2400" dirty="0">
                <a:latin typeface="Times New Roman" panose="02020603050405020304" pitchFamily="18" charset="0"/>
                <a:cs typeface="Times New Roman" panose="02020603050405020304" pitchFamily="18" charset="0"/>
              </a:rPr>
              <a:t> Replace highly vulnerable, linearly structured databases with the Angular-Bucket Lattice architecture, anchoring encrypted payloads dynamically to a 2D spatial grid.</a:t>
            </a:r>
          </a:p>
          <a:p>
            <a:pPr marL="34290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Optimize Computational Efficiency:</a:t>
            </a:r>
            <a:r>
              <a:rPr lang="en-IN" sz="2400" dirty="0">
                <a:latin typeface="Times New Roman" panose="02020603050405020304" pitchFamily="18" charset="0"/>
                <a:cs typeface="Times New Roman" panose="02020603050405020304" pitchFamily="18" charset="0"/>
              </a:rPr>
              <a:t> Engineer lightweight data retrieval mechanics—using modulo arithmetic and spatial trigonometry—to entirely eliminate the server latency caused by heavy post-quantum algorithms.</a:t>
            </a:r>
          </a:p>
          <a:p>
            <a:pPr marL="34290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Enforce Zero-Trust Architecture:</a:t>
            </a:r>
            <a:r>
              <a:rPr lang="en-IN" sz="2400" dirty="0">
                <a:latin typeface="Times New Roman" panose="02020603050405020304" pitchFamily="18" charset="0"/>
                <a:cs typeface="Times New Roman" panose="02020603050405020304" pitchFamily="18" charset="0"/>
              </a:rPr>
              <a:t> Ensure that locating database payloads is completely impossible without externally derived quantum coordinates, effectively neutralizing insider threats and server administrator breaches.</a:t>
            </a:r>
          </a:p>
          <a:p>
            <a:pPr marL="34290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Neutralize "Harvest" Attacks:</a:t>
            </a:r>
            <a:r>
              <a:rPr lang="en-IN" sz="2400" dirty="0">
                <a:latin typeface="Times New Roman" panose="02020603050405020304" pitchFamily="18" charset="0"/>
                <a:cs typeface="Times New Roman" panose="02020603050405020304" pitchFamily="18" charset="0"/>
              </a:rPr>
              <a:t> Implement a mathematically provable </a:t>
            </a:r>
            <a:r>
              <a:rPr lang="en-IN" sz="2400" dirty="0" err="1">
                <a:latin typeface="Times New Roman" panose="02020603050405020304" pitchFamily="18" charset="0"/>
                <a:cs typeface="Times New Roman" panose="02020603050405020304" pitchFamily="18" charset="0"/>
              </a:rPr>
              <a:t>defense</a:t>
            </a:r>
            <a:r>
              <a:rPr lang="en-IN" sz="2400" dirty="0">
                <a:latin typeface="Times New Roman" panose="02020603050405020304" pitchFamily="18" charset="0"/>
                <a:cs typeface="Times New Roman" panose="02020603050405020304" pitchFamily="18" charset="0"/>
              </a:rPr>
              <a:t> mechanism where stolen server payloads cannot be decrypted without intercepting the initial physical photon transmission.</a:t>
            </a:r>
          </a:p>
          <a:p>
            <a:pPr marL="342900" indent="-342900">
              <a:buFont typeface="Arial" panose="020B0604020202020204" pitchFamily="34" charset="0"/>
              <a:buChar char="•"/>
            </a:pPr>
            <a:endParaRPr lang="en-IN" dirty="0"/>
          </a:p>
        </p:txBody>
      </p:sp>
    </p:spTree>
    <p:extLst>
      <p:ext uri="{BB962C8B-B14F-4D97-AF65-F5344CB8AC3E}">
        <p14:creationId xmlns:p14="http://schemas.microsoft.com/office/powerpoint/2010/main" val="7869865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76200"/>
            <a:ext cx="12801600" cy="1512146"/>
          </a:xfrm>
          <a:solidFill>
            <a:schemeClr val="tx2">
              <a:lumMod val="60000"/>
              <a:lumOff val="40000"/>
            </a:schemeClr>
          </a:solidFill>
        </p:spPr>
        <p:txBody>
          <a:bodyPr>
            <a:normAutofit/>
          </a:bodyPr>
          <a:lstStyle/>
          <a:p>
            <a:r>
              <a:rPr lang="en-US" sz="3700" b="1" dirty="0">
                <a:solidFill>
                  <a:schemeClr val="bg1"/>
                </a:solidFill>
                <a:latin typeface="Times New Roman" pitchFamily="18" charset="0"/>
                <a:cs typeface="Times New Roman" pitchFamily="18" charset="0"/>
              </a:rPr>
              <a:t>6. MODULE IDENTIFICATION</a:t>
            </a:r>
          </a:p>
        </p:txBody>
      </p:sp>
      <p:sp>
        <p:nvSpPr>
          <p:cNvPr id="3" name="Content Placeholder 2"/>
          <p:cNvSpPr>
            <a:spLocks noGrp="1"/>
          </p:cNvSpPr>
          <p:nvPr>
            <p:ph idx="1"/>
          </p:nvPr>
        </p:nvSpPr>
        <p:spPr/>
        <p:txBody>
          <a:bodyPr>
            <a:noAutofit/>
          </a:bodyPr>
          <a:lstStyle/>
          <a:p>
            <a:pPr marL="0" indent="0">
              <a:buNone/>
            </a:pPr>
            <a:r>
              <a:rPr lang="en-IN" sz="2400" b="1" dirty="0">
                <a:latin typeface="Times New Roman" panose="02020603050405020304" pitchFamily="18" charset="0"/>
                <a:cs typeface="Times New Roman" panose="02020603050405020304" pitchFamily="18" charset="0"/>
              </a:rPr>
              <a:t>Key Modules and Functionality:</a:t>
            </a:r>
            <a:endParaRPr lang="en-IN" sz="2400" dirty="0">
              <a:latin typeface="Times New Roman" panose="02020603050405020304" pitchFamily="18" charset="0"/>
              <a:cs typeface="Times New Roman" panose="02020603050405020304" pitchFamily="18" charset="0"/>
            </a:endParaRPr>
          </a:p>
          <a:p>
            <a:pPr marL="0" indent="0">
              <a:buNone/>
            </a:pPr>
            <a:r>
              <a:rPr lang="en-IN" sz="2400" b="1" dirty="0">
                <a:latin typeface="Times New Roman" panose="02020603050405020304" pitchFamily="18" charset="0"/>
                <a:cs typeface="Times New Roman" panose="02020603050405020304" pitchFamily="18" charset="0"/>
              </a:rPr>
              <a:t>1. QKD Transmission Module (BB84)</a:t>
            </a:r>
            <a:endParaRPr lang="en-IN" sz="2400" dirty="0">
              <a:latin typeface="Times New Roman" panose="02020603050405020304" pitchFamily="18" charset="0"/>
              <a:cs typeface="Times New Roman" panose="02020603050405020304" pitchFamily="18" charset="0"/>
            </a:endParaRPr>
          </a:p>
          <a:p>
            <a:pPr marL="0" indent="0">
              <a:buNone/>
            </a:pPr>
            <a:r>
              <a:rPr lang="en-IN" sz="2400" b="1" dirty="0">
                <a:latin typeface="Times New Roman" panose="02020603050405020304" pitchFamily="18" charset="0"/>
                <a:cs typeface="Times New Roman" panose="02020603050405020304" pitchFamily="18" charset="0"/>
              </a:rPr>
              <a:t>Functionality:</a:t>
            </a:r>
            <a:r>
              <a:rPr lang="en-IN" sz="2400" dirty="0">
                <a:latin typeface="Times New Roman" panose="02020603050405020304" pitchFamily="18" charset="0"/>
                <a:cs typeface="Times New Roman" panose="02020603050405020304" pitchFamily="18" charset="0"/>
              </a:rPr>
              <a:t> Handles photon polarization, quantum measurement, and SHA-256 privacy amplification to generate an unbreakable, shared 256-bit AES key.</a:t>
            </a:r>
          </a:p>
          <a:p>
            <a:pPr marL="0" indent="0">
              <a:buNone/>
            </a:pPr>
            <a:r>
              <a:rPr lang="en-IN" sz="2400" b="1" dirty="0">
                <a:latin typeface="Times New Roman" panose="02020603050405020304" pitchFamily="18" charset="0"/>
                <a:cs typeface="Times New Roman" panose="02020603050405020304" pitchFamily="18" charset="0"/>
              </a:rPr>
              <a:t>2. Reference Point Exchange Module</a:t>
            </a:r>
            <a:endParaRPr lang="en-IN" sz="2400" dirty="0">
              <a:latin typeface="Times New Roman" panose="02020603050405020304" pitchFamily="18" charset="0"/>
              <a:cs typeface="Times New Roman" panose="02020603050405020304" pitchFamily="18" charset="0"/>
            </a:endParaRPr>
          </a:p>
          <a:p>
            <a:pPr marL="0" indent="0">
              <a:buNone/>
            </a:pPr>
            <a:r>
              <a:rPr lang="en-IN" sz="2400" b="1" dirty="0">
                <a:latin typeface="Times New Roman" panose="02020603050405020304" pitchFamily="18" charset="0"/>
                <a:cs typeface="Times New Roman" panose="02020603050405020304" pitchFamily="18" charset="0"/>
              </a:rPr>
              <a:t>Functionality:</a:t>
            </a:r>
            <a:r>
              <a:rPr lang="en-IN" sz="2400" dirty="0">
                <a:latin typeface="Times New Roman" panose="02020603050405020304" pitchFamily="18" charset="0"/>
                <a:cs typeface="Times New Roman" panose="02020603050405020304" pitchFamily="18" charset="0"/>
              </a:rPr>
              <a:t> Utilizes the QKD-derived AES key to securely transmit the master Lattice Reference Point (P_{ref}) coordinates over an inherently insecure public channel.</a:t>
            </a:r>
          </a:p>
          <a:p>
            <a:pPr marL="0" indent="0">
              <a:buNone/>
            </a:pPr>
            <a:r>
              <a:rPr lang="en-IN" sz="2400" b="1" dirty="0">
                <a:latin typeface="Times New Roman" panose="02020603050405020304" pitchFamily="18" charset="0"/>
                <a:cs typeface="Times New Roman" panose="02020603050405020304" pitchFamily="18" charset="0"/>
              </a:rPr>
              <a:t>3. Data Encoding &amp; Hashing Module</a:t>
            </a:r>
            <a:endParaRPr lang="en-IN" sz="2400" dirty="0">
              <a:latin typeface="Times New Roman" panose="02020603050405020304" pitchFamily="18" charset="0"/>
              <a:cs typeface="Times New Roman" panose="02020603050405020304" pitchFamily="18" charset="0"/>
            </a:endParaRPr>
          </a:p>
          <a:p>
            <a:pPr marL="0" indent="0">
              <a:buNone/>
            </a:pPr>
            <a:r>
              <a:rPr lang="en-IN" sz="2400" b="1" dirty="0">
                <a:latin typeface="Times New Roman" panose="02020603050405020304" pitchFamily="18" charset="0"/>
                <a:cs typeface="Times New Roman" panose="02020603050405020304" pitchFamily="18" charset="0"/>
              </a:rPr>
              <a:t>Functionality:</a:t>
            </a:r>
            <a:r>
              <a:rPr lang="en-IN" sz="2400" dirty="0">
                <a:latin typeface="Times New Roman" panose="02020603050405020304" pitchFamily="18" charset="0"/>
                <a:cs typeface="Times New Roman" panose="02020603050405020304" pitchFamily="18" charset="0"/>
              </a:rPr>
              <a:t> Ingests plaintext payloads and converts them into massive mathematical integers using hashing algorithms to prepare them for spatial mapping.</a:t>
            </a:r>
          </a:p>
          <a:p>
            <a:pPr marL="0" indent="0">
              <a:buNone/>
            </a:pPr>
            <a:r>
              <a:rPr lang="en-IN" sz="2400" b="1" dirty="0">
                <a:latin typeface="Times New Roman" panose="02020603050405020304" pitchFamily="18" charset="0"/>
                <a:cs typeface="Times New Roman" panose="02020603050405020304" pitchFamily="18" charset="0"/>
              </a:rPr>
              <a:t>4. ABLKM (Angular-Bucket Lattice) Module</a:t>
            </a:r>
            <a:endParaRPr lang="en-IN" sz="2400" dirty="0">
              <a:latin typeface="Times New Roman" panose="02020603050405020304" pitchFamily="18" charset="0"/>
              <a:cs typeface="Times New Roman" panose="02020603050405020304" pitchFamily="18" charset="0"/>
            </a:endParaRPr>
          </a:p>
          <a:p>
            <a:pPr marL="0" indent="0">
              <a:buNone/>
            </a:pPr>
            <a:r>
              <a:rPr lang="en-IN" sz="2400" b="1" dirty="0">
                <a:latin typeface="Times New Roman" panose="02020603050405020304" pitchFamily="18" charset="0"/>
                <a:cs typeface="Times New Roman" panose="02020603050405020304" pitchFamily="18" charset="0"/>
              </a:rPr>
              <a:t>Functionality:</a:t>
            </a:r>
            <a:r>
              <a:rPr lang="en-IN" sz="2400" dirty="0">
                <a:latin typeface="Times New Roman" panose="02020603050405020304" pitchFamily="18" charset="0"/>
                <a:cs typeface="Times New Roman" panose="02020603050405020304" pitchFamily="18" charset="0"/>
              </a:rPr>
              <a:t> Uses modulo arithmetic to map the hashed data to precise X-Y grid coordinates, and calculates its geometric trigonometric angle relative to the secret P_{ref}.</a:t>
            </a:r>
          </a:p>
          <a:p>
            <a:endParaRPr lang="en-US"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C02A2637-A5A3-49FA-B214-6E67543099EF}" type="slidenum">
              <a:rPr lang="en-US" smtClean="0"/>
              <a:t>10</a:t>
            </a:fld>
            <a:endParaRPr lang="en-US"/>
          </a:p>
        </p:txBody>
      </p:sp>
    </p:spTree>
    <p:extLst>
      <p:ext uri="{BB962C8B-B14F-4D97-AF65-F5344CB8AC3E}">
        <p14:creationId xmlns:p14="http://schemas.microsoft.com/office/powerpoint/2010/main" val="19444165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840041D-FD87-EC4A-1F2E-50D3623D7B87}"/>
              </a:ext>
            </a:extLst>
          </p:cNvPr>
          <p:cNvSpPr>
            <a:spLocks noGrp="1"/>
          </p:cNvSpPr>
          <p:nvPr>
            <p:ph idx="1"/>
          </p:nvPr>
        </p:nvSpPr>
        <p:spPr>
          <a:xfrm>
            <a:off x="640080" y="1706880"/>
            <a:ext cx="11521440" cy="5379720"/>
          </a:xfrm>
        </p:spPr>
        <p:txBody>
          <a:bodyPr>
            <a:normAutofit/>
          </a:bodyPr>
          <a:lstStyle/>
          <a:p>
            <a:pPr marL="0" indent="0">
              <a:buNone/>
            </a:pPr>
            <a:r>
              <a:rPr lang="en-US" sz="2400" b="1" dirty="0">
                <a:latin typeface="Times New Roman" panose="02020603050405020304" pitchFamily="18" charset="0"/>
                <a:cs typeface="Times New Roman" panose="02020603050405020304" pitchFamily="18" charset="0"/>
              </a:rPr>
              <a:t>5.Storage Distribution Module</a:t>
            </a:r>
            <a:endParaRPr lang="en-US" sz="2400" dirty="0">
              <a:latin typeface="Times New Roman" panose="02020603050405020304" pitchFamily="18" charset="0"/>
              <a:cs typeface="Times New Roman" panose="02020603050405020304" pitchFamily="18" charset="0"/>
            </a:endParaRPr>
          </a:p>
          <a:p>
            <a:pPr marL="0" indent="0">
              <a:buNone/>
            </a:pPr>
            <a:r>
              <a:rPr lang="en-US" sz="2400" b="1" dirty="0">
                <a:latin typeface="Times New Roman" panose="02020603050405020304" pitchFamily="18" charset="0"/>
                <a:cs typeface="Times New Roman" panose="02020603050405020304" pitchFamily="18" charset="0"/>
              </a:rPr>
              <a:t>Functionality:</a:t>
            </a:r>
            <a:r>
              <a:rPr lang="en-US" sz="2400" dirty="0">
                <a:latin typeface="Times New Roman" panose="02020603050405020304" pitchFamily="18" charset="0"/>
                <a:cs typeface="Times New Roman" panose="02020603050405020304" pitchFamily="18" charset="0"/>
              </a:rPr>
              <a:t> Automatically routes the AES-encrypted data payload into mathematically divided, 360 degree spatial "buckets" on the centralized server grid.</a:t>
            </a:r>
          </a:p>
          <a:p>
            <a:pPr marL="0" indent="0">
              <a:buNone/>
            </a:pPr>
            <a:r>
              <a:rPr lang="en-US" sz="2400" b="1" dirty="0">
                <a:latin typeface="Times New Roman" panose="02020603050405020304" pitchFamily="18" charset="0"/>
                <a:cs typeface="Times New Roman" panose="02020603050405020304" pitchFamily="18" charset="0"/>
              </a:rPr>
              <a:t>Module Interaction (System Workflow)</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The </a:t>
            </a:r>
            <a:r>
              <a:rPr lang="en-US" sz="2400" b="1" dirty="0">
                <a:latin typeface="Times New Roman" panose="02020603050405020304" pitchFamily="18" charset="0"/>
                <a:cs typeface="Times New Roman" panose="02020603050405020304" pitchFamily="18" charset="0"/>
              </a:rPr>
              <a:t>QKD Module</a:t>
            </a:r>
            <a:r>
              <a:rPr lang="en-US" sz="2400" dirty="0">
                <a:latin typeface="Times New Roman" panose="02020603050405020304" pitchFamily="18" charset="0"/>
                <a:cs typeface="Times New Roman" panose="02020603050405020304" pitchFamily="18" charset="0"/>
              </a:rPr>
              <a:t> establishes a secure AES key between the client and server.</a:t>
            </a:r>
          </a:p>
          <a:p>
            <a:r>
              <a:rPr lang="en-US" sz="2400" dirty="0">
                <a:latin typeface="Times New Roman" panose="02020603050405020304" pitchFamily="18" charset="0"/>
                <a:cs typeface="Times New Roman" panose="02020603050405020304" pitchFamily="18" charset="0"/>
              </a:rPr>
              <a:t>The </a:t>
            </a:r>
            <a:r>
              <a:rPr lang="en-US" sz="2400" b="1" dirty="0">
                <a:latin typeface="Times New Roman" panose="02020603050405020304" pitchFamily="18" charset="0"/>
                <a:cs typeface="Times New Roman" panose="02020603050405020304" pitchFamily="18" charset="0"/>
              </a:rPr>
              <a:t>Exchange Module</a:t>
            </a:r>
            <a:r>
              <a:rPr lang="en-US" sz="2400" dirty="0">
                <a:latin typeface="Times New Roman" panose="02020603050405020304" pitchFamily="18" charset="0"/>
                <a:cs typeface="Times New Roman" panose="02020603050405020304" pitchFamily="18" charset="0"/>
              </a:rPr>
              <a:t> uses this AES key to safely lock and transmit the P_{ref} coordinate.</a:t>
            </a:r>
          </a:p>
          <a:p>
            <a:r>
              <a:rPr lang="en-US" sz="2400" dirty="0">
                <a:latin typeface="Times New Roman" panose="02020603050405020304" pitchFamily="18" charset="0"/>
                <a:cs typeface="Times New Roman" panose="02020603050405020304" pitchFamily="18" charset="0"/>
              </a:rPr>
              <a:t>When saving data, the </a:t>
            </a:r>
            <a:r>
              <a:rPr lang="en-US" sz="2400" b="1" dirty="0">
                <a:latin typeface="Times New Roman" panose="02020603050405020304" pitchFamily="18" charset="0"/>
                <a:cs typeface="Times New Roman" panose="02020603050405020304" pitchFamily="18" charset="0"/>
              </a:rPr>
              <a:t>Data Module</a:t>
            </a:r>
            <a:r>
              <a:rPr lang="en-US" sz="2400" dirty="0">
                <a:latin typeface="Times New Roman" panose="02020603050405020304" pitchFamily="18" charset="0"/>
                <a:cs typeface="Times New Roman" panose="02020603050405020304" pitchFamily="18" charset="0"/>
              </a:rPr>
              <a:t> hashes the user’s plaintext.</a:t>
            </a:r>
          </a:p>
          <a:p>
            <a:r>
              <a:rPr lang="en-US" sz="2400" dirty="0">
                <a:latin typeface="Times New Roman" panose="02020603050405020304" pitchFamily="18" charset="0"/>
                <a:cs typeface="Times New Roman" panose="02020603050405020304" pitchFamily="18" charset="0"/>
              </a:rPr>
              <a:t>The </a:t>
            </a:r>
            <a:r>
              <a:rPr lang="en-US" sz="2400" b="1" dirty="0">
                <a:latin typeface="Times New Roman" panose="02020603050405020304" pitchFamily="18" charset="0"/>
                <a:cs typeface="Times New Roman" panose="02020603050405020304" pitchFamily="18" charset="0"/>
              </a:rPr>
              <a:t>ABLKM Module</a:t>
            </a:r>
            <a:r>
              <a:rPr lang="en-US" sz="2400" dirty="0">
                <a:latin typeface="Times New Roman" panose="02020603050405020304" pitchFamily="18" charset="0"/>
                <a:cs typeface="Times New Roman" panose="02020603050405020304" pitchFamily="18" charset="0"/>
              </a:rPr>
              <a:t> steps in, taking that data hash and calculating its spatial geometric angle relative to P_{ref}.</a:t>
            </a:r>
          </a:p>
          <a:p>
            <a:r>
              <a:rPr lang="en-US" sz="2400" dirty="0">
                <a:latin typeface="Times New Roman" panose="02020603050405020304" pitchFamily="18" charset="0"/>
                <a:cs typeface="Times New Roman" panose="02020603050405020304" pitchFamily="18" charset="0"/>
              </a:rPr>
              <a:t>Finally, the </a:t>
            </a:r>
            <a:r>
              <a:rPr lang="en-US" sz="2400" b="1" dirty="0">
                <a:latin typeface="Times New Roman" panose="02020603050405020304" pitchFamily="18" charset="0"/>
                <a:cs typeface="Times New Roman" panose="02020603050405020304" pitchFamily="18" charset="0"/>
              </a:rPr>
              <a:t>Storage Module</a:t>
            </a:r>
            <a:r>
              <a:rPr lang="en-US" sz="2400" dirty="0">
                <a:latin typeface="Times New Roman" panose="02020603050405020304" pitchFamily="18" charset="0"/>
                <a:cs typeface="Times New Roman" panose="02020603050405020304" pitchFamily="18" charset="0"/>
              </a:rPr>
              <a:t> receives this angle and permanently drops the encrypted payload into the exact corresponding angular bucket for zero-trust storage.</a:t>
            </a:r>
          </a:p>
          <a:p>
            <a:pPr marL="0" indent="0">
              <a:buNone/>
            </a:pPr>
            <a:endParaRPr lang="en-US" sz="2400"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555AFB08-43D5-C9B4-CA11-393635C29FEA}"/>
              </a:ext>
            </a:extLst>
          </p:cNvPr>
          <p:cNvSpPr>
            <a:spLocks noGrp="1"/>
          </p:cNvSpPr>
          <p:nvPr>
            <p:ph type="sldNum" sz="quarter" idx="12"/>
          </p:nvPr>
        </p:nvSpPr>
        <p:spPr/>
        <p:txBody>
          <a:bodyPr/>
          <a:lstStyle/>
          <a:p>
            <a:fld id="{C02A2637-A5A3-49FA-B214-6E67543099EF}" type="slidenum">
              <a:rPr lang="en-US" smtClean="0"/>
              <a:t>11</a:t>
            </a:fld>
            <a:endParaRPr lang="en-US"/>
          </a:p>
        </p:txBody>
      </p:sp>
      <p:sp>
        <p:nvSpPr>
          <p:cNvPr id="5" name="Title 1">
            <a:extLst>
              <a:ext uri="{FF2B5EF4-FFF2-40B4-BE49-F238E27FC236}">
                <a16:creationId xmlns:a16="http://schemas.microsoft.com/office/drawing/2014/main" id="{572C4A90-249A-44EA-23D6-ED53462F3E7C}"/>
              </a:ext>
            </a:extLst>
          </p:cNvPr>
          <p:cNvSpPr>
            <a:spLocks noGrp="1"/>
          </p:cNvSpPr>
          <p:nvPr>
            <p:ph type="title"/>
          </p:nvPr>
        </p:nvSpPr>
        <p:spPr>
          <a:xfrm>
            <a:off x="0" y="0"/>
            <a:ext cx="12801599" cy="1512888"/>
          </a:xfrm>
          <a:solidFill>
            <a:schemeClr val="tx2">
              <a:lumMod val="60000"/>
              <a:lumOff val="40000"/>
            </a:schemeClr>
          </a:solidFill>
        </p:spPr>
        <p:txBody>
          <a:bodyPr>
            <a:normAutofit/>
          </a:bodyPr>
          <a:lstStyle/>
          <a:p>
            <a:r>
              <a:rPr lang="en-US" sz="3700" b="1" dirty="0">
                <a:solidFill>
                  <a:schemeClr val="bg1"/>
                </a:solidFill>
                <a:latin typeface="Times New Roman" pitchFamily="18" charset="0"/>
                <a:cs typeface="Times New Roman" pitchFamily="18" charset="0"/>
              </a:rPr>
              <a:t>6. MODULE IDENTIFICATION</a:t>
            </a:r>
          </a:p>
        </p:txBody>
      </p:sp>
    </p:spTree>
    <p:extLst>
      <p:ext uri="{BB962C8B-B14F-4D97-AF65-F5344CB8AC3E}">
        <p14:creationId xmlns:p14="http://schemas.microsoft.com/office/powerpoint/2010/main" val="11236077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801600" cy="1512146"/>
          </a:xfrm>
          <a:solidFill>
            <a:srgbClr val="558ED5"/>
          </a:solidFill>
        </p:spPr>
        <p:txBody>
          <a:bodyPr/>
          <a:lstStyle/>
          <a:p>
            <a:r>
              <a:rPr lang="en-US" sz="3700" b="1" dirty="0">
                <a:solidFill>
                  <a:schemeClr val="bg1"/>
                </a:solidFill>
                <a:latin typeface="Times New Roman" pitchFamily="18" charset="0"/>
                <a:cs typeface="Times New Roman" pitchFamily="18" charset="0"/>
              </a:rPr>
              <a:t>7. SYSTEM ARCHITECTURE</a:t>
            </a:r>
          </a:p>
        </p:txBody>
      </p:sp>
      <p:sp>
        <p:nvSpPr>
          <p:cNvPr id="4" name="Slide Number Placeholder 3"/>
          <p:cNvSpPr>
            <a:spLocks noGrp="1"/>
          </p:cNvSpPr>
          <p:nvPr>
            <p:ph type="sldNum" sz="quarter" idx="12"/>
          </p:nvPr>
        </p:nvSpPr>
        <p:spPr/>
        <p:txBody>
          <a:bodyPr/>
          <a:lstStyle/>
          <a:p>
            <a:fld id="{C02A2637-A5A3-49FA-B214-6E67543099EF}" type="slidenum">
              <a:rPr lang="en-US" smtClean="0"/>
              <a:t>12</a:t>
            </a:fld>
            <a:endParaRPr lang="en-US"/>
          </a:p>
        </p:txBody>
      </p:sp>
      <p:graphicFrame>
        <p:nvGraphicFramePr>
          <p:cNvPr id="5" name="Diagram 4">
            <a:extLst>
              <a:ext uri="{FF2B5EF4-FFF2-40B4-BE49-F238E27FC236}">
                <a16:creationId xmlns:a16="http://schemas.microsoft.com/office/drawing/2014/main" id="{78BA671C-3093-0E67-599E-DB7045FA2C13}"/>
              </a:ext>
            </a:extLst>
          </p:cNvPr>
          <p:cNvGraphicFramePr/>
          <p:nvPr>
            <p:extLst>
              <p:ext uri="{D42A27DB-BD31-4B8C-83A1-F6EECF244321}">
                <p14:modId xmlns:p14="http://schemas.microsoft.com/office/powerpoint/2010/main" val="1724776145"/>
              </p:ext>
            </p:extLst>
          </p:nvPr>
        </p:nvGraphicFramePr>
        <p:xfrm>
          <a:off x="2141483" y="1512146"/>
          <a:ext cx="8534400" cy="5689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808257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BF435-DC4D-3981-E28F-D06825F11989}"/>
              </a:ext>
            </a:extLst>
          </p:cNvPr>
          <p:cNvSpPr>
            <a:spLocks noGrp="1"/>
          </p:cNvSpPr>
          <p:nvPr>
            <p:ph type="title"/>
          </p:nvPr>
        </p:nvSpPr>
        <p:spPr/>
        <p:txBody>
          <a:bodyPr/>
          <a:lstStyle/>
          <a:p>
            <a:endParaRPr lang="en-IN" dirty="0"/>
          </a:p>
        </p:txBody>
      </p:sp>
      <p:pic>
        <p:nvPicPr>
          <p:cNvPr id="8" name="Content Placeholder 7">
            <a:extLst>
              <a:ext uri="{FF2B5EF4-FFF2-40B4-BE49-F238E27FC236}">
                <a16:creationId xmlns:a16="http://schemas.microsoft.com/office/drawing/2014/main" id="{034139E9-C0CB-052A-A604-63DBA6C80D17}"/>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700625" y="1706563"/>
            <a:ext cx="5400351" cy="4827587"/>
          </a:xfrm>
          <a:prstGeom prst="rect">
            <a:avLst/>
          </a:prstGeom>
        </p:spPr>
      </p:pic>
      <p:sp>
        <p:nvSpPr>
          <p:cNvPr id="4" name="Slide Number Placeholder 3">
            <a:extLst>
              <a:ext uri="{FF2B5EF4-FFF2-40B4-BE49-F238E27FC236}">
                <a16:creationId xmlns:a16="http://schemas.microsoft.com/office/drawing/2014/main" id="{22D4DEFF-15E2-941D-594A-6FFCB0963EC8}"/>
              </a:ext>
            </a:extLst>
          </p:cNvPr>
          <p:cNvSpPr>
            <a:spLocks noGrp="1"/>
          </p:cNvSpPr>
          <p:nvPr>
            <p:ph type="sldNum" sz="quarter" idx="12"/>
          </p:nvPr>
        </p:nvSpPr>
        <p:spPr/>
        <p:txBody>
          <a:bodyPr/>
          <a:lstStyle/>
          <a:p>
            <a:fld id="{C02A2637-A5A3-49FA-B214-6E67543099EF}" type="slidenum">
              <a:rPr lang="en-US" smtClean="0"/>
              <a:t>13</a:t>
            </a:fld>
            <a:endParaRPr lang="en-US"/>
          </a:p>
        </p:txBody>
      </p:sp>
      <p:pic>
        <p:nvPicPr>
          <p:cNvPr id="6" name="Picture 5">
            <a:extLst>
              <a:ext uri="{FF2B5EF4-FFF2-40B4-BE49-F238E27FC236}">
                <a16:creationId xmlns:a16="http://schemas.microsoft.com/office/drawing/2014/main" id="{54430974-644E-3E94-E086-700C938F8728}"/>
              </a:ext>
            </a:extLst>
          </p:cNvPr>
          <p:cNvPicPr>
            <a:picLocks noChangeAspect="1"/>
          </p:cNvPicPr>
          <p:nvPr/>
        </p:nvPicPr>
        <p:blipFill>
          <a:blip r:embed="rId4"/>
          <a:stretch>
            <a:fillRect/>
          </a:stretch>
        </p:blipFill>
        <p:spPr>
          <a:xfrm>
            <a:off x="-15766" y="338"/>
            <a:ext cx="12801600" cy="1511808"/>
          </a:xfrm>
          <a:prstGeom prst="rect">
            <a:avLst/>
          </a:prstGeom>
        </p:spPr>
      </p:pic>
    </p:spTree>
    <p:extLst>
      <p:ext uri="{BB962C8B-B14F-4D97-AF65-F5344CB8AC3E}">
        <p14:creationId xmlns:p14="http://schemas.microsoft.com/office/powerpoint/2010/main" val="23588278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1710F1-EA51-B712-C669-40E70778570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6100455-D0E4-A335-93FB-A3827DB34908}"/>
              </a:ext>
            </a:extLst>
          </p:cNvPr>
          <p:cNvSpPr>
            <a:spLocks noGrp="1"/>
          </p:cNvSpPr>
          <p:nvPr>
            <p:ph idx="1"/>
          </p:nvPr>
        </p:nvSpPr>
        <p:spPr/>
        <p:txBody>
          <a:bodyPr>
            <a:normAutofit/>
          </a:bodyPr>
          <a:lstStyle/>
          <a:p>
            <a:pPr marL="0" indent="0">
              <a:buNone/>
            </a:pPr>
            <a:r>
              <a:rPr lang="en-IN" sz="2400" b="1" dirty="0">
                <a:latin typeface="Times New Roman" panose="02020603050405020304" pitchFamily="18" charset="0"/>
                <a:cs typeface="Times New Roman" panose="02020603050405020304" pitchFamily="18" charset="0"/>
              </a:rPr>
              <a:t>Technology Stack Used:</a:t>
            </a:r>
            <a:endParaRPr lang="en-IN" sz="2400" dirty="0">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Quantum Protocol Engine:</a:t>
            </a:r>
            <a:r>
              <a:rPr lang="en-IN" sz="2400" dirty="0">
                <a:latin typeface="Times New Roman" panose="02020603050405020304" pitchFamily="18" charset="0"/>
                <a:cs typeface="Times New Roman" panose="02020603050405020304" pitchFamily="18" charset="0"/>
              </a:rPr>
              <a:t> Custom-built BB84 logical simulation from scratch (using standard Python mathematics and state-collapse logic) rather than relying on black-box, pre-built quantum APIs like </a:t>
            </a:r>
            <a:r>
              <a:rPr lang="en-IN" sz="2400" dirty="0" err="1">
                <a:latin typeface="Times New Roman" panose="02020603050405020304" pitchFamily="18" charset="0"/>
                <a:cs typeface="Times New Roman" panose="02020603050405020304" pitchFamily="18" charset="0"/>
              </a:rPr>
              <a:t>Qiskit</a:t>
            </a:r>
            <a:r>
              <a:rPr lang="en-IN" sz="2400" dirty="0">
                <a:latin typeface="Times New Roman" panose="02020603050405020304" pitchFamily="18" charset="0"/>
                <a:cs typeface="Times New Roman" panose="02020603050405020304" pitchFamily="18" charset="0"/>
              </a:rPr>
              <a:t>.</a:t>
            </a:r>
          </a:p>
          <a:p>
            <a:r>
              <a:rPr lang="en-IN" sz="2400" b="1" dirty="0">
                <a:latin typeface="Times New Roman" panose="02020603050405020304" pitchFamily="18" charset="0"/>
                <a:cs typeface="Times New Roman" panose="02020603050405020304" pitchFamily="18" charset="0"/>
              </a:rPr>
              <a:t>Core Development Language:</a:t>
            </a:r>
            <a:r>
              <a:rPr lang="en-IN" sz="2400" dirty="0">
                <a:latin typeface="Times New Roman" panose="02020603050405020304" pitchFamily="18" charset="0"/>
                <a:cs typeface="Times New Roman" panose="02020603050405020304" pitchFamily="18" charset="0"/>
              </a:rPr>
              <a:t> Python 3.x</a:t>
            </a:r>
          </a:p>
          <a:p>
            <a:r>
              <a:rPr lang="en-IN" sz="2400" b="1" dirty="0">
                <a:latin typeface="Times New Roman" panose="02020603050405020304" pitchFamily="18" charset="0"/>
                <a:cs typeface="Times New Roman" panose="02020603050405020304" pitchFamily="18" charset="0"/>
              </a:rPr>
              <a:t>Mathematical &amp; Geometric Computing:</a:t>
            </a:r>
            <a:r>
              <a:rPr lang="en-IN" sz="2400" dirty="0">
                <a:latin typeface="Times New Roman" panose="02020603050405020304" pitchFamily="18" charset="0"/>
                <a:cs typeface="Times New Roman" panose="02020603050405020304" pitchFamily="18" charset="0"/>
              </a:rPr>
              <a:t> Modulo Arithmetic Logic, Python Math Subsystem (Trigonometry / atan2)</a:t>
            </a:r>
          </a:p>
          <a:p>
            <a:r>
              <a:rPr lang="en-IN" sz="2400" b="1" dirty="0">
                <a:latin typeface="Times New Roman" panose="02020603050405020304" pitchFamily="18" charset="0"/>
                <a:cs typeface="Times New Roman" panose="02020603050405020304" pitchFamily="18" charset="0"/>
              </a:rPr>
              <a:t>Cryptographic Algorithms:</a:t>
            </a:r>
            <a:r>
              <a:rPr lang="en-IN" sz="2400" dirty="0">
                <a:latin typeface="Times New Roman" panose="02020603050405020304" pitchFamily="18" charset="0"/>
                <a:cs typeface="Times New Roman" panose="02020603050405020304" pitchFamily="18" charset="0"/>
              </a:rPr>
              <a:t> Advanced Encryption Standard (AES-256)</a:t>
            </a:r>
          </a:p>
          <a:p>
            <a:r>
              <a:rPr lang="en-IN" sz="2400" b="1" dirty="0">
                <a:latin typeface="Times New Roman" panose="02020603050405020304" pitchFamily="18" charset="0"/>
                <a:cs typeface="Times New Roman" panose="02020603050405020304" pitchFamily="18" charset="0"/>
              </a:rPr>
              <a:t>Hashing Engines:</a:t>
            </a:r>
            <a:r>
              <a:rPr lang="en-IN" sz="2400" dirty="0">
                <a:latin typeface="Times New Roman" panose="02020603050405020304" pitchFamily="18" charset="0"/>
                <a:cs typeface="Times New Roman" panose="02020603050405020304" pitchFamily="18" charset="0"/>
              </a:rPr>
              <a:t> Secure Hash Algorithm (SHA-256), DJB2</a:t>
            </a:r>
          </a:p>
          <a:p>
            <a:pPr marL="0" indent="0">
              <a:buNone/>
            </a:pPr>
            <a:endParaRPr lang="en-IN" sz="24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8D44D295-8AC9-EBE4-0F22-31BFA9FADAD3}"/>
              </a:ext>
            </a:extLst>
          </p:cNvPr>
          <p:cNvSpPr>
            <a:spLocks noGrp="1"/>
          </p:cNvSpPr>
          <p:nvPr>
            <p:ph type="sldNum" sz="quarter" idx="12"/>
          </p:nvPr>
        </p:nvSpPr>
        <p:spPr/>
        <p:txBody>
          <a:bodyPr/>
          <a:lstStyle/>
          <a:p>
            <a:fld id="{C02A2637-A5A3-49FA-B214-6E67543099EF}" type="slidenum">
              <a:rPr lang="en-US" smtClean="0"/>
              <a:t>14</a:t>
            </a:fld>
            <a:endParaRPr lang="en-US"/>
          </a:p>
        </p:txBody>
      </p:sp>
      <p:pic>
        <p:nvPicPr>
          <p:cNvPr id="5" name="Picture 4">
            <a:extLst>
              <a:ext uri="{FF2B5EF4-FFF2-40B4-BE49-F238E27FC236}">
                <a16:creationId xmlns:a16="http://schemas.microsoft.com/office/drawing/2014/main" id="{55F44808-A640-6122-3EFA-8C2DFE84CEF2}"/>
              </a:ext>
            </a:extLst>
          </p:cNvPr>
          <p:cNvPicPr>
            <a:picLocks noChangeAspect="1"/>
          </p:cNvPicPr>
          <p:nvPr/>
        </p:nvPicPr>
        <p:blipFill>
          <a:blip r:embed="rId3"/>
          <a:stretch>
            <a:fillRect/>
          </a:stretch>
        </p:blipFill>
        <p:spPr>
          <a:xfrm>
            <a:off x="-15766" y="338"/>
            <a:ext cx="12801600" cy="1511808"/>
          </a:xfrm>
          <a:prstGeom prst="rect">
            <a:avLst/>
          </a:prstGeom>
        </p:spPr>
      </p:pic>
    </p:spTree>
    <p:extLst>
      <p:ext uri="{BB962C8B-B14F-4D97-AF65-F5344CB8AC3E}">
        <p14:creationId xmlns:p14="http://schemas.microsoft.com/office/powerpoint/2010/main" val="28075561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114F7B-448F-5933-E4F5-9F6656ACEC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BB1540-D08A-936D-657B-2CA7AA0EF4A8}"/>
              </a:ext>
            </a:extLst>
          </p:cNvPr>
          <p:cNvSpPr>
            <a:spLocks noGrp="1"/>
          </p:cNvSpPr>
          <p:nvPr>
            <p:ph type="title"/>
          </p:nvPr>
        </p:nvSpPr>
        <p:spPr>
          <a:xfrm>
            <a:off x="0" y="0"/>
            <a:ext cx="12801600" cy="1512146"/>
          </a:xfrm>
          <a:solidFill>
            <a:srgbClr val="558ED5"/>
          </a:solidFill>
        </p:spPr>
        <p:txBody>
          <a:bodyPr/>
          <a:lstStyle/>
          <a:p>
            <a:r>
              <a:rPr lang="en-US" sz="3700" b="1" dirty="0">
                <a:solidFill>
                  <a:schemeClr val="bg1"/>
                </a:solidFill>
                <a:latin typeface="Times New Roman" pitchFamily="18" charset="0"/>
                <a:cs typeface="Times New Roman" pitchFamily="18" charset="0"/>
              </a:rPr>
              <a:t>8. DEVELOPMENT &amp; INTEGRATION</a:t>
            </a:r>
          </a:p>
        </p:txBody>
      </p:sp>
      <p:sp>
        <p:nvSpPr>
          <p:cNvPr id="3" name="Content Placeholder 2">
            <a:extLst>
              <a:ext uri="{FF2B5EF4-FFF2-40B4-BE49-F238E27FC236}">
                <a16:creationId xmlns:a16="http://schemas.microsoft.com/office/drawing/2014/main" id="{8FD1C32F-FDCF-2099-8C99-4CD33048817D}"/>
              </a:ext>
            </a:extLst>
          </p:cNvPr>
          <p:cNvSpPr>
            <a:spLocks noGrp="1"/>
          </p:cNvSpPr>
          <p:nvPr>
            <p:ph idx="1"/>
          </p:nvPr>
        </p:nvSpPr>
        <p:spPr/>
        <p:txBody>
          <a:bodyPr>
            <a:normAutofit/>
          </a:bodyPr>
          <a:lstStyle/>
          <a:p>
            <a:pPr marL="0" indent="0">
              <a:buNone/>
            </a:pPr>
            <a:r>
              <a:rPr lang="en-IN" sz="2400" b="1" dirty="0"/>
              <a:t>Implementation of Modules</a:t>
            </a:r>
            <a:endParaRPr lang="en-IN" sz="2400" dirty="0"/>
          </a:p>
          <a:p>
            <a:r>
              <a:rPr lang="en-IN" sz="2400" b="1" dirty="0"/>
              <a:t>Standalone QKD Engine:</a:t>
            </a:r>
            <a:r>
              <a:rPr lang="en-IN" sz="2400" dirty="0"/>
              <a:t> The BB84 protocol was engineered entirely from scratch as a custom software simulation utilizing standard Python logic, without relying on black-box frameworks like </a:t>
            </a:r>
            <a:r>
              <a:rPr lang="en-IN" sz="2400" dirty="0" err="1"/>
              <a:t>Qiskit</a:t>
            </a:r>
            <a:r>
              <a:rPr lang="en-IN" sz="2400" dirty="0"/>
              <a:t>. It incorporates a custom Qubit class utilizing random distributions to algorithmically mirror photon state collapse and polarization mismatching.</a:t>
            </a:r>
          </a:p>
          <a:p>
            <a:r>
              <a:rPr lang="en-IN" sz="2400" b="1" dirty="0"/>
              <a:t>ABLKM Geometric Engine:</a:t>
            </a:r>
            <a:r>
              <a:rPr lang="en-IN" sz="2400" dirty="0"/>
              <a:t> The post-quantum mapping structure was developed using Python’s native mathematical subsystems. It relies heavily on rapid modulo arithmetic for initial grid placement and trigonometric spatial calculations (such as atan2) for directional vector tracking.</a:t>
            </a:r>
          </a:p>
        </p:txBody>
      </p:sp>
      <p:sp>
        <p:nvSpPr>
          <p:cNvPr id="4" name="Slide Number Placeholder 3">
            <a:extLst>
              <a:ext uri="{FF2B5EF4-FFF2-40B4-BE49-F238E27FC236}">
                <a16:creationId xmlns:a16="http://schemas.microsoft.com/office/drawing/2014/main" id="{E6869C87-894B-EA46-CE5B-2DDA46DB8C2C}"/>
              </a:ext>
            </a:extLst>
          </p:cNvPr>
          <p:cNvSpPr>
            <a:spLocks noGrp="1"/>
          </p:cNvSpPr>
          <p:nvPr>
            <p:ph type="sldNum" sz="quarter" idx="12"/>
          </p:nvPr>
        </p:nvSpPr>
        <p:spPr/>
        <p:txBody>
          <a:bodyPr/>
          <a:lstStyle/>
          <a:p>
            <a:fld id="{C02A2637-A5A3-49FA-B214-6E67543099EF}" type="slidenum">
              <a:rPr lang="en-US" smtClean="0"/>
              <a:t>15</a:t>
            </a:fld>
            <a:endParaRPr lang="en-US"/>
          </a:p>
        </p:txBody>
      </p:sp>
    </p:spTree>
    <p:extLst>
      <p:ext uri="{BB962C8B-B14F-4D97-AF65-F5344CB8AC3E}">
        <p14:creationId xmlns:p14="http://schemas.microsoft.com/office/powerpoint/2010/main" val="33692432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922797-6084-C3B3-6B94-B6E9E84CD66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9057435-5FFB-1244-4F88-6DF574F2796F}"/>
              </a:ext>
            </a:extLst>
          </p:cNvPr>
          <p:cNvSpPr>
            <a:spLocks noGrp="1"/>
          </p:cNvSpPr>
          <p:nvPr>
            <p:ph idx="1"/>
          </p:nvPr>
        </p:nvSpPr>
        <p:spPr/>
        <p:txBody>
          <a:bodyPr>
            <a:normAutofit/>
          </a:bodyPr>
          <a:lstStyle/>
          <a:p>
            <a:pPr marL="0" indent="0">
              <a:buNone/>
            </a:pPr>
            <a:r>
              <a:rPr lang="en-US" sz="2600" b="1" dirty="0">
                <a:latin typeface="Times New Roman" panose="02020603050405020304" pitchFamily="18" charset="0"/>
                <a:cs typeface="Times New Roman" panose="02020603050405020304" pitchFamily="18" charset="0"/>
              </a:rPr>
              <a:t>Integration Strategy</a:t>
            </a:r>
            <a:endParaRPr lang="en-US" sz="2600" dirty="0">
              <a:latin typeface="Times New Roman" panose="02020603050405020304" pitchFamily="18" charset="0"/>
              <a:cs typeface="Times New Roman" panose="02020603050405020304" pitchFamily="18" charset="0"/>
            </a:endParaRPr>
          </a:p>
          <a:p>
            <a:r>
              <a:rPr lang="en-US" sz="2600" b="1" dirty="0">
                <a:latin typeface="Times New Roman" panose="02020603050405020304" pitchFamily="18" charset="0"/>
                <a:cs typeface="Times New Roman" panose="02020603050405020304" pitchFamily="18" charset="0"/>
              </a:rPr>
              <a:t>Unified Pipeline Handoff:</a:t>
            </a:r>
            <a:r>
              <a:rPr lang="en-US" sz="2600" dirty="0">
                <a:latin typeface="Times New Roman" panose="02020603050405020304" pitchFamily="18" charset="0"/>
                <a:cs typeface="Times New Roman" panose="02020603050405020304" pitchFamily="18" charset="0"/>
              </a:rPr>
              <a:t> The modules are integrated through a strict, zero-trust sequential pipeline. The cryptographic AES-256 key generated dynamically by the BB84 Quantum layer acts as the mandatory initialization key. Unless this quantum handover succeeds, the classical ABLKM module cannot logically decrypt the Lattice Reference Point (P_{ref}) to begin geometric mapping.</a:t>
            </a:r>
          </a:p>
          <a:p>
            <a:pPr marL="0" indent="0">
              <a:buNone/>
            </a:pPr>
            <a:endParaRPr lang="en-IN" sz="24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9B0132E7-B647-6164-CADF-D06F8835247A}"/>
              </a:ext>
            </a:extLst>
          </p:cNvPr>
          <p:cNvSpPr>
            <a:spLocks noGrp="1"/>
          </p:cNvSpPr>
          <p:nvPr>
            <p:ph type="sldNum" sz="quarter" idx="12"/>
          </p:nvPr>
        </p:nvSpPr>
        <p:spPr/>
        <p:txBody>
          <a:bodyPr/>
          <a:lstStyle/>
          <a:p>
            <a:fld id="{C02A2637-A5A3-49FA-B214-6E67543099EF}" type="slidenum">
              <a:rPr lang="en-US" smtClean="0"/>
              <a:t>16</a:t>
            </a:fld>
            <a:endParaRPr lang="en-US"/>
          </a:p>
        </p:txBody>
      </p:sp>
      <p:sp>
        <p:nvSpPr>
          <p:cNvPr id="5" name="Title 1">
            <a:extLst>
              <a:ext uri="{FF2B5EF4-FFF2-40B4-BE49-F238E27FC236}">
                <a16:creationId xmlns:a16="http://schemas.microsoft.com/office/drawing/2014/main" id="{0F49F878-F9E3-7F8F-E80D-0C3F25851A6A}"/>
              </a:ext>
            </a:extLst>
          </p:cNvPr>
          <p:cNvSpPr txBox="1">
            <a:spLocks/>
          </p:cNvSpPr>
          <p:nvPr/>
        </p:nvSpPr>
        <p:spPr>
          <a:xfrm>
            <a:off x="0" y="0"/>
            <a:ext cx="12801600" cy="1512146"/>
          </a:xfrm>
          <a:prstGeom prst="rect">
            <a:avLst/>
          </a:prstGeom>
          <a:solidFill>
            <a:srgbClr val="558ED5"/>
          </a:solidFill>
        </p:spPr>
        <p:txBody>
          <a:bodyPr vert="horz" lIns="114945" tIns="57473" rIns="114945" bIns="57473" rtlCol="0" anchor="ctr">
            <a:normAutofit/>
          </a:bodyPr>
          <a:lstStyle>
            <a:lvl1pPr algn="ctr" defTabSz="1149448" rtl="0" eaLnBrk="1" latinLnBrk="0" hangingPunct="1">
              <a:spcBef>
                <a:spcPct val="0"/>
              </a:spcBef>
              <a:buNone/>
              <a:defRPr sz="5500" kern="1200">
                <a:solidFill>
                  <a:schemeClr val="tx1"/>
                </a:solidFill>
                <a:latin typeface="+mj-lt"/>
                <a:ea typeface="+mj-ea"/>
                <a:cs typeface="+mj-cs"/>
              </a:defRPr>
            </a:lvl1pPr>
          </a:lstStyle>
          <a:p>
            <a:r>
              <a:rPr lang="en-US" sz="3700" b="1">
                <a:solidFill>
                  <a:schemeClr val="bg1"/>
                </a:solidFill>
                <a:latin typeface="Times New Roman" pitchFamily="18" charset="0"/>
                <a:cs typeface="Times New Roman" pitchFamily="18" charset="0"/>
              </a:rPr>
              <a:t>8. DEVELOPMENT &amp; INTEGRATION</a:t>
            </a:r>
            <a:endParaRPr lang="en-US" sz="3700" b="1" dirty="0">
              <a:solidFill>
                <a:schemeClr val="bg1"/>
              </a:solidFill>
              <a:latin typeface="Times New Roman" pitchFamily="18" charset="0"/>
              <a:cs typeface="Times New Roman" pitchFamily="18" charset="0"/>
            </a:endParaRPr>
          </a:p>
        </p:txBody>
      </p:sp>
    </p:spTree>
    <p:extLst>
      <p:ext uri="{BB962C8B-B14F-4D97-AF65-F5344CB8AC3E}">
        <p14:creationId xmlns:p14="http://schemas.microsoft.com/office/powerpoint/2010/main" val="5145912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27FA90-7E6A-14F0-7844-FAFF624B30A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08147E7-6C0F-BECE-82D8-D5A74BD072D6}"/>
              </a:ext>
            </a:extLst>
          </p:cNvPr>
          <p:cNvSpPr>
            <a:spLocks noGrp="1"/>
          </p:cNvSpPr>
          <p:nvPr>
            <p:ph idx="1"/>
          </p:nvPr>
        </p:nvSpPr>
        <p:spPr/>
        <p:txBody>
          <a:bodyPr>
            <a:normAutofit fontScale="62500" lnSpcReduction="20000"/>
          </a:bodyPr>
          <a:lstStyle/>
          <a:p>
            <a:pPr marL="0" indent="0">
              <a:buNone/>
            </a:pPr>
            <a:r>
              <a:rPr lang="en-US" sz="3800" b="1" dirty="0">
                <a:latin typeface="Times New Roman" panose="02020603050405020304" pitchFamily="18" charset="0"/>
                <a:cs typeface="Times New Roman" panose="02020603050405020304" pitchFamily="18" charset="0"/>
              </a:rPr>
              <a:t>Challenges Faced and Solutions</a:t>
            </a:r>
            <a:endParaRPr lang="en-US" sz="3800" dirty="0">
              <a:latin typeface="Times New Roman" panose="02020603050405020304" pitchFamily="18" charset="0"/>
              <a:cs typeface="Times New Roman" panose="02020603050405020304" pitchFamily="18" charset="0"/>
            </a:endParaRPr>
          </a:p>
          <a:p>
            <a:r>
              <a:rPr lang="en-US" sz="3800" b="1" dirty="0">
                <a:latin typeface="Times New Roman" panose="02020603050405020304" pitchFamily="18" charset="0"/>
                <a:cs typeface="Times New Roman" panose="02020603050405020304" pitchFamily="18" charset="0"/>
              </a:rPr>
              <a:t>Challenge 1: Unpredictable Quantum Key Lengths</a:t>
            </a:r>
            <a:endParaRPr lang="en-US" sz="3800" dirty="0">
              <a:latin typeface="Times New Roman" panose="02020603050405020304" pitchFamily="18" charset="0"/>
              <a:cs typeface="Times New Roman" panose="02020603050405020304" pitchFamily="18" charset="0"/>
            </a:endParaRPr>
          </a:p>
          <a:p>
            <a:pPr lvl="1"/>
            <a:r>
              <a:rPr lang="en-US" sz="3800" i="1" dirty="0">
                <a:latin typeface="Times New Roman" panose="02020603050405020304" pitchFamily="18" charset="0"/>
                <a:cs typeface="Times New Roman" panose="02020603050405020304" pitchFamily="18" charset="0"/>
              </a:rPr>
              <a:t>The Problem:</a:t>
            </a:r>
            <a:r>
              <a:rPr lang="en-US" sz="3800" dirty="0">
                <a:latin typeface="Times New Roman" panose="02020603050405020304" pitchFamily="18" charset="0"/>
                <a:cs typeface="Times New Roman" panose="02020603050405020304" pitchFamily="18" charset="0"/>
              </a:rPr>
              <a:t> The raw BB84 transmission inherently yields unpredictable, variable-length bitstrings due to basis-guessing mismatches, which breaks AES standards.</a:t>
            </a:r>
          </a:p>
          <a:p>
            <a:pPr lvl="1"/>
            <a:r>
              <a:rPr lang="en-US" sz="3800" i="1" dirty="0">
                <a:latin typeface="Times New Roman" panose="02020603050405020304" pitchFamily="18" charset="0"/>
                <a:cs typeface="Times New Roman" panose="02020603050405020304" pitchFamily="18" charset="0"/>
              </a:rPr>
              <a:t>Solution:</a:t>
            </a:r>
            <a:r>
              <a:rPr lang="en-US" sz="3800" dirty="0">
                <a:latin typeface="Times New Roman" panose="02020603050405020304" pitchFamily="18" charset="0"/>
                <a:cs typeface="Times New Roman" panose="02020603050405020304" pitchFamily="18" charset="0"/>
              </a:rPr>
              <a:t> Implemented Cryptographic Privacy Amplification. We actively run the raw sifted bit-sequence through an SHA-256 hashing algorithm to deterministically compress any chaotic sequence into a highly stable, unbreakable 256-bit sequence.</a:t>
            </a:r>
          </a:p>
          <a:p>
            <a:r>
              <a:rPr lang="en-US" sz="3800" b="1" dirty="0">
                <a:latin typeface="Times New Roman" panose="02020603050405020304" pitchFamily="18" charset="0"/>
                <a:cs typeface="Times New Roman" panose="02020603050405020304" pitchFamily="18" charset="0"/>
              </a:rPr>
              <a:t>Challenge 2: Coordinate Overlap (Data Collision)</a:t>
            </a:r>
            <a:endParaRPr lang="en-US" sz="3800" dirty="0">
              <a:latin typeface="Times New Roman" panose="02020603050405020304" pitchFamily="18" charset="0"/>
              <a:cs typeface="Times New Roman" panose="02020603050405020304" pitchFamily="18" charset="0"/>
            </a:endParaRPr>
          </a:p>
          <a:p>
            <a:pPr lvl="1"/>
            <a:r>
              <a:rPr lang="en-US" sz="3800" i="1" dirty="0">
                <a:latin typeface="Times New Roman" panose="02020603050405020304" pitchFamily="18" charset="0"/>
                <a:cs typeface="Times New Roman" panose="02020603050405020304" pitchFamily="18" charset="0"/>
              </a:rPr>
              <a:t>The Problem:</a:t>
            </a:r>
            <a:r>
              <a:rPr lang="en-US" sz="3800" dirty="0">
                <a:latin typeface="Times New Roman" panose="02020603050405020304" pitchFamily="18" charset="0"/>
                <a:cs typeface="Times New Roman" panose="02020603050405020304" pitchFamily="18" charset="0"/>
              </a:rPr>
              <a:t> Hashing multiple, diverse plaintexts via standard modulo logic inevitably forces multiple data payloads into the exact same X-Y grid coordinate.</a:t>
            </a:r>
          </a:p>
          <a:p>
            <a:pPr lvl="1"/>
            <a:r>
              <a:rPr lang="en-US" sz="3800" i="1" dirty="0">
                <a:latin typeface="Times New Roman" panose="02020603050405020304" pitchFamily="18" charset="0"/>
                <a:cs typeface="Times New Roman" panose="02020603050405020304" pitchFamily="18" charset="0"/>
              </a:rPr>
              <a:t>Solution:</a:t>
            </a:r>
            <a:r>
              <a:rPr lang="en-US" sz="3800" dirty="0">
                <a:latin typeface="Times New Roman" panose="02020603050405020304" pitchFamily="18" charset="0"/>
                <a:cs typeface="Times New Roman" panose="02020603050405020304" pitchFamily="18" charset="0"/>
              </a:rPr>
              <a:t> We engineered a shift from exact-point mapping to dynamic 360 degree "Angular Storage Buckets." Instead of relying on crowded grid points, data is grouped and routed into broad spatial sectors based on trigonometric trajectories, drastically reducing collision tracking errors.</a:t>
            </a:r>
          </a:p>
          <a:p>
            <a:endParaRPr lang="en-IN"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017D8383-58D0-2F1C-8242-65A0F4B48FC9}"/>
              </a:ext>
            </a:extLst>
          </p:cNvPr>
          <p:cNvSpPr>
            <a:spLocks noGrp="1"/>
          </p:cNvSpPr>
          <p:nvPr>
            <p:ph type="sldNum" sz="quarter" idx="12"/>
          </p:nvPr>
        </p:nvSpPr>
        <p:spPr/>
        <p:txBody>
          <a:bodyPr/>
          <a:lstStyle/>
          <a:p>
            <a:fld id="{C02A2637-A5A3-49FA-B214-6E67543099EF}" type="slidenum">
              <a:rPr lang="en-US" smtClean="0"/>
              <a:t>17</a:t>
            </a:fld>
            <a:endParaRPr lang="en-US"/>
          </a:p>
        </p:txBody>
      </p:sp>
      <p:sp>
        <p:nvSpPr>
          <p:cNvPr id="5" name="Title 1">
            <a:extLst>
              <a:ext uri="{FF2B5EF4-FFF2-40B4-BE49-F238E27FC236}">
                <a16:creationId xmlns:a16="http://schemas.microsoft.com/office/drawing/2014/main" id="{BCB2EC6B-FA2D-48E7-967F-C33B65CCEFDF}"/>
              </a:ext>
            </a:extLst>
          </p:cNvPr>
          <p:cNvSpPr txBox="1">
            <a:spLocks/>
          </p:cNvSpPr>
          <p:nvPr/>
        </p:nvSpPr>
        <p:spPr>
          <a:xfrm>
            <a:off x="0" y="0"/>
            <a:ext cx="12801600" cy="1512146"/>
          </a:xfrm>
          <a:prstGeom prst="rect">
            <a:avLst/>
          </a:prstGeom>
          <a:solidFill>
            <a:srgbClr val="558ED5"/>
          </a:solidFill>
        </p:spPr>
        <p:txBody>
          <a:bodyPr vert="horz" lIns="114945" tIns="57473" rIns="114945" bIns="57473" rtlCol="0" anchor="ctr">
            <a:normAutofit/>
          </a:bodyPr>
          <a:lstStyle>
            <a:lvl1pPr algn="ctr" defTabSz="1149448" rtl="0" eaLnBrk="1" latinLnBrk="0" hangingPunct="1">
              <a:spcBef>
                <a:spcPct val="0"/>
              </a:spcBef>
              <a:buNone/>
              <a:defRPr sz="5500" kern="1200">
                <a:solidFill>
                  <a:schemeClr val="tx1"/>
                </a:solidFill>
                <a:latin typeface="+mj-lt"/>
                <a:ea typeface="+mj-ea"/>
                <a:cs typeface="+mj-cs"/>
              </a:defRPr>
            </a:lvl1pPr>
          </a:lstStyle>
          <a:p>
            <a:r>
              <a:rPr lang="en-US" sz="3700" b="1">
                <a:solidFill>
                  <a:schemeClr val="bg1"/>
                </a:solidFill>
                <a:latin typeface="Times New Roman" pitchFamily="18" charset="0"/>
                <a:cs typeface="Times New Roman" pitchFamily="18" charset="0"/>
              </a:rPr>
              <a:t>8. DEVELOPMENT &amp; INTEGRATION</a:t>
            </a:r>
            <a:endParaRPr lang="en-US" sz="3700" b="1" dirty="0">
              <a:solidFill>
                <a:schemeClr val="bg1"/>
              </a:solidFill>
              <a:latin typeface="Times New Roman" pitchFamily="18" charset="0"/>
              <a:cs typeface="Times New Roman" pitchFamily="18" charset="0"/>
            </a:endParaRPr>
          </a:p>
        </p:txBody>
      </p:sp>
    </p:spTree>
    <p:extLst>
      <p:ext uri="{BB962C8B-B14F-4D97-AF65-F5344CB8AC3E}">
        <p14:creationId xmlns:p14="http://schemas.microsoft.com/office/powerpoint/2010/main" val="41892774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AFF5EA-D62B-1983-B948-F514CA25FA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D138A4-31C7-3BA3-41EC-856FFC3F2CD3}"/>
              </a:ext>
            </a:extLst>
          </p:cNvPr>
          <p:cNvSpPr>
            <a:spLocks noGrp="1"/>
          </p:cNvSpPr>
          <p:nvPr>
            <p:ph type="title"/>
          </p:nvPr>
        </p:nvSpPr>
        <p:spPr>
          <a:xfrm>
            <a:off x="0" y="0"/>
            <a:ext cx="12801600" cy="1512146"/>
          </a:xfrm>
          <a:solidFill>
            <a:srgbClr val="558ED5"/>
          </a:solidFill>
        </p:spPr>
        <p:txBody>
          <a:bodyPr/>
          <a:lstStyle/>
          <a:p>
            <a:r>
              <a:rPr lang="en-US" sz="3700" b="1" dirty="0">
                <a:solidFill>
                  <a:schemeClr val="bg1"/>
                </a:solidFill>
                <a:latin typeface="Times New Roman" pitchFamily="18" charset="0"/>
                <a:cs typeface="Times New Roman" pitchFamily="18" charset="0"/>
              </a:rPr>
              <a:t>9. PROTOTYPE / RESEARCH FRAMEWORK</a:t>
            </a:r>
          </a:p>
        </p:txBody>
      </p:sp>
      <p:sp>
        <p:nvSpPr>
          <p:cNvPr id="3" name="Content Placeholder 2">
            <a:extLst>
              <a:ext uri="{FF2B5EF4-FFF2-40B4-BE49-F238E27FC236}">
                <a16:creationId xmlns:a16="http://schemas.microsoft.com/office/drawing/2014/main" id="{81FDCD9C-F660-95CA-73DE-982F8EE861D4}"/>
              </a:ext>
            </a:extLst>
          </p:cNvPr>
          <p:cNvSpPr>
            <a:spLocks noGrp="1"/>
          </p:cNvSpPr>
          <p:nvPr>
            <p:ph idx="1"/>
          </p:nvPr>
        </p:nvSpPr>
        <p:spPr/>
        <p:txBody>
          <a:bodyPr>
            <a:noAutofit/>
          </a:bodyPr>
          <a:lstStyle/>
          <a:p>
            <a:pPr algn="just"/>
            <a:r>
              <a:rPr lang="en-US" sz="2400" b="1" dirty="0">
                <a:latin typeface="Times New Roman" panose="02020603050405020304" pitchFamily="18" charset="0"/>
                <a:cs typeface="Times New Roman" panose="02020603050405020304" pitchFamily="18" charset="0"/>
              </a:rPr>
              <a:t>Working Prototype Description</a:t>
            </a: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My fully developed software prototype successfully demonstrates the end-to-end execution of the Hybrid Cryptography framework without relying on external testing platforms. The prototype autonomously orchestrates three distinct operational phases:</a:t>
            </a:r>
          </a:p>
          <a:p>
            <a:pPr algn="just"/>
            <a:r>
              <a:rPr lang="en-US" sz="2400" b="1" dirty="0">
                <a:latin typeface="Times New Roman" panose="02020603050405020304" pitchFamily="18" charset="0"/>
                <a:cs typeface="Times New Roman" panose="02020603050405020304" pitchFamily="18" charset="0"/>
              </a:rPr>
              <a:t>Phase 1 (Quantum Generation):</a:t>
            </a:r>
            <a:r>
              <a:rPr lang="en-US" sz="2400" dirty="0">
                <a:latin typeface="Times New Roman" panose="02020603050405020304" pitchFamily="18" charset="0"/>
                <a:cs typeface="Times New Roman" panose="02020603050405020304" pitchFamily="18" charset="0"/>
              </a:rPr>
              <a:t> Built from scratch, the system mathematically simulates the complete BB84 protocol—handling random photon polarization, measuring states, evaluating the QBER threshold, and amplifying privacy via SHA-256 to successfully output an identical 256-bit AES master key for both client and server.</a:t>
            </a:r>
          </a:p>
          <a:p>
            <a:pPr algn="just"/>
            <a:r>
              <a:rPr lang="en-US" sz="2400" b="1" dirty="0">
                <a:latin typeface="Times New Roman" panose="02020603050405020304" pitchFamily="18" charset="0"/>
                <a:cs typeface="Times New Roman" panose="02020603050405020304" pitchFamily="18" charset="0"/>
              </a:rPr>
              <a:t>Phase 2 (Secure Parameter Exchange):</a:t>
            </a:r>
            <a:r>
              <a:rPr lang="en-US" sz="2400" dirty="0">
                <a:latin typeface="Times New Roman" panose="02020603050405020304" pitchFamily="18" charset="0"/>
                <a:cs typeface="Times New Roman" panose="02020603050405020304" pitchFamily="18" charset="0"/>
              </a:rPr>
              <a:t> Using high-grade AES-GCM encryption secured by the new quantum key, the simulated Server securely initializes and transmits the master 3D Lattice Reference Point (P_{ref}) to the Client over a highly monitored classical channel.</a:t>
            </a:r>
          </a:p>
        </p:txBody>
      </p:sp>
      <p:sp>
        <p:nvSpPr>
          <p:cNvPr id="4" name="Slide Number Placeholder 3">
            <a:extLst>
              <a:ext uri="{FF2B5EF4-FFF2-40B4-BE49-F238E27FC236}">
                <a16:creationId xmlns:a16="http://schemas.microsoft.com/office/drawing/2014/main" id="{55D83B01-BF0B-D797-AC89-252288DAD2AE}"/>
              </a:ext>
            </a:extLst>
          </p:cNvPr>
          <p:cNvSpPr>
            <a:spLocks noGrp="1"/>
          </p:cNvSpPr>
          <p:nvPr>
            <p:ph type="sldNum" sz="quarter" idx="12"/>
          </p:nvPr>
        </p:nvSpPr>
        <p:spPr/>
        <p:txBody>
          <a:bodyPr/>
          <a:lstStyle/>
          <a:p>
            <a:fld id="{C02A2637-A5A3-49FA-B214-6E67543099EF}" type="slidenum">
              <a:rPr lang="en-US" smtClean="0"/>
              <a:t>18</a:t>
            </a:fld>
            <a:endParaRPr lang="en-US"/>
          </a:p>
        </p:txBody>
      </p:sp>
    </p:spTree>
    <p:extLst>
      <p:ext uri="{BB962C8B-B14F-4D97-AF65-F5344CB8AC3E}">
        <p14:creationId xmlns:p14="http://schemas.microsoft.com/office/powerpoint/2010/main" val="11450041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0E91AF-28AC-AAE0-EDB8-730FB82B50A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6DF2B23-A35A-7310-6CEE-E3D34EE7C580}"/>
              </a:ext>
            </a:extLst>
          </p:cNvPr>
          <p:cNvSpPr>
            <a:spLocks noGrp="1"/>
          </p:cNvSpPr>
          <p:nvPr>
            <p:ph idx="1"/>
          </p:nvPr>
        </p:nvSpPr>
        <p:spPr/>
        <p:txBody>
          <a:bodyPr>
            <a:normAutofit/>
          </a:bodyPr>
          <a:lstStyle/>
          <a:p>
            <a:r>
              <a:rPr lang="en-US" sz="2400" b="1" dirty="0">
                <a:latin typeface="Times New Roman" panose="02020603050405020304" pitchFamily="18" charset="0"/>
                <a:cs typeface="Times New Roman" panose="02020603050405020304" pitchFamily="18" charset="0"/>
              </a:rPr>
              <a:t>Phase 3 (Zero-Trust Geometric Storage):</a:t>
            </a:r>
            <a:r>
              <a:rPr lang="en-US" sz="2400" dirty="0">
                <a:latin typeface="Times New Roman" panose="02020603050405020304" pitchFamily="18" charset="0"/>
                <a:cs typeface="Times New Roman" panose="02020603050405020304" pitchFamily="18" charset="0"/>
              </a:rPr>
              <a:t> The prototype demonstrates spatial security by actively encrypting a test message payload, anchoring it via Angular-Bucket grid coordinates, and verifying a successful, secure retrieval. Crucially, the prototype features a built-in adversarial simulation where an attacker ("Eve") attempts to extract the bucketed payload, consistently failing dynamically due to lacking the mathematically required quantum-derived P_{ref}.</a:t>
            </a:r>
          </a:p>
          <a:p>
            <a:endParaRPr lang="en-IN" sz="2400" dirty="0"/>
          </a:p>
        </p:txBody>
      </p:sp>
      <p:sp>
        <p:nvSpPr>
          <p:cNvPr id="4" name="Slide Number Placeholder 3">
            <a:extLst>
              <a:ext uri="{FF2B5EF4-FFF2-40B4-BE49-F238E27FC236}">
                <a16:creationId xmlns:a16="http://schemas.microsoft.com/office/drawing/2014/main" id="{F169DB81-392E-368A-6663-E6F6CD34C4CE}"/>
              </a:ext>
            </a:extLst>
          </p:cNvPr>
          <p:cNvSpPr>
            <a:spLocks noGrp="1"/>
          </p:cNvSpPr>
          <p:nvPr>
            <p:ph type="sldNum" sz="quarter" idx="12"/>
          </p:nvPr>
        </p:nvSpPr>
        <p:spPr/>
        <p:txBody>
          <a:bodyPr/>
          <a:lstStyle/>
          <a:p>
            <a:fld id="{C02A2637-A5A3-49FA-B214-6E67543099EF}" type="slidenum">
              <a:rPr lang="en-US" smtClean="0"/>
              <a:t>19</a:t>
            </a:fld>
            <a:endParaRPr lang="en-US"/>
          </a:p>
        </p:txBody>
      </p:sp>
      <p:sp>
        <p:nvSpPr>
          <p:cNvPr id="5" name="Title 1">
            <a:extLst>
              <a:ext uri="{FF2B5EF4-FFF2-40B4-BE49-F238E27FC236}">
                <a16:creationId xmlns:a16="http://schemas.microsoft.com/office/drawing/2014/main" id="{846DEE00-9717-CD2C-5361-E6A8D6C77F2A}"/>
              </a:ext>
            </a:extLst>
          </p:cNvPr>
          <p:cNvSpPr txBox="1">
            <a:spLocks/>
          </p:cNvSpPr>
          <p:nvPr/>
        </p:nvSpPr>
        <p:spPr>
          <a:xfrm>
            <a:off x="0" y="0"/>
            <a:ext cx="12801600" cy="1512146"/>
          </a:xfrm>
          <a:prstGeom prst="rect">
            <a:avLst/>
          </a:prstGeom>
          <a:solidFill>
            <a:srgbClr val="558ED5"/>
          </a:solidFill>
        </p:spPr>
        <p:txBody>
          <a:bodyPr vert="horz" lIns="114945" tIns="57473" rIns="114945" bIns="57473" rtlCol="0" anchor="ctr">
            <a:normAutofit/>
          </a:bodyPr>
          <a:lstStyle>
            <a:lvl1pPr algn="ctr" defTabSz="1149448" rtl="0" eaLnBrk="1" latinLnBrk="0" hangingPunct="1">
              <a:spcBef>
                <a:spcPct val="0"/>
              </a:spcBef>
              <a:buNone/>
              <a:defRPr sz="5500" kern="1200">
                <a:solidFill>
                  <a:schemeClr val="tx1"/>
                </a:solidFill>
                <a:latin typeface="+mj-lt"/>
                <a:ea typeface="+mj-ea"/>
                <a:cs typeface="+mj-cs"/>
              </a:defRPr>
            </a:lvl1pPr>
          </a:lstStyle>
          <a:p>
            <a:r>
              <a:rPr lang="en-US" sz="3700" b="1">
                <a:solidFill>
                  <a:schemeClr val="bg1"/>
                </a:solidFill>
                <a:latin typeface="Times New Roman" pitchFamily="18" charset="0"/>
                <a:cs typeface="Times New Roman" pitchFamily="18" charset="0"/>
              </a:rPr>
              <a:t>9. PROTOTYPE / RESEARCH FRAMEWORK</a:t>
            </a:r>
            <a:endParaRPr lang="en-US" sz="3700" b="1" dirty="0">
              <a:solidFill>
                <a:schemeClr val="bg1"/>
              </a:solidFill>
              <a:latin typeface="Times New Roman" pitchFamily="18" charset="0"/>
              <a:cs typeface="Times New Roman" pitchFamily="18" charset="0"/>
            </a:endParaRPr>
          </a:p>
        </p:txBody>
      </p:sp>
    </p:spTree>
    <p:extLst>
      <p:ext uri="{BB962C8B-B14F-4D97-AF65-F5344CB8AC3E}">
        <p14:creationId xmlns:p14="http://schemas.microsoft.com/office/powerpoint/2010/main" val="32727398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88BB3-2A5B-34AC-B39B-BAE5C65E68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D448EB-8A1A-C9A3-3C48-4830472042E6}"/>
              </a:ext>
            </a:extLst>
          </p:cNvPr>
          <p:cNvSpPr>
            <a:spLocks noGrp="1"/>
          </p:cNvSpPr>
          <p:nvPr>
            <p:ph type="title"/>
          </p:nvPr>
        </p:nvSpPr>
        <p:spPr>
          <a:xfrm>
            <a:off x="0" y="0"/>
            <a:ext cx="12801600" cy="1512146"/>
          </a:xfrm>
          <a:solidFill>
            <a:srgbClr val="558ED5"/>
          </a:solidFill>
        </p:spPr>
        <p:txBody>
          <a:bodyPr/>
          <a:lstStyle/>
          <a:p>
            <a:r>
              <a:rPr lang="en-US" sz="3700" b="1" dirty="0">
                <a:solidFill>
                  <a:schemeClr val="bg1"/>
                </a:solidFill>
                <a:latin typeface="Times New Roman" pitchFamily="18" charset="0"/>
                <a:cs typeface="Times New Roman" pitchFamily="18" charset="0"/>
              </a:rPr>
              <a:t>10. OUTCOME</a:t>
            </a:r>
          </a:p>
        </p:txBody>
      </p:sp>
      <p:pic>
        <p:nvPicPr>
          <p:cNvPr id="6" name="Content Placeholder 5">
            <a:extLst>
              <a:ext uri="{FF2B5EF4-FFF2-40B4-BE49-F238E27FC236}">
                <a16:creationId xmlns:a16="http://schemas.microsoft.com/office/drawing/2014/main" id="{2FD58BB3-9FDF-FC36-263F-B9077D039AD8}"/>
              </a:ext>
            </a:extLst>
          </p:cNvPr>
          <p:cNvPicPr>
            <a:picLocks noGrp="1" noChangeAspect="1"/>
          </p:cNvPicPr>
          <p:nvPr>
            <p:ph idx="1"/>
          </p:nvPr>
        </p:nvPicPr>
        <p:blipFill>
          <a:blip r:embed="rId2"/>
          <a:stretch>
            <a:fillRect/>
          </a:stretch>
        </p:blipFill>
        <p:spPr>
          <a:xfrm>
            <a:off x="228600" y="1676400"/>
            <a:ext cx="2257938" cy="2191881"/>
          </a:xfrm>
          <a:prstGeom prst="rect">
            <a:avLst/>
          </a:prstGeom>
        </p:spPr>
      </p:pic>
      <p:sp>
        <p:nvSpPr>
          <p:cNvPr id="4" name="Slide Number Placeholder 3">
            <a:extLst>
              <a:ext uri="{FF2B5EF4-FFF2-40B4-BE49-F238E27FC236}">
                <a16:creationId xmlns:a16="http://schemas.microsoft.com/office/drawing/2014/main" id="{3C63C818-3FBA-7FB8-3369-BCE4AC4BD8EF}"/>
              </a:ext>
            </a:extLst>
          </p:cNvPr>
          <p:cNvSpPr>
            <a:spLocks noGrp="1"/>
          </p:cNvSpPr>
          <p:nvPr>
            <p:ph type="sldNum" sz="quarter" idx="12"/>
          </p:nvPr>
        </p:nvSpPr>
        <p:spPr/>
        <p:txBody>
          <a:bodyPr/>
          <a:lstStyle/>
          <a:p>
            <a:fld id="{C02A2637-A5A3-49FA-B214-6E67543099EF}" type="slidenum">
              <a:rPr lang="en-US" smtClean="0"/>
              <a:t>20</a:t>
            </a:fld>
            <a:endParaRPr lang="en-US"/>
          </a:p>
        </p:txBody>
      </p:sp>
      <p:pic>
        <p:nvPicPr>
          <p:cNvPr id="10" name="Picture 9">
            <a:extLst>
              <a:ext uri="{FF2B5EF4-FFF2-40B4-BE49-F238E27FC236}">
                <a16:creationId xmlns:a16="http://schemas.microsoft.com/office/drawing/2014/main" id="{705BB0DD-4419-DC5A-DC37-31594339DDD2}"/>
              </a:ext>
            </a:extLst>
          </p:cNvPr>
          <p:cNvPicPr>
            <a:picLocks noChangeAspect="1"/>
          </p:cNvPicPr>
          <p:nvPr/>
        </p:nvPicPr>
        <p:blipFill>
          <a:blip r:embed="rId3"/>
          <a:stretch>
            <a:fillRect/>
          </a:stretch>
        </p:blipFill>
        <p:spPr>
          <a:xfrm>
            <a:off x="3352800" y="1681655"/>
            <a:ext cx="2076703" cy="2237947"/>
          </a:xfrm>
          <a:prstGeom prst="rect">
            <a:avLst/>
          </a:prstGeom>
        </p:spPr>
      </p:pic>
      <p:pic>
        <p:nvPicPr>
          <p:cNvPr id="12" name="Picture 11">
            <a:extLst>
              <a:ext uri="{FF2B5EF4-FFF2-40B4-BE49-F238E27FC236}">
                <a16:creationId xmlns:a16="http://schemas.microsoft.com/office/drawing/2014/main" id="{42B7755C-B03D-9BA0-D09B-F3DA08BB500C}"/>
              </a:ext>
            </a:extLst>
          </p:cNvPr>
          <p:cNvPicPr>
            <a:picLocks noChangeAspect="1"/>
          </p:cNvPicPr>
          <p:nvPr/>
        </p:nvPicPr>
        <p:blipFill>
          <a:blip r:embed="rId4"/>
          <a:stretch>
            <a:fillRect/>
          </a:stretch>
        </p:blipFill>
        <p:spPr>
          <a:xfrm>
            <a:off x="6019801" y="1687033"/>
            <a:ext cx="4876800" cy="2318895"/>
          </a:xfrm>
          <a:prstGeom prst="rect">
            <a:avLst/>
          </a:prstGeom>
        </p:spPr>
      </p:pic>
      <p:pic>
        <p:nvPicPr>
          <p:cNvPr id="14" name="Picture 13">
            <a:extLst>
              <a:ext uri="{FF2B5EF4-FFF2-40B4-BE49-F238E27FC236}">
                <a16:creationId xmlns:a16="http://schemas.microsoft.com/office/drawing/2014/main" id="{283995AD-78CE-9ADA-C682-28EBC743C4D4}"/>
              </a:ext>
            </a:extLst>
          </p:cNvPr>
          <p:cNvPicPr>
            <a:picLocks noChangeAspect="1"/>
          </p:cNvPicPr>
          <p:nvPr/>
        </p:nvPicPr>
        <p:blipFill>
          <a:blip r:embed="rId5"/>
          <a:stretch>
            <a:fillRect/>
          </a:stretch>
        </p:blipFill>
        <p:spPr>
          <a:xfrm>
            <a:off x="251637" y="4177271"/>
            <a:ext cx="5949474" cy="2777251"/>
          </a:xfrm>
          <a:prstGeom prst="rect">
            <a:avLst/>
          </a:prstGeom>
        </p:spPr>
      </p:pic>
      <p:pic>
        <p:nvPicPr>
          <p:cNvPr id="16" name="Picture 15">
            <a:extLst>
              <a:ext uri="{FF2B5EF4-FFF2-40B4-BE49-F238E27FC236}">
                <a16:creationId xmlns:a16="http://schemas.microsoft.com/office/drawing/2014/main" id="{960BA7EC-31F4-7F42-D24B-539DC6D47FAF}"/>
              </a:ext>
            </a:extLst>
          </p:cNvPr>
          <p:cNvPicPr>
            <a:picLocks noChangeAspect="1"/>
          </p:cNvPicPr>
          <p:nvPr/>
        </p:nvPicPr>
        <p:blipFill>
          <a:blip r:embed="rId6"/>
          <a:stretch>
            <a:fillRect/>
          </a:stretch>
        </p:blipFill>
        <p:spPr>
          <a:xfrm>
            <a:off x="6400800" y="4186131"/>
            <a:ext cx="2682472" cy="2004234"/>
          </a:xfrm>
          <a:prstGeom prst="rect">
            <a:avLst/>
          </a:prstGeom>
        </p:spPr>
      </p:pic>
      <p:pic>
        <p:nvPicPr>
          <p:cNvPr id="18" name="Picture 17">
            <a:extLst>
              <a:ext uri="{FF2B5EF4-FFF2-40B4-BE49-F238E27FC236}">
                <a16:creationId xmlns:a16="http://schemas.microsoft.com/office/drawing/2014/main" id="{1B6A869E-2F3A-3076-7023-D3D6AE947C62}"/>
              </a:ext>
            </a:extLst>
          </p:cNvPr>
          <p:cNvPicPr>
            <a:picLocks noChangeAspect="1"/>
          </p:cNvPicPr>
          <p:nvPr/>
        </p:nvPicPr>
        <p:blipFill>
          <a:blip r:embed="rId7"/>
          <a:stretch>
            <a:fillRect/>
          </a:stretch>
        </p:blipFill>
        <p:spPr>
          <a:xfrm>
            <a:off x="10940853" y="1726109"/>
            <a:ext cx="1809499" cy="2662843"/>
          </a:xfrm>
          <a:prstGeom prst="rect">
            <a:avLst/>
          </a:prstGeom>
        </p:spPr>
      </p:pic>
      <p:pic>
        <p:nvPicPr>
          <p:cNvPr id="20" name="Picture 19">
            <a:extLst>
              <a:ext uri="{FF2B5EF4-FFF2-40B4-BE49-F238E27FC236}">
                <a16:creationId xmlns:a16="http://schemas.microsoft.com/office/drawing/2014/main" id="{9DD8B2A4-7765-CA37-C817-AFFD20F077F5}"/>
              </a:ext>
            </a:extLst>
          </p:cNvPr>
          <p:cNvPicPr>
            <a:picLocks noChangeAspect="1"/>
          </p:cNvPicPr>
          <p:nvPr/>
        </p:nvPicPr>
        <p:blipFill>
          <a:blip r:embed="rId8"/>
          <a:stretch>
            <a:fillRect/>
          </a:stretch>
        </p:blipFill>
        <p:spPr>
          <a:xfrm>
            <a:off x="9298910" y="4257669"/>
            <a:ext cx="1665335" cy="2971109"/>
          </a:xfrm>
          <a:prstGeom prst="rect">
            <a:avLst/>
          </a:prstGeom>
        </p:spPr>
      </p:pic>
    </p:spTree>
    <p:extLst>
      <p:ext uri="{BB962C8B-B14F-4D97-AF65-F5344CB8AC3E}">
        <p14:creationId xmlns:p14="http://schemas.microsoft.com/office/powerpoint/2010/main" val="33197433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76DB22-5CA8-5485-12E2-C8E5DCE30D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55823C-1F85-90B7-DBED-F4E901DA3A52}"/>
              </a:ext>
            </a:extLst>
          </p:cNvPr>
          <p:cNvSpPr>
            <a:spLocks noGrp="1"/>
          </p:cNvSpPr>
          <p:nvPr>
            <p:ph type="title"/>
          </p:nvPr>
        </p:nvSpPr>
        <p:spPr>
          <a:xfrm>
            <a:off x="0" y="0"/>
            <a:ext cx="12801600" cy="1512146"/>
          </a:xfrm>
          <a:solidFill>
            <a:srgbClr val="558ED5"/>
          </a:solidFill>
        </p:spPr>
        <p:txBody>
          <a:bodyPr/>
          <a:lstStyle/>
          <a:p>
            <a:r>
              <a:rPr lang="en-US" sz="3700" b="1" dirty="0">
                <a:solidFill>
                  <a:schemeClr val="bg1"/>
                </a:solidFill>
                <a:latin typeface="Times New Roman" pitchFamily="18" charset="0"/>
                <a:cs typeface="Times New Roman" pitchFamily="18" charset="0"/>
              </a:rPr>
              <a:t>10.OUTCOME</a:t>
            </a:r>
          </a:p>
        </p:txBody>
      </p:sp>
      <p:sp>
        <p:nvSpPr>
          <p:cNvPr id="3" name="Content Placeholder 2">
            <a:extLst>
              <a:ext uri="{FF2B5EF4-FFF2-40B4-BE49-F238E27FC236}">
                <a16:creationId xmlns:a16="http://schemas.microsoft.com/office/drawing/2014/main" id="{671F6D83-CDDC-F35A-66D9-4EE8BD44DF93}"/>
              </a:ext>
            </a:extLst>
          </p:cNvPr>
          <p:cNvSpPr>
            <a:spLocks noGrp="1"/>
          </p:cNvSpPr>
          <p:nvPr>
            <p:ph idx="1"/>
          </p:nvPr>
        </p:nvSpPr>
        <p:spPr/>
        <p:txBody>
          <a:bodyPr>
            <a:normAutofit fontScale="32500" lnSpcReduction="20000"/>
          </a:bodyPr>
          <a:lstStyle/>
          <a:p>
            <a:pPr marL="0" indent="0">
              <a:buNone/>
            </a:pPr>
            <a:r>
              <a:rPr lang="en-US" sz="7400" b="1" dirty="0">
                <a:latin typeface="Times New Roman" panose="02020603050405020304" pitchFamily="18" charset="0"/>
                <a:cs typeface="Times New Roman" panose="02020603050405020304" pitchFamily="18" charset="0"/>
              </a:rPr>
              <a:t>Key Insights &amp; Results</a:t>
            </a:r>
            <a:endParaRPr lang="en-US" sz="7400" dirty="0">
              <a:latin typeface="Times New Roman" panose="02020603050405020304" pitchFamily="18" charset="0"/>
              <a:cs typeface="Times New Roman" panose="02020603050405020304" pitchFamily="18" charset="0"/>
            </a:endParaRPr>
          </a:p>
          <a:p>
            <a:r>
              <a:rPr lang="en-US" sz="7400" b="1" dirty="0">
                <a:latin typeface="Times New Roman" panose="02020603050405020304" pitchFamily="18" charset="0"/>
                <a:cs typeface="Times New Roman" panose="02020603050405020304" pitchFamily="18" charset="0"/>
              </a:rPr>
              <a:t>100% Secure Key Establishment:</a:t>
            </a:r>
            <a:r>
              <a:rPr lang="en-US" sz="7400" dirty="0">
                <a:latin typeface="Times New Roman" panose="02020603050405020304" pitchFamily="18" charset="0"/>
                <a:cs typeface="Times New Roman" panose="02020603050405020304" pitchFamily="18" charset="0"/>
              </a:rPr>
              <a:t> The QKD simulation successfully distilled a matching, unbreakable 256-bit AES master key directly from 1,024 simulated quantum photons, automatically discarding mismatched bases via the classical public channel.</a:t>
            </a:r>
          </a:p>
          <a:p>
            <a:r>
              <a:rPr lang="en-US" sz="7400" b="1" dirty="0">
                <a:latin typeface="Times New Roman" panose="02020603050405020304" pitchFamily="18" charset="0"/>
                <a:cs typeface="Times New Roman" panose="02020603050405020304" pitchFamily="18" charset="0"/>
              </a:rPr>
              <a:t>Flawless Hybrid Handoff:</a:t>
            </a:r>
            <a:r>
              <a:rPr lang="en-US" sz="7400" dirty="0">
                <a:latin typeface="Times New Roman" panose="02020603050405020304" pitchFamily="18" charset="0"/>
                <a:cs typeface="Times New Roman" panose="02020603050405020304" pitchFamily="18" charset="0"/>
              </a:rPr>
              <a:t> High-grade AES-GCM securely wrapped and transmitted the dynamic 3D geometric Lattice coordinate (P_{ref}), proving that quantum physics can seamlessly initialize post-quantum spatial parameters.</a:t>
            </a:r>
          </a:p>
          <a:p>
            <a:r>
              <a:rPr lang="en-US" sz="7400" b="1" dirty="0">
                <a:latin typeface="Times New Roman" panose="02020603050405020304" pitchFamily="18" charset="0"/>
                <a:cs typeface="Times New Roman" panose="02020603050405020304" pitchFamily="18" charset="0"/>
              </a:rPr>
              <a:t>Successful Zero-Trust Retrieval:</a:t>
            </a:r>
            <a:r>
              <a:rPr lang="en-US" sz="7400" dirty="0">
                <a:latin typeface="Times New Roman" panose="02020603050405020304" pitchFamily="18" charset="0"/>
                <a:cs typeface="Times New Roman" panose="02020603050405020304" pitchFamily="18" charset="0"/>
              </a:rPr>
              <a:t> The Angular-Bucket subsystem reliably anchored the encrypted test payload to specific coordinate buckets, demonstrating flawless authorization and retrieval times.</a:t>
            </a:r>
          </a:p>
          <a:p>
            <a:r>
              <a:rPr lang="en-US" sz="7400" b="1" dirty="0">
                <a:latin typeface="Times New Roman" panose="02020603050405020304" pitchFamily="18" charset="0"/>
                <a:cs typeface="Times New Roman" panose="02020603050405020304" pitchFamily="18" charset="0"/>
              </a:rPr>
              <a:t>Definitive Defeat of Adversaries:</a:t>
            </a:r>
            <a:r>
              <a:rPr lang="en-US" sz="7400" dirty="0">
                <a:latin typeface="Times New Roman" panose="02020603050405020304" pitchFamily="18" charset="0"/>
                <a:cs typeface="Times New Roman" panose="02020603050405020304" pitchFamily="18" charset="0"/>
              </a:rPr>
              <a:t> The active adversarial simulation (Eve) proved that hacking the centralized database is completely useless. Without intercepting the quantum channel to obtain P_{ref}, Eve’s mathematical decryption failed instantly, successfully defending against "Harvest Now, Decrypt Later" scenarios.</a:t>
            </a:r>
          </a:p>
        </p:txBody>
      </p:sp>
      <p:sp>
        <p:nvSpPr>
          <p:cNvPr id="4" name="Slide Number Placeholder 3">
            <a:extLst>
              <a:ext uri="{FF2B5EF4-FFF2-40B4-BE49-F238E27FC236}">
                <a16:creationId xmlns:a16="http://schemas.microsoft.com/office/drawing/2014/main" id="{03A20FBD-BF8A-D564-CDB0-085366461C42}"/>
              </a:ext>
            </a:extLst>
          </p:cNvPr>
          <p:cNvSpPr>
            <a:spLocks noGrp="1"/>
          </p:cNvSpPr>
          <p:nvPr>
            <p:ph type="sldNum" sz="quarter" idx="12"/>
          </p:nvPr>
        </p:nvSpPr>
        <p:spPr/>
        <p:txBody>
          <a:bodyPr/>
          <a:lstStyle/>
          <a:p>
            <a:fld id="{C02A2637-A5A3-49FA-B214-6E67543099EF}" type="slidenum">
              <a:rPr lang="en-US" smtClean="0"/>
              <a:t>21</a:t>
            </a:fld>
            <a:endParaRPr lang="en-US"/>
          </a:p>
        </p:txBody>
      </p:sp>
    </p:spTree>
    <p:extLst>
      <p:ext uri="{BB962C8B-B14F-4D97-AF65-F5344CB8AC3E}">
        <p14:creationId xmlns:p14="http://schemas.microsoft.com/office/powerpoint/2010/main" val="30423618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6C8D-B43E-DA7C-E00A-0FC4EA185F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44C6AA-E1C2-EA6C-246E-CC1479CDED74}"/>
              </a:ext>
            </a:extLst>
          </p:cNvPr>
          <p:cNvSpPr>
            <a:spLocks noGrp="1"/>
          </p:cNvSpPr>
          <p:nvPr>
            <p:ph type="title"/>
          </p:nvPr>
        </p:nvSpPr>
        <p:spPr>
          <a:xfrm>
            <a:off x="0" y="0"/>
            <a:ext cx="12801600" cy="1512146"/>
          </a:xfrm>
          <a:solidFill>
            <a:srgbClr val="558ED5"/>
          </a:solidFill>
        </p:spPr>
        <p:txBody>
          <a:bodyPr/>
          <a:lstStyle/>
          <a:p>
            <a:r>
              <a:rPr lang="en-US" sz="3700" b="1" dirty="0">
                <a:solidFill>
                  <a:schemeClr val="bg1"/>
                </a:solidFill>
                <a:latin typeface="Times New Roman" pitchFamily="18" charset="0"/>
                <a:cs typeface="Times New Roman" pitchFamily="18" charset="0"/>
              </a:rPr>
              <a:t>11. RESULTS</a:t>
            </a:r>
          </a:p>
        </p:txBody>
      </p:sp>
      <p:sp>
        <p:nvSpPr>
          <p:cNvPr id="3" name="Content Placeholder 2">
            <a:extLst>
              <a:ext uri="{FF2B5EF4-FFF2-40B4-BE49-F238E27FC236}">
                <a16:creationId xmlns:a16="http://schemas.microsoft.com/office/drawing/2014/main" id="{63ED4B1E-A9C5-0A84-607D-7CB161B4660A}"/>
              </a:ext>
            </a:extLst>
          </p:cNvPr>
          <p:cNvSpPr>
            <a:spLocks noGrp="1"/>
          </p:cNvSpPr>
          <p:nvPr>
            <p:ph idx="1"/>
          </p:nvPr>
        </p:nvSpPr>
        <p:spPr/>
        <p:txBody>
          <a:bodyPr>
            <a:normAutofit/>
          </a:bodyPr>
          <a:lstStyle/>
          <a:p>
            <a:pPr marL="0" indent="0">
              <a:buNone/>
            </a:pPr>
            <a:r>
              <a:rPr lang="en-IN" sz="2400" b="1" dirty="0">
                <a:latin typeface="Times New Roman" panose="02020603050405020304" pitchFamily="18" charset="0"/>
                <a:cs typeface="Times New Roman" panose="02020603050405020304" pitchFamily="18" charset="0"/>
              </a:rPr>
              <a:t>Performance Metrics</a:t>
            </a:r>
            <a:endParaRPr lang="en-IN" sz="2400" dirty="0">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Ultra-Low Latency:</a:t>
            </a:r>
            <a:r>
              <a:rPr lang="en-IN" sz="2400" dirty="0">
                <a:latin typeface="Times New Roman" panose="02020603050405020304" pitchFamily="18" charset="0"/>
                <a:cs typeface="Times New Roman" panose="02020603050405020304" pitchFamily="18" charset="0"/>
              </a:rPr>
              <a:t> Spatial calculations (utilizing modulo arithmetic and atan2 trigonometry) executed in fractions of a millisecond. This easily outperforms the bulky polynomial calculations slowing down standard Post-Quantum models.</a:t>
            </a:r>
          </a:p>
          <a:p>
            <a:r>
              <a:rPr lang="en-IN" sz="2400" b="1" dirty="0">
                <a:latin typeface="Times New Roman" panose="02020603050405020304" pitchFamily="18" charset="0"/>
                <a:cs typeface="Times New Roman" panose="02020603050405020304" pitchFamily="18" charset="0"/>
              </a:rPr>
              <a:t>Lightweight Storage Overhead:</a:t>
            </a:r>
            <a:r>
              <a:rPr lang="en-IN" sz="2400" dirty="0">
                <a:latin typeface="Times New Roman" panose="02020603050405020304" pitchFamily="18" charset="0"/>
                <a:cs typeface="Times New Roman" panose="02020603050405020304" pitchFamily="18" charset="0"/>
              </a:rPr>
              <a:t> The ABLKM geometric subsystem maps data dynamically without creating bulky metadata files, keeping the server memory overhead extremely scalable and fast.</a:t>
            </a:r>
          </a:p>
          <a:p>
            <a:r>
              <a:rPr lang="en-IN" sz="2400" b="1" dirty="0">
                <a:latin typeface="Times New Roman" panose="02020603050405020304" pitchFamily="18" charset="0"/>
                <a:cs typeface="Times New Roman" panose="02020603050405020304" pitchFamily="18" charset="0"/>
              </a:rPr>
              <a:t>Algorithmic QKD Stability:</a:t>
            </a:r>
            <a:r>
              <a:rPr lang="en-IN" sz="2400" dirty="0">
                <a:latin typeface="Times New Roman" panose="02020603050405020304" pitchFamily="18" charset="0"/>
                <a:cs typeface="Times New Roman" panose="02020603050405020304" pitchFamily="18" charset="0"/>
              </a:rPr>
              <a:t> Generating 1,024 quantum states actively yielded a perfectly stable 256-bit AES master key holding at a 0.00% Quantum Bit Error Rate (QBER) under simulated optimal conditions.</a:t>
            </a:r>
          </a:p>
          <a:p>
            <a:pPr marL="0" indent="0">
              <a:buNone/>
            </a:pPr>
            <a:endParaRPr lang="en-US" sz="24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C20BB0C0-AF3E-C46D-0A00-DD8E18E7843A}"/>
              </a:ext>
            </a:extLst>
          </p:cNvPr>
          <p:cNvSpPr>
            <a:spLocks noGrp="1"/>
          </p:cNvSpPr>
          <p:nvPr>
            <p:ph type="sldNum" sz="quarter" idx="12"/>
          </p:nvPr>
        </p:nvSpPr>
        <p:spPr/>
        <p:txBody>
          <a:bodyPr/>
          <a:lstStyle/>
          <a:p>
            <a:fld id="{C02A2637-A5A3-49FA-B214-6E67543099EF}" type="slidenum">
              <a:rPr lang="en-US" smtClean="0"/>
              <a:t>22</a:t>
            </a:fld>
            <a:endParaRPr lang="en-US"/>
          </a:p>
        </p:txBody>
      </p:sp>
    </p:spTree>
    <p:extLst>
      <p:ext uri="{BB962C8B-B14F-4D97-AF65-F5344CB8AC3E}">
        <p14:creationId xmlns:p14="http://schemas.microsoft.com/office/powerpoint/2010/main" val="13753997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B2A5E2-0B0A-113E-8433-0B1F0014D2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59D849-DABC-6BF9-8B94-CB666DCBADE5}"/>
              </a:ext>
            </a:extLst>
          </p:cNvPr>
          <p:cNvSpPr>
            <a:spLocks noGrp="1"/>
          </p:cNvSpPr>
          <p:nvPr>
            <p:ph type="title"/>
          </p:nvPr>
        </p:nvSpPr>
        <p:spPr>
          <a:xfrm>
            <a:off x="0" y="0"/>
            <a:ext cx="12801600" cy="1512146"/>
          </a:xfrm>
          <a:solidFill>
            <a:srgbClr val="558ED5"/>
          </a:solidFill>
        </p:spPr>
        <p:txBody>
          <a:bodyPr/>
          <a:lstStyle/>
          <a:p>
            <a:r>
              <a:rPr lang="en-US" sz="3700" b="1" dirty="0">
                <a:solidFill>
                  <a:schemeClr val="bg1"/>
                </a:solidFill>
                <a:latin typeface="Times New Roman" pitchFamily="18" charset="0"/>
                <a:cs typeface="Times New Roman" pitchFamily="18" charset="0"/>
              </a:rPr>
              <a:t>11. RESULTS</a:t>
            </a:r>
          </a:p>
        </p:txBody>
      </p:sp>
      <p:sp>
        <p:nvSpPr>
          <p:cNvPr id="3" name="Content Placeholder 2">
            <a:extLst>
              <a:ext uri="{FF2B5EF4-FFF2-40B4-BE49-F238E27FC236}">
                <a16:creationId xmlns:a16="http://schemas.microsoft.com/office/drawing/2014/main" id="{4A117ACE-9B9C-F854-9833-42E8573E1D55}"/>
              </a:ext>
            </a:extLst>
          </p:cNvPr>
          <p:cNvSpPr>
            <a:spLocks noGrp="1"/>
          </p:cNvSpPr>
          <p:nvPr>
            <p:ph idx="1"/>
          </p:nvPr>
        </p:nvSpPr>
        <p:spPr/>
        <p:txBody>
          <a:bodyPr>
            <a:normAutofit/>
          </a:bodyPr>
          <a:lstStyle/>
          <a:p>
            <a:pPr marL="0" indent="0">
              <a:buNone/>
            </a:pPr>
            <a:r>
              <a:rPr lang="en-US" sz="2400" b="1" dirty="0">
                <a:latin typeface="Times New Roman" panose="02020603050405020304" pitchFamily="18" charset="0"/>
                <a:cs typeface="Times New Roman" panose="02020603050405020304" pitchFamily="18" charset="0"/>
              </a:rPr>
              <a:t>Validation of Approach</a:t>
            </a:r>
            <a:endParaRPr lang="en-US"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End-to-End Cryptographic Synthesis:</a:t>
            </a:r>
            <a:r>
              <a:rPr lang="en-US" sz="2400" dirty="0">
                <a:latin typeface="Times New Roman" panose="02020603050405020304" pitchFamily="18" charset="0"/>
                <a:cs typeface="Times New Roman" panose="02020603050405020304" pitchFamily="18" charset="0"/>
              </a:rPr>
              <a:t> The working prototype definitively proves our core thesis: the physical properties of quantum transmission can inherently define and dictate the geometric storage layout of data at rest.</a:t>
            </a:r>
          </a:p>
          <a:p>
            <a:r>
              <a:rPr lang="en-US" sz="2400" b="1" dirty="0">
                <a:latin typeface="Times New Roman" panose="02020603050405020304" pitchFamily="18" charset="0"/>
                <a:cs typeface="Times New Roman" panose="02020603050405020304" pitchFamily="18" charset="0"/>
              </a:rPr>
              <a:t>Defeating "Harvesting" Breaches:</a:t>
            </a:r>
            <a:r>
              <a:rPr lang="en-US" sz="2400" dirty="0">
                <a:latin typeface="Times New Roman" panose="02020603050405020304" pitchFamily="18" charset="0"/>
                <a:cs typeface="Times New Roman" panose="02020603050405020304" pitchFamily="18" charset="0"/>
              </a:rPr>
              <a:t> We validated that by totally abandoning linearly structured database architectures in favor of spatial geometric grids, severe "Harvest Now, Decrypt Later" server breaches become mathematically impossible.</a:t>
            </a:r>
          </a:p>
          <a:p>
            <a:r>
              <a:rPr lang="en-US" sz="2400" b="1" dirty="0">
                <a:latin typeface="Times New Roman" panose="02020603050405020304" pitchFamily="18" charset="0"/>
                <a:cs typeface="Times New Roman" panose="02020603050405020304" pitchFamily="18" charset="0"/>
              </a:rPr>
              <a:t>Scalable High-End Security:</a:t>
            </a:r>
            <a:r>
              <a:rPr lang="en-US" sz="2400" dirty="0">
                <a:latin typeface="Times New Roman" panose="02020603050405020304" pitchFamily="18" charset="0"/>
                <a:cs typeface="Times New Roman" panose="02020603050405020304" pitchFamily="18" charset="0"/>
              </a:rPr>
              <a:t> Ultimately, the project validates that impenetrable zero-trust storage can be achieved rapidly via lightweight trigonometry, rather than crippling server hardware with massive post-quantum algorithmic overhead.</a:t>
            </a:r>
          </a:p>
          <a:p>
            <a:pPr marL="0" indent="0">
              <a:buNone/>
            </a:pPr>
            <a:endParaRPr lang="en-US" sz="24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39479292-2866-DAFA-6D18-9FB742DD44EF}"/>
              </a:ext>
            </a:extLst>
          </p:cNvPr>
          <p:cNvSpPr>
            <a:spLocks noGrp="1"/>
          </p:cNvSpPr>
          <p:nvPr>
            <p:ph type="sldNum" sz="quarter" idx="12"/>
          </p:nvPr>
        </p:nvSpPr>
        <p:spPr/>
        <p:txBody>
          <a:bodyPr/>
          <a:lstStyle/>
          <a:p>
            <a:fld id="{C02A2637-A5A3-49FA-B214-6E67543099EF}" type="slidenum">
              <a:rPr lang="en-US" smtClean="0"/>
              <a:t>23</a:t>
            </a:fld>
            <a:endParaRPr lang="en-US"/>
          </a:p>
        </p:txBody>
      </p:sp>
    </p:spTree>
    <p:extLst>
      <p:ext uri="{BB962C8B-B14F-4D97-AF65-F5344CB8AC3E}">
        <p14:creationId xmlns:p14="http://schemas.microsoft.com/office/powerpoint/2010/main" val="9085013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43F83F-C59F-28E5-3BFE-FC00045E34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1F9BD4-1592-7E16-82CA-FFCF4CF5CD00}"/>
              </a:ext>
            </a:extLst>
          </p:cNvPr>
          <p:cNvSpPr>
            <a:spLocks noGrp="1"/>
          </p:cNvSpPr>
          <p:nvPr>
            <p:ph type="title"/>
          </p:nvPr>
        </p:nvSpPr>
        <p:spPr>
          <a:xfrm>
            <a:off x="0" y="0"/>
            <a:ext cx="12801600" cy="1512146"/>
          </a:xfrm>
          <a:solidFill>
            <a:srgbClr val="558ED5"/>
          </a:solidFill>
        </p:spPr>
        <p:txBody>
          <a:bodyPr/>
          <a:lstStyle/>
          <a:p>
            <a:r>
              <a:rPr lang="en-US" sz="3700" b="1" dirty="0">
                <a:solidFill>
                  <a:schemeClr val="bg1"/>
                </a:solidFill>
                <a:latin typeface="Times New Roman" pitchFamily="18" charset="0"/>
                <a:cs typeface="Times New Roman" pitchFamily="18" charset="0"/>
              </a:rPr>
              <a:t>11. RESULTS</a:t>
            </a:r>
          </a:p>
        </p:txBody>
      </p:sp>
      <p:sp>
        <p:nvSpPr>
          <p:cNvPr id="3" name="Content Placeholder 2">
            <a:extLst>
              <a:ext uri="{FF2B5EF4-FFF2-40B4-BE49-F238E27FC236}">
                <a16:creationId xmlns:a16="http://schemas.microsoft.com/office/drawing/2014/main" id="{040135BE-3F96-39BC-1E47-77279B1B5B42}"/>
              </a:ext>
            </a:extLst>
          </p:cNvPr>
          <p:cNvSpPr>
            <a:spLocks noGrp="1"/>
          </p:cNvSpPr>
          <p:nvPr>
            <p:ph idx="1"/>
          </p:nvPr>
        </p:nvSpPr>
        <p:spPr/>
        <p:txBody>
          <a:bodyPr>
            <a:normAutofit/>
          </a:bodyPr>
          <a:lstStyle/>
          <a:p>
            <a:pPr marL="0" indent="0">
              <a:buNone/>
            </a:pPr>
            <a:r>
              <a:rPr lang="en-US" sz="2400" b="1" dirty="0">
                <a:latin typeface="Times New Roman" panose="02020603050405020304" pitchFamily="18" charset="0"/>
                <a:cs typeface="Times New Roman" panose="02020603050405020304" pitchFamily="18" charset="0"/>
              </a:rPr>
              <a:t>Observations</a:t>
            </a:r>
            <a:endParaRPr lang="en-US"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Successful Collision Avoidance:</a:t>
            </a:r>
            <a:r>
              <a:rPr lang="en-US" sz="2400" dirty="0">
                <a:latin typeface="Times New Roman" panose="02020603050405020304" pitchFamily="18" charset="0"/>
                <a:cs typeface="Times New Roman" panose="02020603050405020304" pitchFamily="18" charset="0"/>
              </a:rPr>
              <a:t> We observed that expanding rigid X-Y coordinate mappings into wide 360 degree angular "Buckets" successfully mitigated coordinate overlap, a problem that usually plagues traditional hashing databases.</a:t>
            </a:r>
          </a:p>
          <a:p>
            <a:r>
              <a:rPr lang="en-US" sz="2400" b="1" dirty="0">
                <a:latin typeface="Times New Roman" panose="02020603050405020304" pitchFamily="18" charset="0"/>
                <a:cs typeface="Times New Roman" panose="02020603050405020304" pitchFamily="18" charset="0"/>
              </a:rPr>
              <a:t>Instant Adversarial Denial:</a:t>
            </a:r>
            <a:r>
              <a:rPr lang="en-US" sz="2400" dirty="0">
                <a:latin typeface="Times New Roman" panose="02020603050405020304" pitchFamily="18" charset="0"/>
                <a:cs typeface="Times New Roman" panose="02020603050405020304" pitchFamily="18" charset="0"/>
              </a:rPr>
              <a:t> During testing, the adversarial simulation (Eve) predictably failed. Because Eve lacked the quantum-derived P_{ref}, the trigonometric functions mathematically locked her out instantly before a brute-force script could even initiate.</a:t>
            </a:r>
          </a:p>
          <a:p>
            <a:r>
              <a:rPr lang="en-US" sz="2400" b="1" dirty="0">
                <a:latin typeface="Times New Roman" panose="02020603050405020304" pitchFamily="18" charset="0"/>
                <a:cs typeface="Times New Roman" panose="02020603050405020304" pitchFamily="18" charset="0"/>
              </a:rPr>
              <a:t>Frictionless Protocol Handoff:</a:t>
            </a:r>
            <a:r>
              <a:rPr lang="en-US" sz="2400" dirty="0">
                <a:latin typeface="Times New Roman" panose="02020603050405020304" pitchFamily="18" charset="0"/>
                <a:cs typeface="Times New Roman" panose="02020603050405020304" pitchFamily="18" charset="0"/>
              </a:rPr>
              <a:t> The initialization handoff from the physical quantum protocol (BB84) to the classical database subsystem (ABLKM) executed flawlessly, proving the two extreme domains can synchronize seamlessly.</a:t>
            </a:r>
          </a:p>
          <a:p>
            <a:pPr marL="0" indent="0">
              <a:buNone/>
            </a:pPr>
            <a:endParaRPr lang="en-US" sz="24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A2A89935-0EA3-CC6A-AE1E-C4E5670EAEDA}"/>
              </a:ext>
            </a:extLst>
          </p:cNvPr>
          <p:cNvSpPr>
            <a:spLocks noGrp="1"/>
          </p:cNvSpPr>
          <p:nvPr>
            <p:ph type="sldNum" sz="quarter" idx="12"/>
          </p:nvPr>
        </p:nvSpPr>
        <p:spPr/>
        <p:txBody>
          <a:bodyPr/>
          <a:lstStyle/>
          <a:p>
            <a:fld id="{C02A2637-A5A3-49FA-B214-6E67543099EF}" type="slidenum">
              <a:rPr lang="en-US" smtClean="0"/>
              <a:t>24</a:t>
            </a:fld>
            <a:endParaRPr lang="en-US"/>
          </a:p>
        </p:txBody>
      </p:sp>
    </p:spTree>
    <p:extLst>
      <p:ext uri="{BB962C8B-B14F-4D97-AF65-F5344CB8AC3E}">
        <p14:creationId xmlns:p14="http://schemas.microsoft.com/office/powerpoint/2010/main" val="9702480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95202"/>
            <a:ext cx="12801600" cy="78565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914400" y="905600"/>
            <a:ext cx="11771471" cy="794492"/>
          </a:xfrm>
        </p:spPr>
        <p:txBody>
          <a:bodyPr vert="horz" lIns="91440" tIns="45720" rIns="91440" bIns="45720" rtlCol="0" anchor="ctr">
            <a:normAutofit/>
          </a:bodyPr>
          <a:lstStyle/>
          <a:p>
            <a:pPr defTabSz="914400">
              <a:lnSpc>
                <a:spcPct val="90000"/>
              </a:lnSpc>
            </a:pPr>
            <a:r>
              <a:rPr lang="en-US" sz="3400" b="1" kern="1200" dirty="0">
                <a:solidFill>
                  <a:schemeClr val="bg1"/>
                </a:solidFill>
                <a:latin typeface="+mj-lt"/>
                <a:ea typeface="+mj-ea"/>
                <a:cs typeface="+mj-cs"/>
              </a:rPr>
              <a:t>12. TIMELINE / GANTT CHART</a:t>
            </a:r>
          </a:p>
        </p:txBody>
      </p:sp>
      <p:sp>
        <p:nvSpPr>
          <p:cNvPr id="4" name="Slide Number Placeholder 3"/>
          <p:cNvSpPr>
            <a:spLocks noGrp="1"/>
          </p:cNvSpPr>
          <p:nvPr>
            <p:ph type="sldNum" sz="quarter" idx="12"/>
          </p:nvPr>
        </p:nvSpPr>
        <p:spPr>
          <a:xfrm>
            <a:off x="9041130" y="6780106"/>
            <a:ext cx="2880360" cy="389467"/>
          </a:xfrm>
        </p:spPr>
        <p:txBody>
          <a:bodyPr vert="horz" lIns="91440" tIns="45720" rIns="91440" bIns="45720" rtlCol="0" anchor="ctr">
            <a:normAutofit/>
          </a:bodyPr>
          <a:lstStyle/>
          <a:p>
            <a:pPr defTabSz="914400">
              <a:spcAft>
                <a:spcPts val="600"/>
              </a:spcAft>
            </a:pPr>
            <a:fld id="{C02A2637-A5A3-49FA-B214-6E67543099EF}" type="slidenum">
              <a:rPr lang="en-US" sz="1200" smtClean="0"/>
              <a:pPr defTabSz="914400">
                <a:spcAft>
                  <a:spcPts val="600"/>
                </a:spcAft>
              </a:pPr>
              <a:t>25</a:t>
            </a:fld>
            <a:endParaRPr lang="en-US" sz="1200"/>
          </a:p>
        </p:txBody>
      </p:sp>
      <p:graphicFrame>
        <p:nvGraphicFramePr>
          <p:cNvPr id="6" name="Table 5">
            <a:extLst>
              <a:ext uri="{FF2B5EF4-FFF2-40B4-BE49-F238E27FC236}">
                <a16:creationId xmlns:a16="http://schemas.microsoft.com/office/drawing/2014/main" id="{4C485000-9269-0231-32B6-646BC5C5E7E4}"/>
              </a:ext>
            </a:extLst>
          </p:cNvPr>
          <p:cNvGraphicFramePr>
            <a:graphicFrameLocks noGrp="1"/>
          </p:cNvGraphicFramePr>
          <p:nvPr>
            <p:extLst>
              <p:ext uri="{D42A27DB-BD31-4B8C-83A1-F6EECF244321}">
                <p14:modId xmlns:p14="http://schemas.microsoft.com/office/powerpoint/2010/main" val="363866615"/>
              </p:ext>
            </p:extLst>
          </p:nvPr>
        </p:nvGraphicFramePr>
        <p:xfrm>
          <a:off x="675640" y="1919331"/>
          <a:ext cx="11450320" cy="4422304"/>
        </p:xfrm>
        <a:graphic>
          <a:graphicData uri="http://schemas.openxmlformats.org/drawingml/2006/table">
            <a:tbl>
              <a:tblPr firstRow="1" firstCol="1" bandRow="1">
                <a:tableStyleId>{5C22544A-7EE6-4342-B048-85BDC9FD1C3A}</a:tableStyleId>
              </a:tblPr>
              <a:tblGrid>
                <a:gridCol w="1216580">
                  <a:extLst>
                    <a:ext uri="{9D8B030D-6E8A-4147-A177-3AD203B41FA5}">
                      <a16:colId xmlns:a16="http://schemas.microsoft.com/office/drawing/2014/main" val="3720428661"/>
                    </a:ext>
                  </a:extLst>
                </a:gridCol>
                <a:gridCol w="7873075">
                  <a:extLst>
                    <a:ext uri="{9D8B030D-6E8A-4147-A177-3AD203B41FA5}">
                      <a16:colId xmlns:a16="http://schemas.microsoft.com/office/drawing/2014/main" val="2850474579"/>
                    </a:ext>
                  </a:extLst>
                </a:gridCol>
                <a:gridCol w="2360665">
                  <a:extLst>
                    <a:ext uri="{9D8B030D-6E8A-4147-A177-3AD203B41FA5}">
                      <a16:colId xmlns:a16="http://schemas.microsoft.com/office/drawing/2014/main" val="2671635806"/>
                    </a:ext>
                  </a:extLst>
                </a:gridCol>
              </a:tblGrid>
              <a:tr h="358366">
                <a:tc>
                  <a:txBody>
                    <a:bodyPr/>
                    <a:lstStyle/>
                    <a:p>
                      <a:pPr>
                        <a:lnSpc>
                          <a:spcPct val="115000"/>
                        </a:lnSpc>
                        <a:spcAft>
                          <a:spcPts val="1000"/>
                        </a:spcAft>
                        <a:buNone/>
                      </a:pPr>
                      <a:r>
                        <a:rPr lang="en-US" sz="1800">
                          <a:effectLst/>
                        </a:rPr>
                        <a:t>Phase</a:t>
                      </a:r>
                      <a:endParaRPr lang="en-IN" sz="1800">
                        <a:effectLst/>
                        <a:latin typeface="Cambria" panose="02040503050406030204" pitchFamily="18" charset="0"/>
                        <a:ea typeface="MS Mincho" panose="02020609040205080304" pitchFamily="49" charset="-128"/>
                        <a:cs typeface="Times New Roman" panose="02020603050405020304" pitchFamily="18" charset="0"/>
                      </a:endParaRPr>
                    </a:p>
                  </a:txBody>
                  <a:tcPr marL="99518" marR="99518" marT="0" marB="0"/>
                </a:tc>
                <a:tc>
                  <a:txBody>
                    <a:bodyPr/>
                    <a:lstStyle/>
                    <a:p>
                      <a:pPr>
                        <a:lnSpc>
                          <a:spcPct val="115000"/>
                        </a:lnSpc>
                        <a:spcAft>
                          <a:spcPts val="1000"/>
                        </a:spcAft>
                        <a:buNone/>
                      </a:pPr>
                      <a:r>
                        <a:rPr lang="en-US" sz="1800">
                          <a:effectLst/>
                        </a:rPr>
                        <a:t>Core Activity</a:t>
                      </a:r>
                      <a:endParaRPr lang="en-IN" sz="1800">
                        <a:effectLst/>
                        <a:latin typeface="Cambria" panose="02040503050406030204" pitchFamily="18" charset="0"/>
                        <a:ea typeface="MS Mincho" panose="02020609040205080304" pitchFamily="49" charset="-128"/>
                        <a:cs typeface="Times New Roman" panose="02020603050405020304" pitchFamily="18" charset="0"/>
                      </a:endParaRPr>
                    </a:p>
                  </a:txBody>
                  <a:tcPr marL="99518" marR="99518" marT="0" marB="0"/>
                </a:tc>
                <a:tc>
                  <a:txBody>
                    <a:bodyPr/>
                    <a:lstStyle/>
                    <a:p>
                      <a:pPr>
                        <a:lnSpc>
                          <a:spcPct val="115000"/>
                        </a:lnSpc>
                        <a:spcAft>
                          <a:spcPts val="1000"/>
                        </a:spcAft>
                        <a:buNone/>
                      </a:pPr>
                      <a:r>
                        <a:rPr lang="en-US" sz="1800">
                          <a:effectLst/>
                        </a:rPr>
                        <a:t>Duration (in weeks)</a:t>
                      </a:r>
                      <a:endParaRPr lang="en-IN" sz="1800">
                        <a:effectLst/>
                        <a:latin typeface="Cambria" panose="02040503050406030204" pitchFamily="18" charset="0"/>
                        <a:ea typeface="MS Mincho" panose="02020609040205080304" pitchFamily="49" charset="-128"/>
                        <a:cs typeface="Times New Roman" panose="02020603050405020304" pitchFamily="18" charset="0"/>
                      </a:endParaRPr>
                    </a:p>
                  </a:txBody>
                  <a:tcPr marL="99518" marR="99518" marT="0" marB="0"/>
                </a:tc>
                <a:extLst>
                  <a:ext uri="{0D108BD9-81ED-4DB2-BD59-A6C34878D82A}">
                    <a16:rowId xmlns:a16="http://schemas.microsoft.com/office/drawing/2014/main" val="2234542286"/>
                  </a:ext>
                </a:extLst>
              </a:tr>
              <a:tr h="996280">
                <a:tc>
                  <a:txBody>
                    <a:bodyPr/>
                    <a:lstStyle/>
                    <a:p>
                      <a:pPr>
                        <a:lnSpc>
                          <a:spcPct val="115000"/>
                        </a:lnSpc>
                        <a:spcAft>
                          <a:spcPts val="1000"/>
                        </a:spcAft>
                        <a:buNone/>
                      </a:pPr>
                      <a:r>
                        <a:rPr lang="en-US" sz="1800">
                          <a:effectLst/>
                        </a:rPr>
                        <a:t>Phase 1</a:t>
                      </a:r>
                      <a:endParaRPr lang="en-IN" sz="1800">
                        <a:effectLst/>
                        <a:latin typeface="Cambria" panose="02040503050406030204" pitchFamily="18" charset="0"/>
                        <a:ea typeface="MS Mincho" panose="02020609040205080304" pitchFamily="49" charset="-128"/>
                        <a:cs typeface="Times New Roman" panose="02020603050405020304" pitchFamily="18" charset="0"/>
                      </a:endParaRPr>
                    </a:p>
                  </a:txBody>
                  <a:tcPr marL="99518" marR="99518" marT="0" marB="0"/>
                </a:tc>
                <a:tc>
                  <a:txBody>
                    <a:bodyPr/>
                    <a:lstStyle/>
                    <a:p>
                      <a:pPr>
                        <a:lnSpc>
                          <a:spcPct val="115000"/>
                        </a:lnSpc>
                        <a:spcAft>
                          <a:spcPts val="1000"/>
                        </a:spcAft>
                        <a:buNone/>
                      </a:pPr>
                      <a:r>
                        <a:rPr lang="en-US" sz="1800">
                          <a:effectLst/>
                        </a:rPr>
                        <a:t>Research &amp; Problem Formulation: Study lattice-based PQC, analyze vulnerabilities to harvest-now-decrypt-later attacks, and formulate the ABLKM proposal.</a:t>
                      </a:r>
                      <a:endParaRPr lang="en-IN" sz="1800">
                        <a:effectLst/>
                        <a:latin typeface="Cambria" panose="02040503050406030204" pitchFamily="18" charset="0"/>
                        <a:ea typeface="MS Mincho" panose="02020609040205080304" pitchFamily="49" charset="-128"/>
                        <a:cs typeface="Times New Roman" panose="02020603050405020304" pitchFamily="18" charset="0"/>
                      </a:endParaRPr>
                    </a:p>
                  </a:txBody>
                  <a:tcPr marL="99518" marR="99518" marT="0" marB="0"/>
                </a:tc>
                <a:tc>
                  <a:txBody>
                    <a:bodyPr/>
                    <a:lstStyle/>
                    <a:p>
                      <a:pPr>
                        <a:lnSpc>
                          <a:spcPct val="115000"/>
                        </a:lnSpc>
                        <a:spcAft>
                          <a:spcPts val="1000"/>
                        </a:spcAft>
                        <a:buNone/>
                      </a:pPr>
                      <a:r>
                        <a:rPr lang="en-US" sz="1800">
                          <a:effectLst/>
                        </a:rPr>
                        <a:t>3 Weeks</a:t>
                      </a:r>
                      <a:endParaRPr lang="en-IN" sz="1800">
                        <a:effectLst/>
                        <a:latin typeface="Cambria" panose="02040503050406030204" pitchFamily="18" charset="0"/>
                        <a:ea typeface="MS Mincho" panose="02020609040205080304" pitchFamily="49" charset="-128"/>
                        <a:cs typeface="Times New Roman" panose="02020603050405020304" pitchFamily="18" charset="0"/>
                      </a:endParaRPr>
                    </a:p>
                  </a:txBody>
                  <a:tcPr marL="99518" marR="99518" marT="0" marB="0"/>
                </a:tc>
                <a:extLst>
                  <a:ext uri="{0D108BD9-81ED-4DB2-BD59-A6C34878D82A}">
                    <a16:rowId xmlns:a16="http://schemas.microsoft.com/office/drawing/2014/main" val="2881261266"/>
                  </a:ext>
                </a:extLst>
              </a:tr>
              <a:tr h="677323">
                <a:tc>
                  <a:txBody>
                    <a:bodyPr/>
                    <a:lstStyle/>
                    <a:p>
                      <a:pPr>
                        <a:lnSpc>
                          <a:spcPct val="115000"/>
                        </a:lnSpc>
                        <a:spcAft>
                          <a:spcPts val="1000"/>
                        </a:spcAft>
                        <a:buNone/>
                      </a:pPr>
                      <a:r>
                        <a:rPr lang="en-US" sz="1800">
                          <a:effectLst/>
                        </a:rPr>
                        <a:t>Phase 2</a:t>
                      </a:r>
                      <a:endParaRPr lang="en-IN" sz="1800">
                        <a:effectLst/>
                        <a:latin typeface="Cambria" panose="02040503050406030204" pitchFamily="18" charset="0"/>
                        <a:ea typeface="MS Mincho" panose="02020609040205080304" pitchFamily="49" charset="-128"/>
                        <a:cs typeface="Times New Roman" panose="02020603050405020304" pitchFamily="18" charset="0"/>
                      </a:endParaRPr>
                    </a:p>
                  </a:txBody>
                  <a:tcPr marL="99518" marR="99518" marT="0" marB="0"/>
                </a:tc>
                <a:tc>
                  <a:txBody>
                    <a:bodyPr/>
                    <a:lstStyle/>
                    <a:p>
                      <a:pPr>
                        <a:lnSpc>
                          <a:spcPct val="115000"/>
                        </a:lnSpc>
                        <a:spcAft>
                          <a:spcPts val="1000"/>
                        </a:spcAft>
                        <a:buNone/>
                      </a:pPr>
                      <a:r>
                        <a:rPr lang="en-US" sz="1800">
                          <a:effectLst/>
                        </a:rPr>
                        <a:t>Algorithm Design &amp; Architecture: Define dynamic bucket math, design the ABLKM logic, and blueprint the hybrid BB84 integration model.</a:t>
                      </a:r>
                      <a:endParaRPr lang="en-IN" sz="1800">
                        <a:effectLst/>
                        <a:latin typeface="Cambria" panose="02040503050406030204" pitchFamily="18" charset="0"/>
                        <a:ea typeface="MS Mincho" panose="02020609040205080304" pitchFamily="49" charset="-128"/>
                        <a:cs typeface="Times New Roman" panose="02020603050405020304" pitchFamily="18" charset="0"/>
                      </a:endParaRPr>
                    </a:p>
                  </a:txBody>
                  <a:tcPr marL="99518" marR="99518" marT="0" marB="0"/>
                </a:tc>
                <a:tc>
                  <a:txBody>
                    <a:bodyPr/>
                    <a:lstStyle/>
                    <a:p>
                      <a:pPr>
                        <a:lnSpc>
                          <a:spcPct val="115000"/>
                        </a:lnSpc>
                        <a:spcAft>
                          <a:spcPts val="1000"/>
                        </a:spcAft>
                        <a:buNone/>
                      </a:pPr>
                      <a:r>
                        <a:rPr lang="en-US" sz="1800">
                          <a:effectLst/>
                        </a:rPr>
                        <a:t>3 Weeks</a:t>
                      </a:r>
                      <a:endParaRPr lang="en-IN" sz="1800">
                        <a:effectLst/>
                        <a:latin typeface="Cambria" panose="02040503050406030204" pitchFamily="18" charset="0"/>
                        <a:ea typeface="MS Mincho" panose="02020609040205080304" pitchFamily="49" charset="-128"/>
                        <a:cs typeface="Times New Roman" panose="02020603050405020304" pitchFamily="18" charset="0"/>
                      </a:endParaRPr>
                    </a:p>
                  </a:txBody>
                  <a:tcPr marL="99518" marR="99518" marT="0" marB="0"/>
                </a:tc>
                <a:extLst>
                  <a:ext uri="{0D108BD9-81ED-4DB2-BD59-A6C34878D82A}">
                    <a16:rowId xmlns:a16="http://schemas.microsoft.com/office/drawing/2014/main" val="1226669651"/>
                  </a:ext>
                </a:extLst>
              </a:tr>
              <a:tr h="677323">
                <a:tc>
                  <a:txBody>
                    <a:bodyPr/>
                    <a:lstStyle/>
                    <a:p>
                      <a:pPr>
                        <a:lnSpc>
                          <a:spcPct val="115000"/>
                        </a:lnSpc>
                        <a:spcAft>
                          <a:spcPts val="1000"/>
                        </a:spcAft>
                        <a:buNone/>
                      </a:pPr>
                      <a:r>
                        <a:rPr lang="en-US" sz="1800">
                          <a:effectLst/>
                        </a:rPr>
                        <a:t>Phase 3</a:t>
                      </a:r>
                      <a:endParaRPr lang="en-IN" sz="1800">
                        <a:effectLst/>
                        <a:latin typeface="Cambria" panose="02040503050406030204" pitchFamily="18" charset="0"/>
                        <a:ea typeface="MS Mincho" panose="02020609040205080304" pitchFamily="49" charset="-128"/>
                        <a:cs typeface="Times New Roman" panose="02020603050405020304" pitchFamily="18" charset="0"/>
                      </a:endParaRPr>
                    </a:p>
                  </a:txBody>
                  <a:tcPr marL="99518" marR="99518" marT="0" marB="0"/>
                </a:tc>
                <a:tc>
                  <a:txBody>
                    <a:bodyPr/>
                    <a:lstStyle/>
                    <a:p>
                      <a:pPr>
                        <a:lnSpc>
                          <a:spcPct val="115000"/>
                        </a:lnSpc>
                        <a:spcAft>
                          <a:spcPts val="1000"/>
                        </a:spcAft>
                        <a:buNone/>
                      </a:pPr>
                      <a:r>
                        <a:rPr lang="en-US" sz="1800">
                          <a:effectLst/>
                        </a:rPr>
                        <a:t>Core Python Implementation: Develop the QKD simulation, code the ABLKM encryption engine, and successfully integrate both systems.</a:t>
                      </a:r>
                      <a:endParaRPr lang="en-IN" sz="1800">
                        <a:effectLst/>
                        <a:latin typeface="Cambria" panose="02040503050406030204" pitchFamily="18" charset="0"/>
                        <a:ea typeface="MS Mincho" panose="02020609040205080304" pitchFamily="49" charset="-128"/>
                        <a:cs typeface="Times New Roman" panose="02020603050405020304" pitchFamily="18" charset="0"/>
                      </a:endParaRPr>
                    </a:p>
                  </a:txBody>
                  <a:tcPr marL="99518" marR="99518" marT="0" marB="0"/>
                </a:tc>
                <a:tc>
                  <a:txBody>
                    <a:bodyPr/>
                    <a:lstStyle/>
                    <a:p>
                      <a:pPr>
                        <a:lnSpc>
                          <a:spcPct val="115000"/>
                        </a:lnSpc>
                        <a:spcAft>
                          <a:spcPts val="1000"/>
                        </a:spcAft>
                        <a:buNone/>
                      </a:pPr>
                      <a:r>
                        <a:rPr lang="en-US" sz="1800">
                          <a:effectLst/>
                        </a:rPr>
                        <a:t>3 Weeks</a:t>
                      </a:r>
                      <a:endParaRPr lang="en-IN" sz="1800">
                        <a:effectLst/>
                        <a:latin typeface="Cambria" panose="02040503050406030204" pitchFamily="18" charset="0"/>
                        <a:ea typeface="MS Mincho" panose="02020609040205080304" pitchFamily="49" charset="-128"/>
                        <a:cs typeface="Times New Roman" panose="02020603050405020304" pitchFamily="18" charset="0"/>
                      </a:endParaRPr>
                    </a:p>
                  </a:txBody>
                  <a:tcPr marL="99518" marR="99518" marT="0" marB="0"/>
                </a:tc>
                <a:extLst>
                  <a:ext uri="{0D108BD9-81ED-4DB2-BD59-A6C34878D82A}">
                    <a16:rowId xmlns:a16="http://schemas.microsoft.com/office/drawing/2014/main" val="1882094858"/>
                  </a:ext>
                </a:extLst>
              </a:tr>
              <a:tr h="677323">
                <a:tc>
                  <a:txBody>
                    <a:bodyPr/>
                    <a:lstStyle/>
                    <a:p>
                      <a:pPr>
                        <a:lnSpc>
                          <a:spcPct val="115000"/>
                        </a:lnSpc>
                        <a:spcAft>
                          <a:spcPts val="1000"/>
                        </a:spcAft>
                        <a:buNone/>
                      </a:pPr>
                      <a:r>
                        <a:rPr lang="en-US" sz="1800">
                          <a:effectLst/>
                        </a:rPr>
                        <a:t>Phase 4</a:t>
                      </a:r>
                      <a:endParaRPr lang="en-IN" sz="1800">
                        <a:effectLst/>
                        <a:latin typeface="Cambria" panose="02040503050406030204" pitchFamily="18" charset="0"/>
                        <a:ea typeface="MS Mincho" panose="02020609040205080304" pitchFamily="49" charset="-128"/>
                        <a:cs typeface="Times New Roman" panose="02020603050405020304" pitchFamily="18" charset="0"/>
                      </a:endParaRPr>
                    </a:p>
                  </a:txBody>
                  <a:tcPr marL="99518" marR="99518" marT="0" marB="0"/>
                </a:tc>
                <a:tc>
                  <a:txBody>
                    <a:bodyPr/>
                    <a:lstStyle/>
                    <a:p>
                      <a:pPr>
                        <a:lnSpc>
                          <a:spcPct val="115000"/>
                        </a:lnSpc>
                        <a:spcAft>
                          <a:spcPts val="1000"/>
                        </a:spcAft>
                        <a:buNone/>
                      </a:pPr>
                      <a:r>
                        <a:rPr lang="en-US" sz="1800">
                          <a:effectLst/>
                        </a:rPr>
                        <a:t>Interactive Web Visualization: Build the HTML/JS frontend, demonstrating quantum photon states and 2D lattice mapping visually.</a:t>
                      </a:r>
                      <a:endParaRPr lang="en-IN" sz="1800">
                        <a:effectLst/>
                        <a:latin typeface="Cambria" panose="02040503050406030204" pitchFamily="18" charset="0"/>
                        <a:ea typeface="MS Mincho" panose="02020609040205080304" pitchFamily="49" charset="-128"/>
                        <a:cs typeface="Times New Roman" panose="02020603050405020304" pitchFamily="18" charset="0"/>
                      </a:endParaRPr>
                    </a:p>
                  </a:txBody>
                  <a:tcPr marL="99518" marR="99518" marT="0" marB="0"/>
                </a:tc>
                <a:tc>
                  <a:txBody>
                    <a:bodyPr/>
                    <a:lstStyle/>
                    <a:p>
                      <a:pPr>
                        <a:lnSpc>
                          <a:spcPct val="115000"/>
                        </a:lnSpc>
                        <a:spcAft>
                          <a:spcPts val="1000"/>
                        </a:spcAft>
                        <a:buNone/>
                      </a:pPr>
                      <a:r>
                        <a:rPr lang="en-US" sz="1800">
                          <a:effectLst/>
                        </a:rPr>
                        <a:t>3 Weeks</a:t>
                      </a:r>
                      <a:endParaRPr lang="en-IN" sz="1800">
                        <a:effectLst/>
                        <a:latin typeface="Cambria" panose="02040503050406030204" pitchFamily="18" charset="0"/>
                        <a:ea typeface="MS Mincho" panose="02020609040205080304" pitchFamily="49" charset="-128"/>
                        <a:cs typeface="Times New Roman" panose="02020603050405020304" pitchFamily="18" charset="0"/>
                      </a:endParaRPr>
                    </a:p>
                  </a:txBody>
                  <a:tcPr marL="99518" marR="99518" marT="0" marB="0"/>
                </a:tc>
                <a:extLst>
                  <a:ext uri="{0D108BD9-81ED-4DB2-BD59-A6C34878D82A}">
                    <a16:rowId xmlns:a16="http://schemas.microsoft.com/office/drawing/2014/main" val="1543333650"/>
                  </a:ext>
                </a:extLst>
              </a:tr>
              <a:tr h="677323">
                <a:tc>
                  <a:txBody>
                    <a:bodyPr/>
                    <a:lstStyle/>
                    <a:p>
                      <a:pPr>
                        <a:lnSpc>
                          <a:spcPct val="115000"/>
                        </a:lnSpc>
                        <a:spcAft>
                          <a:spcPts val="1000"/>
                        </a:spcAft>
                        <a:buNone/>
                      </a:pPr>
                      <a:r>
                        <a:rPr lang="en-US" sz="1800">
                          <a:effectLst/>
                        </a:rPr>
                        <a:t>Phase 5</a:t>
                      </a:r>
                      <a:endParaRPr lang="en-IN" sz="1800">
                        <a:effectLst/>
                        <a:latin typeface="Cambria" panose="02040503050406030204" pitchFamily="18" charset="0"/>
                        <a:ea typeface="MS Mincho" panose="02020609040205080304" pitchFamily="49" charset="-128"/>
                        <a:cs typeface="Times New Roman" panose="02020603050405020304" pitchFamily="18" charset="0"/>
                      </a:endParaRPr>
                    </a:p>
                  </a:txBody>
                  <a:tcPr marL="99518" marR="99518" marT="0" marB="0"/>
                </a:tc>
                <a:tc>
                  <a:txBody>
                    <a:bodyPr/>
                    <a:lstStyle/>
                    <a:p>
                      <a:pPr>
                        <a:lnSpc>
                          <a:spcPct val="115000"/>
                        </a:lnSpc>
                        <a:spcAft>
                          <a:spcPts val="1000"/>
                        </a:spcAft>
                        <a:buNone/>
                      </a:pPr>
                      <a:r>
                        <a:rPr lang="en-US" sz="1800">
                          <a:effectLst/>
                        </a:rPr>
                        <a:t>Mid-Term Milestones &amp; Review: Prepare technical documentation and conduct the formal Project Work Review 2 presentation.</a:t>
                      </a:r>
                      <a:endParaRPr lang="en-IN" sz="1800">
                        <a:effectLst/>
                        <a:latin typeface="Cambria" panose="02040503050406030204" pitchFamily="18" charset="0"/>
                        <a:ea typeface="MS Mincho" panose="02020609040205080304" pitchFamily="49" charset="-128"/>
                        <a:cs typeface="Times New Roman" panose="02020603050405020304" pitchFamily="18" charset="0"/>
                      </a:endParaRPr>
                    </a:p>
                  </a:txBody>
                  <a:tcPr marL="99518" marR="99518" marT="0" marB="0"/>
                </a:tc>
                <a:tc>
                  <a:txBody>
                    <a:bodyPr/>
                    <a:lstStyle/>
                    <a:p>
                      <a:pPr>
                        <a:lnSpc>
                          <a:spcPct val="115000"/>
                        </a:lnSpc>
                        <a:spcAft>
                          <a:spcPts val="1000"/>
                        </a:spcAft>
                        <a:buNone/>
                      </a:pPr>
                      <a:r>
                        <a:rPr lang="en-US" sz="1800">
                          <a:effectLst/>
                        </a:rPr>
                        <a:t>1 Week</a:t>
                      </a:r>
                      <a:endParaRPr lang="en-IN" sz="1800">
                        <a:effectLst/>
                        <a:latin typeface="Cambria" panose="02040503050406030204" pitchFamily="18" charset="0"/>
                        <a:ea typeface="MS Mincho" panose="02020609040205080304" pitchFamily="49" charset="-128"/>
                        <a:cs typeface="Times New Roman" panose="02020603050405020304" pitchFamily="18" charset="0"/>
                      </a:endParaRPr>
                    </a:p>
                  </a:txBody>
                  <a:tcPr marL="99518" marR="99518" marT="0" marB="0"/>
                </a:tc>
                <a:extLst>
                  <a:ext uri="{0D108BD9-81ED-4DB2-BD59-A6C34878D82A}">
                    <a16:rowId xmlns:a16="http://schemas.microsoft.com/office/drawing/2014/main" val="3021250571"/>
                  </a:ext>
                </a:extLst>
              </a:tr>
              <a:tr h="358366">
                <a:tc>
                  <a:txBody>
                    <a:bodyPr/>
                    <a:lstStyle/>
                    <a:p>
                      <a:pPr>
                        <a:lnSpc>
                          <a:spcPct val="115000"/>
                        </a:lnSpc>
                        <a:spcAft>
                          <a:spcPts val="1000"/>
                        </a:spcAft>
                        <a:buNone/>
                      </a:pPr>
                      <a:r>
                        <a:rPr lang="en-US" sz="1800">
                          <a:effectLst/>
                        </a:rPr>
                        <a:t>Total</a:t>
                      </a:r>
                      <a:endParaRPr lang="en-IN" sz="1800">
                        <a:effectLst/>
                        <a:latin typeface="Cambria" panose="02040503050406030204" pitchFamily="18" charset="0"/>
                        <a:ea typeface="MS Mincho" panose="02020609040205080304" pitchFamily="49" charset="-128"/>
                        <a:cs typeface="Times New Roman" panose="02020603050405020304" pitchFamily="18" charset="0"/>
                      </a:endParaRPr>
                    </a:p>
                  </a:txBody>
                  <a:tcPr marL="99518" marR="99518" marT="0" marB="0"/>
                </a:tc>
                <a:tc>
                  <a:txBody>
                    <a:bodyPr/>
                    <a:lstStyle/>
                    <a:p>
                      <a:pPr>
                        <a:lnSpc>
                          <a:spcPct val="115000"/>
                        </a:lnSpc>
                        <a:spcAft>
                          <a:spcPts val="1000"/>
                        </a:spcAft>
                        <a:buNone/>
                      </a:pPr>
                      <a:r>
                        <a:rPr lang="en-US" sz="1800">
                          <a:effectLst/>
                        </a:rPr>
                        <a:t> </a:t>
                      </a:r>
                      <a:endParaRPr lang="en-IN" sz="1800">
                        <a:effectLst/>
                        <a:latin typeface="Cambria" panose="02040503050406030204" pitchFamily="18" charset="0"/>
                        <a:ea typeface="MS Mincho" panose="02020609040205080304" pitchFamily="49" charset="-128"/>
                        <a:cs typeface="Times New Roman" panose="02020603050405020304" pitchFamily="18" charset="0"/>
                      </a:endParaRPr>
                    </a:p>
                  </a:txBody>
                  <a:tcPr marL="99518" marR="99518" marT="0" marB="0"/>
                </a:tc>
                <a:tc>
                  <a:txBody>
                    <a:bodyPr/>
                    <a:lstStyle/>
                    <a:p>
                      <a:pPr>
                        <a:lnSpc>
                          <a:spcPct val="115000"/>
                        </a:lnSpc>
                        <a:spcAft>
                          <a:spcPts val="1000"/>
                        </a:spcAft>
                        <a:buNone/>
                      </a:pPr>
                      <a:r>
                        <a:rPr lang="en-US" sz="1800">
                          <a:effectLst/>
                        </a:rPr>
                        <a:t>13 Weeks</a:t>
                      </a:r>
                      <a:endParaRPr lang="en-IN" sz="1800">
                        <a:effectLst/>
                        <a:latin typeface="Cambria" panose="02040503050406030204" pitchFamily="18" charset="0"/>
                        <a:ea typeface="MS Mincho" panose="02020609040205080304" pitchFamily="49" charset="-128"/>
                        <a:cs typeface="Times New Roman" panose="02020603050405020304" pitchFamily="18" charset="0"/>
                      </a:endParaRPr>
                    </a:p>
                  </a:txBody>
                  <a:tcPr marL="99518" marR="99518" marT="0" marB="0"/>
                </a:tc>
                <a:extLst>
                  <a:ext uri="{0D108BD9-81ED-4DB2-BD59-A6C34878D82A}">
                    <a16:rowId xmlns:a16="http://schemas.microsoft.com/office/drawing/2014/main" val="1204777771"/>
                  </a:ext>
                </a:extLst>
              </a:tr>
            </a:tbl>
          </a:graphicData>
        </a:graphic>
      </p:graphicFrame>
      <p:sp>
        <p:nvSpPr>
          <p:cNvPr id="8" name="Title 1">
            <a:extLst>
              <a:ext uri="{FF2B5EF4-FFF2-40B4-BE49-F238E27FC236}">
                <a16:creationId xmlns:a16="http://schemas.microsoft.com/office/drawing/2014/main" id="{005EDE44-72CA-7451-CB63-D2C4FA23331E}"/>
              </a:ext>
            </a:extLst>
          </p:cNvPr>
          <p:cNvSpPr txBox="1">
            <a:spLocks/>
          </p:cNvSpPr>
          <p:nvPr/>
        </p:nvSpPr>
        <p:spPr>
          <a:xfrm>
            <a:off x="0" y="-26890"/>
            <a:ext cx="12801600" cy="1512146"/>
          </a:xfrm>
          <a:prstGeom prst="rect">
            <a:avLst/>
          </a:prstGeom>
          <a:solidFill>
            <a:srgbClr val="558ED5"/>
          </a:solidFill>
        </p:spPr>
        <p:txBody>
          <a:bodyPr vert="horz" lIns="114945" tIns="57473" rIns="114945" bIns="57473" rtlCol="0" anchor="ctr">
            <a:normAutofit/>
          </a:bodyPr>
          <a:lstStyle>
            <a:lvl1pPr algn="ctr" defTabSz="1149448" rtl="0" eaLnBrk="1" latinLnBrk="0" hangingPunct="1">
              <a:spcBef>
                <a:spcPct val="0"/>
              </a:spcBef>
              <a:buNone/>
              <a:defRPr sz="5500" kern="1200">
                <a:solidFill>
                  <a:schemeClr val="tx1"/>
                </a:solidFill>
                <a:latin typeface="+mj-lt"/>
                <a:ea typeface="+mj-ea"/>
                <a:cs typeface="+mj-cs"/>
              </a:defRPr>
            </a:lvl1pPr>
          </a:lstStyle>
          <a:p>
            <a:r>
              <a:rPr lang="en-US" sz="3700" b="1" dirty="0">
                <a:solidFill>
                  <a:schemeClr val="bg1"/>
                </a:solidFill>
                <a:latin typeface="Times New Roman" pitchFamily="18" charset="0"/>
                <a:cs typeface="Times New Roman" pitchFamily="18" charset="0"/>
              </a:rPr>
              <a:t>12.Timelines/Gantt Chart</a:t>
            </a:r>
          </a:p>
        </p:txBody>
      </p:sp>
    </p:spTree>
    <p:extLst>
      <p:ext uri="{BB962C8B-B14F-4D97-AF65-F5344CB8AC3E}">
        <p14:creationId xmlns:p14="http://schemas.microsoft.com/office/powerpoint/2010/main" val="31872962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801600" cy="1512146"/>
          </a:xfrm>
          <a:solidFill>
            <a:srgbClr val="558ED5"/>
          </a:solidFill>
        </p:spPr>
        <p:txBody>
          <a:bodyPr>
            <a:normAutofit/>
          </a:bodyPr>
          <a:lstStyle/>
          <a:p>
            <a:r>
              <a:rPr lang="en-US" sz="3700" b="1" dirty="0">
                <a:solidFill>
                  <a:schemeClr val="bg1"/>
                </a:solidFill>
                <a:latin typeface="Times New Roman" pitchFamily="18" charset="0"/>
                <a:cs typeface="Times New Roman" pitchFamily="18" charset="0"/>
              </a:rPr>
              <a:t>REFERENCES (CONTD..,)</a:t>
            </a:r>
          </a:p>
        </p:txBody>
      </p:sp>
      <p:sp>
        <p:nvSpPr>
          <p:cNvPr id="3" name="Content Placeholder 2"/>
          <p:cNvSpPr>
            <a:spLocks noGrp="1"/>
          </p:cNvSpPr>
          <p:nvPr>
            <p:ph idx="1"/>
          </p:nvPr>
        </p:nvSpPr>
        <p:spPr/>
        <p:txBody>
          <a:bodyPr>
            <a:noAutofit/>
          </a:bodyPr>
          <a:lstStyle/>
          <a:p>
            <a:r>
              <a:rPr lang="en-IN" sz="2400" dirty="0">
                <a:latin typeface="Times New Roman" panose="02020603050405020304" pitchFamily="18" charset="0"/>
                <a:cs typeface="Times New Roman" panose="02020603050405020304" pitchFamily="18" charset="0"/>
              </a:rPr>
              <a:t>Cybersecurity and Infrastructure Security Agency. (2023). </a:t>
            </a:r>
            <a:r>
              <a:rPr lang="en-IN" sz="2400" i="1" dirty="0">
                <a:latin typeface="Times New Roman" panose="02020603050405020304" pitchFamily="18" charset="0"/>
                <a:cs typeface="Times New Roman" panose="02020603050405020304" pitchFamily="18" charset="0"/>
              </a:rPr>
              <a:t>Quantum-readiness: Migration to post-quantum cryptography</a:t>
            </a:r>
            <a:r>
              <a:rPr lang="en-IN" sz="2400" dirty="0">
                <a:latin typeface="Times New Roman" panose="02020603050405020304" pitchFamily="18" charset="0"/>
                <a:cs typeface="Times New Roman" panose="02020603050405020304" pitchFamily="18" charset="0"/>
              </a:rPr>
              <a:t>. U.S. Department of Homeland Security.</a:t>
            </a:r>
          </a:p>
          <a:p>
            <a:r>
              <a:rPr lang="en-IN" sz="2400" dirty="0">
                <a:latin typeface="Times New Roman" panose="02020603050405020304" pitchFamily="18" charset="0"/>
                <a:cs typeface="Times New Roman" panose="02020603050405020304" pitchFamily="18" charset="0"/>
              </a:rPr>
              <a:t>European Telecommunications Standards Institute. (2023). </a:t>
            </a:r>
            <a:r>
              <a:rPr lang="en-IN" sz="2400" i="1" dirty="0">
                <a:latin typeface="Times New Roman" panose="02020603050405020304" pitchFamily="18" charset="0"/>
                <a:cs typeface="Times New Roman" panose="02020603050405020304" pitchFamily="18" charset="0"/>
              </a:rPr>
              <a:t>Quantum key distribution (QKD); Security requirements and evaluation framework</a:t>
            </a:r>
            <a:r>
              <a:rPr lang="en-IN" sz="2400" dirty="0">
                <a:latin typeface="Times New Roman" panose="02020603050405020304" pitchFamily="18" charset="0"/>
                <a:cs typeface="Times New Roman" panose="02020603050405020304" pitchFamily="18" charset="0"/>
              </a:rPr>
              <a:t> (ETSI GS QKD 016 V2.1.1). ETSI.</a:t>
            </a:r>
          </a:p>
          <a:p>
            <a:r>
              <a:rPr lang="en-IN" sz="2400" dirty="0">
                <a:latin typeface="Times New Roman" panose="02020603050405020304" pitchFamily="18" charset="0"/>
                <a:cs typeface="Times New Roman" panose="02020603050405020304" pitchFamily="18" charset="0"/>
              </a:rPr>
              <a:t>Huang, H., Zhang, J., &amp; Guo, Y. (2023). Integration architectures and performance analysis of quantum key distribution and post-quantum cryptography: A hybrid approach. </a:t>
            </a:r>
            <a:r>
              <a:rPr lang="en-IN" sz="2400" i="1" dirty="0">
                <a:latin typeface="Times New Roman" panose="02020603050405020304" pitchFamily="18" charset="0"/>
                <a:cs typeface="Times New Roman" panose="02020603050405020304" pitchFamily="18" charset="0"/>
              </a:rPr>
              <a:t>IEEE Transactions on Quantum Engineering</a:t>
            </a:r>
            <a:r>
              <a:rPr lang="en-IN" sz="2400" dirty="0">
                <a:latin typeface="Times New Roman" panose="02020603050405020304" pitchFamily="18" charset="0"/>
                <a:cs typeface="Times New Roman" panose="02020603050405020304" pitchFamily="18" charset="0"/>
              </a:rPr>
              <a:t>, </a:t>
            </a:r>
            <a:r>
              <a:rPr lang="en-IN" sz="2400" i="1" dirty="0">
                <a:latin typeface="Times New Roman" panose="02020603050405020304" pitchFamily="18" charset="0"/>
                <a:cs typeface="Times New Roman" panose="02020603050405020304" pitchFamily="18" charset="0"/>
              </a:rPr>
              <a:t>4</a:t>
            </a:r>
            <a:r>
              <a:rPr lang="en-IN" sz="2400" dirty="0">
                <a:latin typeface="Times New Roman" panose="02020603050405020304" pitchFamily="18" charset="0"/>
                <a:cs typeface="Times New Roman" panose="02020603050405020304" pitchFamily="18" charset="0"/>
              </a:rPr>
              <a:t>, 1-15.</a:t>
            </a:r>
          </a:p>
          <a:p>
            <a:r>
              <a:rPr lang="en-IN" sz="2400" dirty="0" err="1">
                <a:latin typeface="Times New Roman" panose="02020603050405020304" pitchFamily="18" charset="0"/>
                <a:cs typeface="Times New Roman" panose="02020603050405020304" pitchFamily="18" charset="0"/>
              </a:rPr>
              <a:t>Giura</a:t>
            </a:r>
            <a:r>
              <a:rPr lang="en-IN" sz="2400" dirty="0">
                <a:latin typeface="Times New Roman" panose="02020603050405020304" pitchFamily="18" charset="0"/>
                <a:cs typeface="Times New Roman" panose="02020603050405020304" pitchFamily="18" charset="0"/>
              </a:rPr>
              <a:t>, A., &amp; Vasić, B. (2022). Securing network infrastructures targeting zero-trust utilizing hybrid QKD and post-quantum integrations. </a:t>
            </a:r>
            <a:r>
              <a:rPr lang="en-IN" sz="2400" i="1" dirty="0">
                <a:latin typeface="Times New Roman" panose="02020603050405020304" pitchFamily="18" charset="0"/>
                <a:cs typeface="Times New Roman" panose="02020603050405020304" pitchFamily="18" charset="0"/>
              </a:rPr>
              <a:t>IEEE Communications Surveys &amp; Tutorials</a:t>
            </a:r>
            <a:r>
              <a:rPr lang="en-IN" sz="2400" dirty="0">
                <a:latin typeface="Times New Roman" panose="02020603050405020304" pitchFamily="18" charset="0"/>
                <a:cs typeface="Times New Roman" panose="02020603050405020304" pitchFamily="18" charset="0"/>
              </a:rPr>
              <a:t>, </a:t>
            </a:r>
            <a:r>
              <a:rPr lang="en-IN" sz="2400" i="1" dirty="0">
                <a:latin typeface="Times New Roman" panose="02020603050405020304" pitchFamily="18" charset="0"/>
                <a:cs typeface="Times New Roman" panose="02020603050405020304" pitchFamily="18" charset="0"/>
              </a:rPr>
              <a:t>24</a:t>
            </a:r>
            <a:r>
              <a:rPr lang="en-IN" sz="2400" dirty="0">
                <a:latin typeface="Times New Roman" panose="02020603050405020304" pitchFamily="18" charset="0"/>
                <a:cs typeface="Times New Roman" panose="02020603050405020304" pitchFamily="18" charset="0"/>
              </a:rPr>
              <a:t>(1), 150-182.</a:t>
            </a:r>
          </a:p>
          <a:p>
            <a:pPr marL="0" indent="0" algn="just">
              <a:buNone/>
            </a:pPr>
            <a:endParaRPr lang="en-US" sz="1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C02A2637-A5A3-49FA-B214-6E67543099EF}" type="slidenum">
              <a:rPr lang="en-US" smtClean="0"/>
              <a:t>26</a:t>
            </a:fld>
            <a:endParaRPr lang="en-US" dirty="0"/>
          </a:p>
        </p:txBody>
      </p:sp>
    </p:spTree>
    <p:extLst>
      <p:ext uri="{BB962C8B-B14F-4D97-AF65-F5344CB8AC3E}">
        <p14:creationId xmlns:p14="http://schemas.microsoft.com/office/powerpoint/2010/main" val="1908997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0080" y="2819401"/>
            <a:ext cx="11521440" cy="1219200"/>
          </a:xfrm>
        </p:spPr>
        <p:txBody>
          <a:bodyPr>
            <a:normAutofit fontScale="90000"/>
          </a:bodyPr>
          <a:lstStyle/>
          <a:p>
            <a:r>
              <a:rPr lang="en-US" sz="10000" b="1" dirty="0">
                <a:solidFill>
                  <a:schemeClr val="tx2">
                    <a:lumMod val="60000"/>
                    <a:lumOff val="40000"/>
                  </a:schemeClr>
                </a:solidFill>
                <a:latin typeface="Times New Roman" pitchFamily="18" charset="0"/>
                <a:cs typeface="Times New Roman" pitchFamily="18" charset="0"/>
              </a:rPr>
              <a:t>Thank You</a:t>
            </a:r>
          </a:p>
        </p:txBody>
      </p:sp>
      <p:sp>
        <p:nvSpPr>
          <p:cNvPr id="3" name="Slide Number Placeholder 2"/>
          <p:cNvSpPr>
            <a:spLocks noGrp="1"/>
          </p:cNvSpPr>
          <p:nvPr>
            <p:ph type="sldNum" sz="quarter" idx="12"/>
          </p:nvPr>
        </p:nvSpPr>
        <p:spPr/>
        <p:txBody>
          <a:bodyPr/>
          <a:lstStyle/>
          <a:p>
            <a:fld id="{C02A2637-A5A3-49FA-B214-6E67543099EF}" type="slidenum">
              <a:rPr lang="en-US" smtClean="0"/>
              <a:t>27</a:t>
            </a:fld>
            <a:endParaRPr lang="en-US"/>
          </a:p>
        </p:txBody>
      </p:sp>
    </p:spTree>
    <p:extLst>
      <p:ext uri="{BB962C8B-B14F-4D97-AF65-F5344CB8AC3E}">
        <p14:creationId xmlns:p14="http://schemas.microsoft.com/office/powerpoint/2010/main" val="27503980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15991</TotalTime>
  <Words>3579</Words>
  <Application>Microsoft Office PowerPoint</Application>
  <PresentationFormat>Custom</PresentationFormat>
  <Paragraphs>365</Paragraphs>
  <Slides>27</Slides>
  <Notes>23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Arial</vt:lpstr>
      <vt:lpstr>Calibri</vt:lpstr>
      <vt:lpstr>Cambria</vt:lpstr>
      <vt:lpstr>Times New Roman</vt:lpstr>
      <vt:lpstr>Wingdings</vt:lpstr>
      <vt:lpstr>Office Theme</vt:lpstr>
      <vt:lpstr>Hybrid Quantum Secure Framework( ABLKM + BB84)</vt:lpstr>
      <vt:lpstr>CONTENTS</vt:lpstr>
      <vt:lpstr>1.ABSTRACT</vt:lpstr>
      <vt:lpstr>2. INTRODUCTION</vt:lpstr>
      <vt:lpstr>3.LITERATURE SURVEY</vt:lpstr>
      <vt:lpstr>LITERATURE SURVEY (CONTD..,)</vt:lpstr>
      <vt:lpstr>LITERATURE SURVEY (CONTD..,)</vt:lpstr>
      <vt:lpstr>4. RESEARCH GAPS</vt:lpstr>
      <vt:lpstr>5. OBJECTIVES</vt:lpstr>
      <vt:lpstr>6. MODULE IDENTIFICATION</vt:lpstr>
      <vt:lpstr>6. MODULE IDENTIFICATION</vt:lpstr>
      <vt:lpstr>7. SYSTEM ARCHITECTURE</vt:lpstr>
      <vt:lpstr>PowerPoint Presentation</vt:lpstr>
      <vt:lpstr>PowerPoint Presentation</vt:lpstr>
      <vt:lpstr>8. DEVELOPMENT &amp; INTEGRATION</vt:lpstr>
      <vt:lpstr>PowerPoint Presentation</vt:lpstr>
      <vt:lpstr>PowerPoint Presentation</vt:lpstr>
      <vt:lpstr>9. PROTOTYPE / RESEARCH FRAMEWORK</vt:lpstr>
      <vt:lpstr>PowerPoint Presentation</vt:lpstr>
      <vt:lpstr>10. OUTCOME</vt:lpstr>
      <vt:lpstr>10.OUTCOME</vt:lpstr>
      <vt:lpstr>11. RESULTS</vt:lpstr>
      <vt:lpstr>11. RESULTS</vt:lpstr>
      <vt:lpstr>11. RESULTS</vt:lpstr>
      <vt:lpstr>12. TIMELINE / GANTT CHART</vt:lpstr>
      <vt:lpstr>REFERENCES (CONTD..,)</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APPROACH TO REDUCE LOAD ON CHANGE IMPACT ANALYSIS OVER SOFTWARE DEVELOPMENT</dc:title>
  <dc:creator>admin</dc:creator>
  <cp:lastModifiedBy>PARTH ANANTRAO GAWANDE</cp:lastModifiedBy>
  <cp:revision>128</cp:revision>
  <dcterms:created xsi:type="dcterms:W3CDTF">2020-07-13T09:49:45Z</dcterms:created>
  <dcterms:modified xsi:type="dcterms:W3CDTF">2026-04-09T08:23:15Z</dcterms:modified>
</cp:coreProperties>
</file>